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61" r:id="rId2"/>
    <p:sldId id="259" r:id="rId3"/>
    <p:sldId id="262" r:id="rId4"/>
    <p:sldId id="263" r:id="rId5"/>
    <p:sldId id="265" r:id="rId6"/>
    <p:sldId id="266" r:id="rId7"/>
    <p:sldId id="267" r:id="rId8"/>
    <p:sldId id="268" r:id="rId9"/>
    <p:sldId id="272" r:id="rId10"/>
    <p:sldId id="269" r:id="rId11"/>
    <p:sldId id="270" r:id="rId12"/>
    <p:sldId id="271" r:id="rId13"/>
    <p:sldId id="264" r:id="rId14"/>
    <p:sldId id="260" r:id="rId15"/>
    <p:sldId id="257" r:id="rId16"/>
    <p:sldId id="258" r:id="rId1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 autoAdjust="0"/>
    <p:restoredTop sz="96405" autoAdjust="0"/>
  </p:normalViewPr>
  <p:slideViewPr>
    <p:cSldViewPr>
      <p:cViewPr varScale="1">
        <p:scale>
          <a:sx n="74" d="100"/>
          <a:sy n="74" d="100"/>
        </p:scale>
        <p:origin x="53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14F8B3-CCF1-1B42-B1C4-A80CB9E67E7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12888B-12E1-5147-95A9-6D188F9B0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51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B426D80-2232-3D4C-945B-19125CCC49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43600" y="4229100"/>
            <a:ext cx="67056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7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C2AC2A-3969-D442-BE53-4E3D2B890F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02763" y="8887916"/>
            <a:ext cx="2042237" cy="12013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E76502D-A291-2A41-ABA4-EFCD0E2C84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71580C1-FD3B-1E47-9084-7FB32E11AC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371600"/>
            <a:ext cx="15240000" cy="7543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ADD YOUR CONTENT HERE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CC4B0D-8CFB-CF4E-8C92-309F795777D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02763" y="8887916"/>
            <a:ext cx="2042237" cy="1201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630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87201CF-FDFE-1246-B7F7-CDA43D6BCB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32C8F4B-F827-554F-AAF2-EC3BB6AA6B5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43600" y="4572000"/>
            <a:ext cx="6400800" cy="1143000"/>
          </a:xfrm>
        </p:spPr>
        <p:txBody>
          <a:bodyPr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THANK YOU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2C313F2-9052-774D-95DA-CECE647B597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0" y="9165426"/>
            <a:ext cx="1626870" cy="95698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9FF052-B148-654E-A2E3-86CCBA1F274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7" r:id="rId2"/>
    <p:sldLayoutId id="2147483655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fwpr.com/navigating-the-analytics-maturity-model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fwpr.com/navigating-the-analytics-maturity-model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https://www.databricks.com/resources/architectures/intelligent-data-warehousing-on-databricks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F976B0-598B-E5DA-23B1-6FB9BED5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4229100"/>
            <a:ext cx="12649200" cy="12192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From Data to Decisions: Leading in the Age of AI</a:t>
            </a:r>
            <a:endParaRPr lang="en-IN" dirty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512C986B-AACB-717E-643E-7AD3B69AB545}"/>
              </a:ext>
            </a:extLst>
          </p:cNvPr>
          <p:cNvSpPr txBox="1">
            <a:spLocks/>
          </p:cNvSpPr>
          <p:nvPr/>
        </p:nvSpPr>
        <p:spPr>
          <a:xfrm>
            <a:off x="2917" y="5143500"/>
            <a:ext cx="12649200" cy="1219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7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dirty="0"/>
              <a:t>By </a:t>
            </a:r>
            <a:r>
              <a:rPr lang="en-US" sz="3200" dirty="0" err="1"/>
              <a:t>Gunarathinam</a:t>
            </a:r>
            <a:r>
              <a:rPr lang="en-US" sz="2800" dirty="0"/>
              <a:t> M</a:t>
            </a:r>
          </a:p>
          <a:p>
            <a:pPr algn="l"/>
            <a:r>
              <a:rPr lang="en-US" sz="2800" dirty="0"/>
              <a:t>Sr. Database </a:t>
            </a:r>
            <a:r>
              <a:rPr lang="en-US" sz="3200" dirty="0"/>
              <a:t>Architect</a:t>
            </a:r>
            <a:r>
              <a:rPr lang="en-US" sz="2800" dirty="0"/>
              <a:t> @ ADP</a:t>
            </a:r>
            <a:endParaRPr lang="en-IN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C9FA91-CF88-D395-7252-9556746B51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2632" y="4457700"/>
            <a:ext cx="1905000" cy="19050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083359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BF4C64-C2B3-B2AE-E4B5-81DE1A740FB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Introduction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Market Map of Data Ecosystem(MAD Landscape)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Why this topic matters?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 Shift:  BI -&gt; AI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What Data Leadership Means Today?</a:t>
            </a:r>
            <a:endParaRPr lang="en-IN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Data Leadership Pillars</a:t>
            </a:r>
            <a:endParaRPr lang="en-IN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Leadership Framework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en-IN" dirty="0"/>
              <a:t>Domain Centric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en-IN" dirty="0"/>
              <a:t>Maturity Model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en-IN" dirty="0"/>
              <a:t>Small &amp; Scale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Closing Quote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4919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59671C10-88E0-A921-F266-5AFF08F33EA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1072" y="606996"/>
            <a:ext cx="15240000" cy="747564"/>
          </a:xfrm>
        </p:spPr>
        <p:txBody>
          <a:bodyPr>
            <a:normAutofit fontScale="92500"/>
          </a:bodyPr>
          <a:lstStyle/>
          <a:p>
            <a:r>
              <a:rPr lang="en-US" sz="4000" i="1" dirty="0"/>
              <a:t>Most organizations don’t have a data problem. They have a decision problem.</a:t>
            </a:r>
            <a:endParaRPr lang="en-IN" sz="4000" i="1" dirty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29DAC935-EED2-094D-167C-128BA82B3046}"/>
              </a:ext>
            </a:extLst>
          </p:cNvPr>
          <p:cNvSpPr txBox="1">
            <a:spLocks/>
          </p:cNvSpPr>
          <p:nvPr/>
        </p:nvSpPr>
        <p:spPr>
          <a:xfrm>
            <a:off x="1151112" y="6727676"/>
            <a:ext cx="15240000" cy="7475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i="1" dirty="0"/>
              <a:t>This is not about tools – its leadership.</a:t>
            </a:r>
            <a:endParaRPr lang="en-IN" i="1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3B93C3F1-288A-8A5D-ED70-B9943607ABC2}"/>
              </a:ext>
            </a:extLst>
          </p:cNvPr>
          <p:cNvSpPr txBox="1">
            <a:spLocks/>
          </p:cNvSpPr>
          <p:nvPr/>
        </p:nvSpPr>
        <p:spPr>
          <a:xfrm>
            <a:off x="935088" y="2623220"/>
            <a:ext cx="15240000" cy="2592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Organizations are rich in data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Many have dashboards, reports, even AI models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Yet… decisions are still slow, inconsistent, or wrong</a:t>
            </a:r>
          </a:p>
        </p:txBody>
      </p:sp>
    </p:spTree>
    <p:extLst>
      <p:ext uri="{BB962C8B-B14F-4D97-AF65-F5344CB8AC3E}">
        <p14:creationId xmlns:p14="http://schemas.microsoft.com/office/powerpoint/2010/main" val="1793220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390FC-41BB-2F16-4674-B844B1F23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7E416DF7-DBAE-C902-5E9F-B5786D12B35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7016" y="102940"/>
            <a:ext cx="15240000" cy="747564"/>
          </a:xfrm>
        </p:spPr>
        <p:txBody>
          <a:bodyPr>
            <a:normAutofit/>
          </a:bodyPr>
          <a:lstStyle/>
          <a:p>
            <a:r>
              <a:rPr lang="en-US" sz="4000" dirty="0"/>
              <a:t>Market Map of Data Ecosystem</a:t>
            </a:r>
            <a:endParaRPr lang="en-IN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ADD440-6293-DDC8-30A8-471ADEF80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612" y="853973"/>
            <a:ext cx="15382147" cy="8649950"/>
          </a:xfrm>
          <a:prstGeom prst="rect">
            <a:avLst/>
          </a:prstGeom>
        </p:spPr>
      </p:pic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A2401669-9B00-AAF7-35CB-D4124152DC09}"/>
              </a:ext>
            </a:extLst>
          </p:cNvPr>
          <p:cNvSpPr txBox="1">
            <a:spLocks/>
          </p:cNvSpPr>
          <p:nvPr/>
        </p:nvSpPr>
        <p:spPr>
          <a:xfrm>
            <a:off x="719064" y="9607996"/>
            <a:ext cx="6840760" cy="42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i="1" dirty="0"/>
              <a:t>Source: https://mad.firstmark.com/</a:t>
            </a:r>
            <a:endParaRPr lang="en-IN" sz="2000" i="1" dirty="0"/>
          </a:p>
        </p:txBody>
      </p:sp>
    </p:spTree>
    <p:extLst>
      <p:ext uri="{BB962C8B-B14F-4D97-AF65-F5344CB8AC3E}">
        <p14:creationId xmlns:p14="http://schemas.microsoft.com/office/powerpoint/2010/main" val="1867661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220F4-4877-85C5-9C9D-E776579C8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7A873BE0-A21F-FF0A-4638-FACC4D7CB12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1072" y="606996"/>
            <a:ext cx="15240000" cy="747564"/>
          </a:xfrm>
        </p:spPr>
        <p:txBody>
          <a:bodyPr>
            <a:normAutofit/>
          </a:bodyPr>
          <a:lstStyle/>
          <a:p>
            <a:r>
              <a:rPr lang="en-US" sz="4000" dirty="0"/>
              <a:t>Why this topic Matters?</a:t>
            </a:r>
            <a:endParaRPr lang="en-IN" sz="4000" dirty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CA198593-EB63-64AB-CA92-78C1F74EAEB3}"/>
              </a:ext>
            </a:extLst>
          </p:cNvPr>
          <p:cNvSpPr txBox="1">
            <a:spLocks/>
          </p:cNvSpPr>
          <p:nvPr/>
        </p:nvSpPr>
        <p:spPr>
          <a:xfrm>
            <a:off x="1151112" y="6727676"/>
            <a:ext cx="15240000" cy="7475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i="1" dirty="0"/>
              <a:t>Leadership must evolve faster than technology.</a:t>
            </a:r>
            <a:endParaRPr lang="en-IN" i="1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245ABCB0-88DD-36F6-F889-A06E8282CD3A}"/>
              </a:ext>
            </a:extLst>
          </p:cNvPr>
          <p:cNvSpPr txBox="1">
            <a:spLocks/>
          </p:cNvSpPr>
          <p:nvPr/>
        </p:nvSpPr>
        <p:spPr>
          <a:xfrm>
            <a:off x="935088" y="2623220"/>
            <a:ext cx="15240000" cy="2592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Business wants </a:t>
            </a:r>
            <a:r>
              <a:rPr lang="en-US" sz="4000" b="1" dirty="0"/>
              <a:t>faster, smarter decisions</a:t>
            </a:r>
            <a:r>
              <a:rPr lang="en-US" sz="4000" dirty="0"/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Leaders expect </a:t>
            </a:r>
            <a:r>
              <a:rPr lang="en-US" sz="4000" b="1" dirty="0"/>
              <a:t>predictive &amp; automated insights</a:t>
            </a:r>
            <a:r>
              <a:rPr lang="en-US" sz="4000" dirty="0"/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Data teams are no longer support — they are </a:t>
            </a:r>
            <a:r>
              <a:rPr lang="en-US" sz="4000" b="1" dirty="0"/>
              <a:t>strategic drivers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76192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916C1-5EF8-024A-4AFD-FC4B206BC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1F29A473-A97A-81C5-3BD0-0031786177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1072" y="606996"/>
            <a:ext cx="15240000" cy="747564"/>
          </a:xfrm>
        </p:spPr>
        <p:txBody>
          <a:bodyPr>
            <a:normAutofit/>
          </a:bodyPr>
          <a:lstStyle/>
          <a:p>
            <a:r>
              <a:rPr lang="en-US" sz="4000" dirty="0"/>
              <a:t>The Shift:  BI -&gt; AI</a:t>
            </a:r>
            <a:endParaRPr lang="en-IN" sz="4000" dirty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4014693E-A0F3-E04C-6607-F356AA4AA68D}"/>
              </a:ext>
            </a:extLst>
          </p:cNvPr>
          <p:cNvSpPr txBox="1">
            <a:spLocks/>
          </p:cNvSpPr>
          <p:nvPr/>
        </p:nvSpPr>
        <p:spPr>
          <a:xfrm>
            <a:off x="1295128" y="8110959"/>
            <a:ext cx="15240000" cy="7475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i="1" dirty="0"/>
              <a:t>Shifts from Insights -&gt; Impact</a:t>
            </a:r>
            <a:endParaRPr lang="en-IN" i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581E965-1209-7374-5F0F-F749F6BFDF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1344308"/>
              </p:ext>
            </p:extLst>
          </p:nvPr>
        </p:nvGraphicFramePr>
        <p:xfrm>
          <a:off x="1295128" y="2407196"/>
          <a:ext cx="15409712" cy="3810000"/>
        </p:xfrm>
        <a:graphic>
          <a:graphicData uri="http://schemas.openxmlformats.org/drawingml/2006/table">
            <a:tbl>
              <a:tblPr firstRow="1" bandRow="1"/>
              <a:tblGrid>
                <a:gridCol w="7704856">
                  <a:extLst>
                    <a:ext uri="{9D8B030D-6E8A-4147-A177-3AD203B41FA5}">
                      <a16:colId xmlns:a16="http://schemas.microsoft.com/office/drawing/2014/main" val="4000318231"/>
                    </a:ext>
                  </a:extLst>
                </a:gridCol>
                <a:gridCol w="7704856">
                  <a:extLst>
                    <a:ext uri="{9D8B030D-6E8A-4147-A177-3AD203B41FA5}">
                      <a16:colId xmlns:a16="http://schemas.microsoft.com/office/drawing/2014/main" val="37017811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400" dirty="0">
                          <a:solidFill>
                            <a:schemeClr val="bg1"/>
                          </a:solidFill>
                        </a:rPr>
                        <a:t>Traditional BI</a:t>
                      </a:r>
                      <a:endParaRPr lang="en-IN" sz="4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400" dirty="0">
                          <a:solidFill>
                            <a:schemeClr val="bg1"/>
                          </a:solidFill>
                        </a:rPr>
                        <a:t>AI-Driven World</a:t>
                      </a:r>
                      <a:endParaRPr lang="en-IN" sz="4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7416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4400" dirty="0">
                          <a:solidFill>
                            <a:schemeClr val="bg1"/>
                          </a:solidFill>
                        </a:rPr>
                        <a:t>What Happened?</a:t>
                      </a:r>
                      <a:endParaRPr lang="en-IN" sz="4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>
                          <a:solidFill>
                            <a:schemeClr val="bg1"/>
                          </a:solidFill>
                        </a:rPr>
                        <a:t>What will happen?</a:t>
                      </a:r>
                      <a:endParaRPr lang="en-IN" sz="4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1231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4400" dirty="0">
                          <a:solidFill>
                            <a:schemeClr val="bg1"/>
                          </a:solidFill>
                        </a:rPr>
                        <a:t>Dashboards</a:t>
                      </a:r>
                      <a:endParaRPr lang="en-IN" sz="4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>
                          <a:solidFill>
                            <a:schemeClr val="bg1"/>
                          </a:solidFill>
                        </a:rPr>
                        <a:t>Predictions</a:t>
                      </a:r>
                      <a:endParaRPr lang="en-IN" sz="4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908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4400" dirty="0">
                          <a:solidFill>
                            <a:schemeClr val="bg1"/>
                          </a:solidFill>
                        </a:rPr>
                        <a:t>Manual Decisions</a:t>
                      </a:r>
                      <a:endParaRPr lang="en-IN" sz="4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>
                          <a:solidFill>
                            <a:schemeClr val="bg1"/>
                          </a:solidFill>
                        </a:rPr>
                        <a:t>Assisted/Automated Decisions</a:t>
                      </a:r>
                      <a:endParaRPr lang="en-IN" sz="4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027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4400" dirty="0">
                          <a:solidFill>
                            <a:schemeClr val="bg1"/>
                          </a:solidFill>
                        </a:rPr>
                        <a:t>Data Teams = Support</a:t>
                      </a:r>
                      <a:endParaRPr lang="en-IN" sz="4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>
                          <a:solidFill>
                            <a:schemeClr val="bg1"/>
                          </a:solidFill>
                        </a:rPr>
                        <a:t>Data teams = Strategic</a:t>
                      </a:r>
                      <a:endParaRPr lang="en-IN" sz="4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103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8807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FA277-8CBC-7A77-7DDC-86A5681A5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280B3ADE-AFA4-31E0-1539-5ED0EF2FC63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1072" y="606996"/>
            <a:ext cx="15240000" cy="747564"/>
          </a:xfrm>
        </p:spPr>
        <p:txBody>
          <a:bodyPr>
            <a:normAutofit/>
          </a:bodyPr>
          <a:lstStyle/>
          <a:p>
            <a:r>
              <a:rPr lang="en-US" sz="4000" dirty="0"/>
              <a:t>What Data Leadership Means Today?</a:t>
            </a:r>
            <a:endParaRPr lang="en-IN" sz="4000" dirty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F54340EC-9750-5560-43B1-DD0F45835B1D}"/>
              </a:ext>
            </a:extLst>
          </p:cNvPr>
          <p:cNvSpPr txBox="1">
            <a:spLocks/>
          </p:cNvSpPr>
          <p:nvPr/>
        </p:nvSpPr>
        <p:spPr>
          <a:xfrm>
            <a:off x="1151112" y="6727676"/>
            <a:ext cx="15240000" cy="7475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From reporting leader → decision enabler</a:t>
            </a:r>
            <a:endParaRPr lang="en-IN" i="1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729F6B88-AED0-EE19-72DF-F916554770FE}"/>
              </a:ext>
            </a:extLst>
          </p:cNvPr>
          <p:cNvSpPr txBox="1">
            <a:spLocks/>
          </p:cNvSpPr>
          <p:nvPr/>
        </p:nvSpPr>
        <p:spPr>
          <a:xfrm>
            <a:off x="935088" y="2623220"/>
            <a:ext cx="15240000" cy="259228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Connect </a:t>
            </a:r>
            <a:r>
              <a:rPr lang="en-US" sz="4000" b="1" dirty="0"/>
              <a:t>business goals ↔ data strategy</a:t>
            </a:r>
            <a:r>
              <a:rPr lang="en-US" sz="4000" dirty="0"/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Drive </a:t>
            </a:r>
            <a:r>
              <a:rPr lang="en-US" sz="4000" b="1" dirty="0"/>
              <a:t>decision-making culture</a:t>
            </a:r>
            <a:r>
              <a:rPr lang="en-US" sz="4000" dirty="0"/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Ensure </a:t>
            </a:r>
            <a:r>
              <a:rPr lang="en-US" sz="4000" b="1" dirty="0"/>
              <a:t>data trust &amp; governance</a:t>
            </a:r>
            <a:r>
              <a:rPr lang="en-US" sz="4000" dirty="0"/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Balance </a:t>
            </a:r>
            <a:r>
              <a:rPr lang="en-US" sz="4000" b="1" dirty="0"/>
              <a:t>AI + human judgment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121221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A7916-D679-A744-240F-F49E298C3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713A34AF-193F-FE29-C254-F587C543ABE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3000" y="198679"/>
            <a:ext cx="15240000" cy="747564"/>
          </a:xfrm>
        </p:spPr>
        <p:txBody>
          <a:bodyPr>
            <a:normAutofit/>
          </a:bodyPr>
          <a:lstStyle/>
          <a:p>
            <a:r>
              <a:rPr lang="en-US" sz="4000" dirty="0"/>
              <a:t>Data Leadership Pillars:</a:t>
            </a:r>
            <a:endParaRPr lang="en-IN" sz="4000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58313F-D0EE-126A-185E-FCBA7173E86D}"/>
              </a:ext>
            </a:extLst>
          </p:cNvPr>
          <p:cNvSpPr txBox="1">
            <a:spLocks/>
          </p:cNvSpPr>
          <p:nvPr/>
        </p:nvSpPr>
        <p:spPr>
          <a:xfrm>
            <a:off x="288608" y="1469655"/>
            <a:ext cx="4174872" cy="5474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1-Data as Product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/>
              <a:t>Clear ownership (data owners, not just engineers)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/>
              <a:t>Defined quality standards (accuracy, freshness)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/>
              <a:t>SLAs for availability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/>
              <a:t>Designed for consumption (not storage)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9EDB94C2-252B-0F73-2981-8CEC283469F1}"/>
              </a:ext>
            </a:extLst>
          </p:cNvPr>
          <p:cNvSpPr txBox="1">
            <a:spLocks/>
          </p:cNvSpPr>
          <p:nvPr/>
        </p:nvSpPr>
        <p:spPr>
          <a:xfrm>
            <a:off x="4488062" y="1487975"/>
            <a:ext cx="4174872" cy="78488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dirty="0"/>
              <a:t>2-Decision-Driven Analytics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What decision are we improving?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Who will use this insight?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What action will change?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803B460-003C-1616-C933-EDA55E0041A9}"/>
              </a:ext>
            </a:extLst>
          </p:cNvPr>
          <p:cNvSpPr txBox="1">
            <a:spLocks/>
          </p:cNvSpPr>
          <p:nvPr/>
        </p:nvSpPr>
        <p:spPr>
          <a:xfrm>
            <a:off x="8687516" y="1469655"/>
            <a:ext cx="4490670" cy="78488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dirty="0"/>
              <a:t>3-AI + Human Collaboration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AI for scale and speed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Humans for context and judgment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Define: 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Where AI recommends 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Where humans decide</a:t>
            </a:r>
          </a:p>
          <a:p>
            <a:endParaRPr lang="en-US" sz="2800" dirty="0"/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C4D47E6B-BD4F-101F-5036-9BE97CAD4418}"/>
              </a:ext>
            </a:extLst>
          </p:cNvPr>
          <p:cNvSpPr txBox="1">
            <a:spLocks/>
          </p:cNvSpPr>
          <p:nvPr/>
        </p:nvSpPr>
        <p:spPr>
          <a:xfrm>
            <a:off x="13896528" y="1469655"/>
            <a:ext cx="4174872" cy="78488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dirty="0"/>
              <a:t>4-Trust &amp; Governance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Data quality issues kill credibility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AI bias &amp; explainability concerns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Regulatory &amp; compliance needs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1DF4BFC7-D664-D602-A9F3-53BD57DB4728}"/>
              </a:ext>
            </a:extLst>
          </p:cNvPr>
          <p:cNvSpPr txBox="1">
            <a:spLocks/>
          </p:cNvSpPr>
          <p:nvPr/>
        </p:nvSpPr>
        <p:spPr>
          <a:xfrm>
            <a:off x="143000" y="6943700"/>
            <a:ext cx="4174872" cy="1224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i="1" dirty="0"/>
              <a:t>If data is not usable, it has no value</a:t>
            </a: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517FC4BB-D85A-3992-4E0F-76163FC91CD9}"/>
              </a:ext>
            </a:extLst>
          </p:cNvPr>
          <p:cNvSpPr txBox="1">
            <a:spLocks/>
          </p:cNvSpPr>
          <p:nvPr/>
        </p:nvSpPr>
        <p:spPr>
          <a:xfrm>
            <a:off x="4658252" y="6943700"/>
            <a:ext cx="4174872" cy="1224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i="1" dirty="0"/>
              <a:t>No decision → No value</a:t>
            </a:r>
            <a:endParaRPr lang="en-US" sz="2800" i="1" dirty="0"/>
          </a:p>
        </p:txBody>
      </p:sp>
      <p:sp>
        <p:nvSpPr>
          <p:cNvPr id="17" name="Text Placeholder 1">
            <a:extLst>
              <a:ext uri="{FF2B5EF4-FFF2-40B4-BE49-F238E27FC236}">
                <a16:creationId xmlns:a16="http://schemas.microsoft.com/office/drawing/2014/main" id="{0464C02B-BE13-EA7A-A2B8-A0CC8BA1FA24}"/>
              </a:ext>
            </a:extLst>
          </p:cNvPr>
          <p:cNvSpPr txBox="1">
            <a:spLocks/>
          </p:cNvSpPr>
          <p:nvPr/>
        </p:nvSpPr>
        <p:spPr>
          <a:xfrm>
            <a:off x="9003314" y="6943700"/>
            <a:ext cx="4174872" cy="1224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i="1" dirty="0"/>
              <a:t>Best outcomes come from collaboration</a:t>
            </a:r>
          </a:p>
        </p:txBody>
      </p:sp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387E5544-B400-0DDE-9431-D9D1212EB11C}"/>
              </a:ext>
            </a:extLst>
          </p:cNvPr>
          <p:cNvSpPr txBox="1">
            <a:spLocks/>
          </p:cNvSpPr>
          <p:nvPr/>
        </p:nvSpPr>
        <p:spPr>
          <a:xfrm>
            <a:off x="13970128" y="6943700"/>
            <a:ext cx="4174872" cy="1224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i="1" dirty="0"/>
              <a:t>Trust is the foundation of data leadership</a:t>
            </a:r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1069637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0" grpId="0"/>
      <p:bldP spid="11" grpId="0"/>
      <p:bldP spid="15" grpId="0"/>
      <p:bldP spid="16" grpId="0"/>
      <p:bldP spid="17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7DE49-8D8C-5A2A-4EEC-1FD14DA23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D157496E-FB20-F6FC-7695-88D8F0C39B5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3000" y="174948"/>
            <a:ext cx="15240000" cy="747564"/>
          </a:xfrm>
        </p:spPr>
        <p:txBody>
          <a:bodyPr>
            <a:normAutofit/>
          </a:bodyPr>
          <a:lstStyle/>
          <a:p>
            <a:r>
              <a:rPr lang="en-IN" sz="4000" dirty="0"/>
              <a:t>Leadership Framework: Domain Centric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1F2A7626-108C-4970-C923-E7A3FB57B8E5}"/>
              </a:ext>
            </a:extLst>
          </p:cNvPr>
          <p:cNvSpPr txBox="1">
            <a:spLocks/>
          </p:cNvSpPr>
          <p:nvPr/>
        </p:nvSpPr>
        <p:spPr>
          <a:xfrm>
            <a:off x="719064" y="9607996"/>
            <a:ext cx="6840760" cy="428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i="1" dirty="0"/>
              <a:t>Source: </a:t>
            </a:r>
            <a:r>
              <a:rPr lang="en-US" sz="2000" i="1" dirty="0">
                <a:hlinkClick r:id="rId2"/>
              </a:rPr>
              <a:t>https://fwpr.com/navigating-the-analytics-maturity-model/</a:t>
            </a:r>
            <a:endParaRPr lang="en-IN" sz="2000" i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16A3009-3656-28A7-7395-6CA4D0BDE8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3115624"/>
              </p:ext>
            </p:extLst>
          </p:nvPr>
        </p:nvGraphicFramePr>
        <p:xfrm>
          <a:off x="1007096" y="2154420"/>
          <a:ext cx="15455552" cy="5728828"/>
        </p:xfrm>
        <a:graphic>
          <a:graphicData uri="http://schemas.openxmlformats.org/drawingml/2006/table">
            <a:tbl>
              <a:tblPr/>
              <a:tblGrid>
                <a:gridCol w="7727776">
                  <a:extLst>
                    <a:ext uri="{9D8B030D-6E8A-4147-A177-3AD203B41FA5}">
                      <a16:colId xmlns:a16="http://schemas.microsoft.com/office/drawing/2014/main" val="87155299"/>
                    </a:ext>
                  </a:extLst>
                </a:gridCol>
                <a:gridCol w="7727776">
                  <a:extLst>
                    <a:ext uri="{9D8B030D-6E8A-4147-A177-3AD203B41FA5}">
                      <a16:colId xmlns:a16="http://schemas.microsoft.com/office/drawing/2014/main" val="4105732900"/>
                    </a:ext>
                  </a:extLst>
                </a:gridCol>
              </a:tblGrid>
              <a:tr h="818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solidFill>
                            <a:schemeClr val="bg1"/>
                          </a:solidFill>
                        </a:rPr>
                        <a:t>Technology-Centric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solidFill>
                            <a:schemeClr val="bg1"/>
                          </a:solidFill>
                        </a:rPr>
                        <a:t>Domain-Centric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56460"/>
                  </a:ext>
                </a:extLst>
              </a:tr>
              <a:tr h="818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solidFill>
                            <a:schemeClr val="bg1"/>
                          </a:solidFill>
                        </a:rPr>
                        <a:t>Build platforms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solidFill>
                            <a:schemeClr val="bg1"/>
                          </a:solidFill>
                        </a:rPr>
                        <a:t>Solve business problems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7768719"/>
                  </a:ext>
                </a:extLst>
              </a:tr>
              <a:tr h="818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solidFill>
                            <a:schemeClr val="bg1"/>
                          </a:solidFill>
                        </a:rPr>
                        <a:t>Focus on tools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solidFill>
                            <a:schemeClr val="bg1"/>
                          </a:solidFill>
                        </a:rPr>
                        <a:t>Focus on outcomes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6692417"/>
                  </a:ext>
                </a:extLst>
              </a:tr>
              <a:tr h="818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solidFill>
                            <a:schemeClr val="bg1"/>
                          </a:solidFill>
                        </a:rPr>
                        <a:t>Data availability drives projects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solidFill>
                            <a:schemeClr val="bg1"/>
                          </a:solidFill>
                        </a:rPr>
                        <a:t>Business priorities drive projects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0359559"/>
                  </a:ext>
                </a:extLst>
              </a:tr>
              <a:tr h="818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solidFill>
                            <a:schemeClr val="bg1"/>
                          </a:solidFill>
                        </a:rPr>
                        <a:t>Success = technical completion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solidFill>
                            <a:schemeClr val="bg1"/>
                          </a:solidFill>
                        </a:rPr>
                        <a:t>Success = business impact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2753365"/>
                  </a:ext>
                </a:extLst>
              </a:tr>
              <a:tr h="818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solidFill>
                            <a:schemeClr val="bg1"/>
                          </a:solidFill>
                        </a:rPr>
                        <a:t>IT-led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solidFill>
                            <a:schemeClr val="bg1"/>
                          </a:solidFill>
                        </a:rPr>
                        <a:t>Business-aligned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9924835"/>
                  </a:ext>
                </a:extLst>
              </a:tr>
              <a:tr h="818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solidFill>
                            <a:schemeClr val="bg1"/>
                          </a:solidFill>
                        </a:rPr>
                        <a:t>Reports &amp; dashboards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solidFill>
                            <a:schemeClr val="bg1"/>
                          </a:solidFill>
                        </a:rPr>
                        <a:t>Decisions &amp; actions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6876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0238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ED972-1A1B-74E8-3694-2C8DC69C6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FB8386D0-BE50-3727-F01D-9A96F72F2C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3000" y="174948"/>
            <a:ext cx="15240000" cy="747564"/>
          </a:xfrm>
        </p:spPr>
        <p:txBody>
          <a:bodyPr>
            <a:normAutofit/>
          </a:bodyPr>
          <a:lstStyle/>
          <a:p>
            <a:r>
              <a:rPr lang="en-IN" sz="4000" dirty="0"/>
              <a:t>Leadership Framework: Maturity Model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629A702-DEA7-63C2-719F-737CD2729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00" y="1052545"/>
            <a:ext cx="14545616" cy="8181909"/>
          </a:xfrm>
          <a:prstGeom prst="rect">
            <a:avLst/>
          </a:prstGeom>
        </p:spPr>
      </p:pic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632E5B13-440B-8341-5FDB-71EDF50072CD}"/>
              </a:ext>
            </a:extLst>
          </p:cNvPr>
          <p:cNvSpPr txBox="1">
            <a:spLocks/>
          </p:cNvSpPr>
          <p:nvPr/>
        </p:nvSpPr>
        <p:spPr>
          <a:xfrm>
            <a:off x="719064" y="9607996"/>
            <a:ext cx="6840760" cy="428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i="1" dirty="0"/>
              <a:t>Source: </a:t>
            </a:r>
            <a:r>
              <a:rPr lang="en-US" sz="2000" i="1" dirty="0">
                <a:hlinkClick r:id="rId3"/>
              </a:rPr>
              <a:t>https://fwpr.com/navigating-the-analytics-maturity-model/</a:t>
            </a:r>
            <a:endParaRPr lang="en-IN" sz="2000" i="1" dirty="0"/>
          </a:p>
        </p:txBody>
      </p:sp>
    </p:spTree>
    <p:extLst>
      <p:ext uri="{BB962C8B-B14F-4D97-AF65-F5344CB8AC3E}">
        <p14:creationId xmlns:p14="http://schemas.microsoft.com/office/powerpoint/2010/main" val="102334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A4E0A-661E-7A33-92A8-EA19FD8D8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1A902B72-9205-2EE3-6592-E7708F211F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3000" y="174948"/>
            <a:ext cx="15240000" cy="747564"/>
          </a:xfrm>
        </p:spPr>
        <p:txBody>
          <a:bodyPr>
            <a:normAutofit/>
          </a:bodyPr>
          <a:lstStyle/>
          <a:p>
            <a:r>
              <a:rPr lang="en-IN" sz="4000" dirty="0"/>
              <a:t>Leadership Framework: Architecture – Big Picture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53947498-B26F-E12E-0B0E-89F43DE1AD4D}"/>
              </a:ext>
            </a:extLst>
          </p:cNvPr>
          <p:cNvSpPr txBox="1">
            <a:spLocks/>
          </p:cNvSpPr>
          <p:nvPr/>
        </p:nvSpPr>
        <p:spPr>
          <a:xfrm>
            <a:off x="719064" y="9607996"/>
            <a:ext cx="9433048" cy="428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i="1" dirty="0">
                <a:hlinkClick r:id="rId2"/>
              </a:rPr>
              <a:t>https://www.databricks.com/resources/architectures/intelligent-data-warehousing-on-databricks</a:t>
            </a:r>
            <a:endParaRPr lang="en-IN" sz="2000" i="1" dirty="0"/>
          </a:p>
        </p:txBody>
      </p:sp>
      <p:pic>
        <p:nvPicPr>
          <p:cNvPr id="4" name="Picture 3" descr="Image of a data warehousing session at the Data + AI Summit 2025, featuring Databricks' Lakehouse architecture.">
            <a:extLst>
              <a:ext uri="{FF2B5EF4-FFF2-40B4-BE49-F238E27FC236}">
                <a16:creationId xmlns:a16="http://schemas.microsoft.com/office/drawing/2014/main" id="{8BD96F09-E931-EBDF-816C-BCCFC2E21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00" y="1039044"/>
            <a:ext cx="14977664" cy="8424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815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FB2A5-3365-A741-78A3-601D6D97E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77B0CEC0-0D59-EBF9-FCF4-1C7E9529BF8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3000" y="174948"/>
            <a:ext cx="15240000" cy="747564"/>
          </a:xfrm>
        </p:spPr>
        <p:txBody>
          <a:bodyPr>
            <a:normAutofit/>
          </a:bodyPr>
          <a:lstStyle/>
          <a:p>
            <a:r>
              <a:rPr lang="en-IN" sz="4000" dirty="0"/>
              <a:t>Leadership Framework: Start small, scale with Impact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CFB3C5-9B9B-A8A1-1934-5FE6EB7CADFB}"/>
              </a:ext>
            </a:extLst>
          </p:cNvPr>
          <p:cNvSpPr txBox="1">
            <a:spLocks/>
          </p:cNvSpPr>
          <p:nvPr/>
        </p:nvSpPr>
        <p:spPr>
          <a:xfrm>
            <a:off x="359024" y="1543100"/>
            <a:ext cx="15240000" cy="1656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Identify a High-Impact Business Problem</a:t>
            </a:r>
          </a:p>
          <a:p>
            <a:pPr marL="1314450" lvl="1" indent="-571500">
              <a:buFont typeface="Arial" panose="020B0604020202020204" pitchFamily="34" charset="0"/>
              <a:buChar char="•"/>
            </a:pPr>
            <a:r>
              <a:rPr lang="en-US" sz="3600" dirty="0"/>
              <a:t>Painful | Visible | Measurable | Frequently occurring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6EF1CD70-F06B-B5AA-F797-2EFD2D6CA512}"/>
              </a:ext>
            </a:extLst>
          </p:cNvPr>
          <p:cNvSpPr txBox="1">
            <a:spLocks/>
          </p:cNvSpPr>
          <p:nvPr/>
        </p:nvSpPr>
        <p:spPr>
          <a:xfrm>
            <a:off x="359024" y="2991780"/>
            <a:ext cx="15240000" cy="1656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Build a Small, Focused MVP</a:t>
            </a:r>
          </a:p>
          <a:p>
            <a:pPr marL="1314450" lvl="1" indent="-571500">
              <a:buFont typeface="Arial" panose="020B0604020202020204" pitchFamily="34" charset="0"/>
              <a:buChar char="•"/>
            </a:pPr>
            <a:r>
              <a:rPr lang="en-US" sz="3600" dirty="0"/>
              <a:t>One dashboard | One AI use case | One workflow automation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BD6D5F1C-9949-FD92-4841-637F333471D6}"/>
              </a:ext>
            </a:extLst>
          </p:cNvPr>
          <p:cNvSpPr txBox="1">
            <a:spLocks/>
          </p:cNvSpPr>
          <p:nvPr/>
        </p:nvSpPr>
        <p:spPr>
          <a:xfrm>
            <a:off x="359024" y="4447204"/>
            <a:ext cx="15240000" cy="1656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/>
              <a:t>Deliver Quick Wins</a:t>
            </a:r>
          </a:p>
          <a:p>
            <a:pPr marL="1314450" lvl="1" indent="-571500">
              <a:buFont typeface="Arial" panose="020B0604020202020204" pitchFamily="34" charset="0"/>
              <a:buChar char="•"/>
            </a:pPr>
            <a:r>
              <a:rPr lang="en-US" sz="3600" dirty="0"/>
              <a:t>6–12 week outcomes | Visible business value | Executive-friendly metrics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16CD97E6-EDC2-2EEB-A6DD-8EC0EB9B40AE}"/>
              </a:ext>
            </a:extLst>
          </p:cNvPr>
          <p:cNvSpPr txBox="1">
            <a:spLocks/>
          </p:cNvSpPr>
          <p:nvPr/>
        </p:nvSpPr>
        <p:spPr>
          <a:xfrm>
            <a:off x="143000" y="6096644"/>
            <a:ext cx="15240000" cy="1656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/>
              <a:t>Build Trust &amp; Adoption</a:t>
            </a:r>
          </a:p>
          <a:p>
            <a:pPr marL="1314450" lvl="1" indent="-571500">
              <a:buFont typeface="Arial" panose="020B0604020202020204" pitchFamily="34" charset="0"/>
              <a:buChar char="•"/>
            </a:pPr>
            <a:r>
              <a:rPr lang="en-US" sz="3600" dirty="0"/>
              <a:t>Train users | Simplify outputs | Make insights actionable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FE907733-F070-EC4E-53FD-95483B4C5296}"/>
              </a:ext>
            </a:extLst>
          </p:cNvPr>
          <p:cNvSpPr txBox="1">
            <a:spLocks/>
          </p:cNvSpPr>
          <p:nvPr/>
        </p:nvSpPr>
        <p:spPr>
          <a:xfrm>
            <a:off x="143000" y="7658193"/>
            <a:ext cx="16201800" cy="165618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/>
              <a:t>Scale What Works</a:t>
            </a:r>
          </a:p>
          <a:p>
            <a:pPr marL="1314450" lvl="1" indent="-571500">
              <a:buFont typeface="Arial" panose="020B0604020202020204" pitchFamily="34" charset="0"/>
              <a:buChar char="•"/>
            </a:pPr>
            <a:r>
              <a:rPr lang="en-US" sz="3600" dirty="0"/>
              <a:t>Expand to departments |Reuse data foundations |Standardize governance | Introduce advanced AI</a:t>
            </a:r>
          </a:p>
        </p:txBody>
      </p:sp>
    </p:spTree>
    <p:extLst>
      <p:ext uri="{BB962C8B-B14F-4D97-AF65-F5344CB8AC3E}">
        <p14:creationId xmlns:p14="http://schemas.microsoft.com/office/powerpoint/2010/main" val="993835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7" grpId="0"/>
      <p:bldP spid="8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381D8-AEAD-BC7C-4B91-364C456B5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350A180A-5635-F456-8D8D-B17ABFE2561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79304" y="3490166"/>
            <a:ext cx="11881320" cy="1656184"/>
          </a:xfrm>
        </p:spPr>
        <p:txBody>
          <a:bodyPr>
            <a:normAutofit/>
          </a:bodyPr>
          <a:lstStyle/>
          <a:p>
            <a:r>
              <a:rPr lang="en-US" sz="4000" dirty="0"/>
              <a:t>"Impatience with actions, patience with results.“ </a:t>
            </a:r>
          </a:p>
          <a:p>
            <a:r>
              <a:rPr lang="en-US" sz="4000" dirty="0"/>
              <a:t>								– By Eric Jorgenson</a:t>
            </a:r>
            <a:endParaRPr lang="en-IN" sz="4000" i="1" dirty="0"/>
          </a:p>
        </p:txBody>
      </p:sp>
    </p:spTree>
    <p:extLst>
      <p:ext uri="{BB962C8B-B14F-4D97-AF65-F5344CB8AC3E}">
        <p14:creationId xmlns:p14="http://schemas.microsoft.com/office/powerpoint/2010/main" val="3926428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D885856-E726-0856-9796-6EF02ED8C1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92063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F0EE79-8DB0-E140-BDD9-86C57C7113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404" y="5287516"/>
            <a:ext cx="6883400" cy="3822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949835-67C9-9843-805B-4BE8B63F7A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6" y="2119164"/>
            <a:ext cx="6934016" cy="23762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AE0CAE-54BC-4C40-93A5-9909FC4F23E9}"/>
              </a:ext>
            </a:extLst>
          </p:cNvPr>
          <p:cNvSpPr txBox="1"/>
          <p:nvPr/>
        </p:nvSpPr>
        <p:spPr>
          <a:xfrm>
            <a:off x="8639944" y="1918301"/>
            <a:ext cx="8352928" cy="6129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To add a new slide, go to </a:t>
            </a:r>
            <a:r>
              <a:rPr lang="en-IN" sz="2400" b="1" dirty="0">
                <a:solidFill>
                  <a:schemeClr val="bg1"/>
                </a:solidFill>
              </a:rPr>
              <a:t>“New Slide”</a:t>
            </a:r>
            <a:r>
              <a:rPr lang="en-IN" sz="2400" dirty="0">
                <a:solidFill>
                  <a:schemeClr val="bg1"/>
                </a:solidFill>
              </a:rPr>
              <a:t> and choose the appropriate layout. Except for the Title and Outro/Thank You slides, please use the </a:t>
            </a:r>
            <a:r>
              <a:rPr lang="en-IN" sz="2400" b="1" dirty="0">
                <a:solidFill>
                  <a:schemeClr val="bg1"/>
                </a:solidFill>
              </a:rPr>
              <a:t>“Content”</a:t>
            </a:r>
            <a:r>
              <a:rPr lang="en-IN" sz="2400" dirty="0">
                <a:solidFill>
                  <a:schemeClr val="bg1"/>
                </a:solidFill>
              </a:rPr>
              <a:t> slide layout.</a:t>
            </a:r>
          </a:p>
          <a:p>
            <a:pPr>
              <a:lnSpc>
                <a:spcPct val="150000"/>
              </a:lnSpc>
            </a:pPr>
            <a:endParaRPr lang="en-IN" sz="2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Use </a:t>
            </a:r>
            <a:r>
              <a:rPr lang="en-IN" sz="2400" b="1" dirty="0">
                <a:solidFill>
                  <a:schemeClr val="bg1"/>
                </a:solidFill>
              </a:rPr>
              <a:t>white font </a:t>
            </a:r>
            <a:r>
              <a:rPr lang="en-IN" sz="2400" b="1" dirty="0" err="1">
                <a:solidFill>
                  <a:schemeClr val="bg1"/>
                </a:solidFill>
              </a:rPr>
              <a:t>color</a:t>
            </a:r>
            <a:r>
              <a:rPr lang="en-IN" sz="2400" dirty="0">
                <a:solidFill>
                  <a:schemeClr val="bg1"/>
                </a:solidFill>
              </a:rPr>
              <a:t> throughout the presentation and maintain a </a:t>
            </a:r>
            <a:r>
              <a:rPr lang="en-IN" sz="2400" b="1" dirty="0">
                <a:solidFill>
                  <a:schemeClr val="bg1"/>
                </a:solidFill>
              </a:rPr>
              <a:t>minimum font size of 24 </a:t>
            </a:r>
            <a:r>
              <a:rPr lang="en-IN" sz="2400" b="1" dirty="0" err="1">
                <a:solidFill>
                  <a:schemeClr val="bg1"/>
                </a:solidFill>
              </a:rPr>
              <a:t>pt</a:t>
            </a:r>
            <a:r>
              <a:rPr lang="en-IN" sz="2400" dirty="0">
                <a:solidFill>
                  <a:schemeClr val="bg1"/>
                </a:solidFill>
              </a:rPr>
              <a:t> with </a:t>
            </a:r>
            <a:r>
              <a:rPr lang="en-IN" sz="2400" b="1" dirty="0">
                <a:solidFill>
                  <a:schemeClr val="bg1"/>
                </a:solidFill>
              </a:rPr>
              <a:t>1.5 as line spacing</a:t>
            </a:r>
            <a:r>
              <a:rPr lang="en-IN" sz="2400" dirty="0">
                <a:solidFill>
                  <a:schemeClr val="bg1"/>
                </a:solidFill>
              </a:rPr>
              <a:t> for better visibility.</a:t>
            </a:r>
          </a:p>
          <a:p>
            <a:pPr>
              <a:lnSpc>
                <a:spcPct val="150000"/>
              </a:lnSpc>
            </a:pPr>
            <a:endParaRPr lang="en-IN" sz="2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Avoid overcrowding a single slide with too many points, as it can be difficult for the audience to read from a distance. Keep content concise and visually balanced.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94A401-AAA5-BD42-8F97-EEF509220DD2}"/>
              </a:ext>
            </a:extLst>
          </p:cNvPr>
          <p:cNvSpPr txBox="1"/>
          <p:nvPr/>
        </p:nvSpPr>
        <p:spPr>
          <a:xfrm>
            <a:off x="5543600" y="742301"/>
            <a:ext cx="720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Add New Slides Instructions – Delete This</a:t>
            </a:r>
          </a:p>
        </p:txBody>
      </p:sp>
    </p:spTree>
    <p:extLst>
      <p:ext uri="{BB962C8B-B14F-4D97-AF65-F5344CB8AC3E}">
        <p14:creationId xmlns:p14="http://schemas.microsoft.com/office/powerpoint/2010/main" val="3926015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2AE0CAE-54BC-4C40-93A5-9909FC4F23E9}"/>
              </a:ext>
            </a:extLst>
          </p:cNvPr>
          <p:cNvSpPr txBox="1"/>
          <p:nvPr/>
        </p:nvSpPr>
        <p:spPr>
          <a:xfrm>
            <a:off x="1223120" y="1831132"/>
            <a:ext cx="16129792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Feel free to include your photo and LinkedIn Profile QR in the presentation, and encourage the audience to connect with you.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Start your presentation with a strong hook to capture attention and keep the audience engaged throughout the session.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Please be mindful of the allotted time and ensure your presentation is completed within the given duration.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Watch out for the </a:t>
            </a:r>
            <a:r>
              <a:rPr lang="en-IN" sz="2400" b="1" dirty="0">
                <a:solidFill>
                  <a:schemeClr val="bg1"/>
                </a:solidFill>
              </a:rPr>
              <a:t>“Time Out”</a:t>
            </a:r>
            <a:r>
              <a:rPr lang="en-IN" sz="2400" dirty="0">
                <a:solidFill>
                  <a:schemeClr val="bg1"/>
                </a:solidFill>
              </a:rPr>
              <a:t> card so you don’t have to keep checking your watch.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Most importantly, enjoy the stage and have a great session. Happy Talking!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94A401-AAA5-BD42-8F97-EEF509220DD2}"/>
              </a:ext>
            </a:extLst>
          </p:cNvPr>
          <p:cNvSpPr txBox="1"/>
          <p:nvPr/>
        </p:nvSpPr>
        <p:spPr>
          <a:xfrm>
            <a:off x="5543600" y="742301"/>
            <a:ext cx="720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General Instructions – Delete This</a:t>
            </a:r>
          </a:p>
        </p:txBody>
      </p:sp>
    </p:spTree>
    <p:extLst>
      <p:ext uri="{BB962C8B-B14F-4D97-AF65-F5344CB8AC3E}">
        <p14:creationId xmlns:p14="http://schemas.microsoft.com/office/powerpoint/2010/main" val="2559095980"/>
      </p:ext>
    </p:extLst>
  </p:cSld>
  <p:clrMapOvr>
    <a:masterClrMapping/>
  </p:clrMapOvr>
</p:sld>
</file>

<file path=ppt/theme/theme1.xml><?xml version="1.0" encoding="utf-8"?>
<a:theme xmlns:a="http://schemas.openxmlformats.org/drawingml/2006/main" name="CDC - Odyssey Dec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ck" id="{E920A891-8B05-CD43-9E2A-DBB0B7092B39}" vid="{5BF80236-F201-8B47-8063-83721C2892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CDC - Odyssey Deck</Template>
  <TotalTime>566</TotalTime>
  <Words>740</Words>
  <Application>Microsoft Office PowerPoint</Application>
  <PresentationFormat>Custom</PresentationFormat>
  <Paragraphs>114</Paragraphs>
  <Slides>16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Calibri</vt:lpstr>
      <vt:lpstr>Arial</vt:lpstr>
      <vt:lpstr>CDC - Odyssey Deck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Guna M</cp:lastModifiedBy>
  <cp:revision>17</cp:revision>
  <dcterms:created xsi:type="dcterms:W3CDTF">2026-05-13T06:24:25Z</dcterms:created>
  <dcterms:modified xsi:type="dcterms:W3CDTF">2026-05-16T01:08:19Z</dcterms:modified>
  <dc:identifier>DAHGtO8WrjY</dc:identifier>
</cp:coreProperties>
</file>