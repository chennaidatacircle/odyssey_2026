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1" r:id="rId2"/>
    <p:sldId id="257" r:id="rId3"/>
    <p:sldId id="256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8288000" cy="10287000"/>
  <p:notesSz cx="6858000" cy="9144000"/>
  <p:embeddedFontLst>
    <p:embeddedFont>
      <p:font typeface="Arial Black" panose="020B0A04020102020204" pitchFamily="34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EB0F8-17D6-4945-8D5D-4E2DF8B90AC3}" v="70" dt="2026-05-15T14:53:03.455"/>
    <p1510:client id="{1D69A073-2645-4CEE-9AD8-BB3A534B3595}" v="82" dt="2026-05-15T14:42:49.657"/>
    <p1510:client id="{F83BBBD1-D0DE-45B0-BD62-A4CC37FE71F5}" v="365" dt="2026-05-15T20:46:38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4F8B3-CCF1-1B42-B1C4-A80CB9E67E72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2888B-12E1-5147-95A9-6D188F9B0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426D80-2232-3D4C-945B-19125CCC49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43600" y="4229100"/>
            <a:ext cx="67056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2AC2A-3969-D442-BE53-4E3D2B890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76502D-A291-2A41-ABA4-EFCD0E2C84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1580C1-FD3B-1E47-9084-7FB32E11AC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71600"/>
            <a:ext cx="15240000" cy="7543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ADD YOUR CONTENT HERE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C4B0D-8CFB-CF4E-8C92-309F79577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3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7201CF-FDFE-1246-B7F7-CDA43D6BCB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32C8F4B-F827-554F-AAF2-EC3BB6AA6B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43600" y="4572000"/>
            <a:ext cx="64008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C313F2-9052-774D-95DA-CECE647B59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0" y="9165426"/>
            <a:ext cx="1626870" cy="9569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09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9FF052-B148-654E-A2E3-86CCBA1F27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5" r:id="rId3"/>
    <p:sldLayoutId id="2147483658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9072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8608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38144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97680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57216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016752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876288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7735824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8595360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454896"/>
            <a:ext cx="18288000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914400"/>
            <a:ext cx="164592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2200" b="1" kern="0" spc="500">
              <a:solidFill>
                <a:srgbClr val="F97316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1645920"/>
            <a:ext cx="11887200" cy="4023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6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Chasing the</a:t>
            </a:r>
            <a:endParaRPr lang="en-US" sz="9600"/>
          </a:p>
          <a:p>
            <a:pPr marL="0" indent="0">
              <a:lnSpc>
                <a:spcPct val="110000"/>
              </a:lnSpc>
              <a:buNone/>
            </a:pPr>
            <a:r>
              <a:rPr lang="en-US" sz="96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Transformer Killer</a:t>
            </a:r>
            <a:endParaRPr lang="en-US" sz="960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i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The Future of AI is Hybrid</a:t>
            </a:r>
            <a:endParaRPr lang="en-US" sz="4400"/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6911828" cy="6172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300" b="1" kern="0" spc="90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SIGNALS ARE ALREADY HERE</a:t>
            </a:r>
            <a:endParaRPr lang="en-US" sz="3300"/>
          </a:p>
        </p:txBody>
      </p:sp>
      <p:sp>
        <p:nvSpPr>
          <p:cNvPr id="3" name="Text 1"/>
          <p:cNvSpPr/>
          <p:nvPr/>
        </p:nvSpPr>
        <p:spPr>
          <a:xfrm>
            <a:off x="685800" y="1303020"/>
            <a:ext cx="16911828" cy="6172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i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 that should change how you think about AI architecture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567378" y="2331720"/>
            <a:ext cx="5408676" cy="7200900"/>
          </a:xfrm>
          <a:prstGeom prst="rect">
            <a:avLst/>
          </a:prstGeom>
          <a:solidFill>
            <a:srgbClr val="0E1424"/>
          </a:solidFill>
          <a:ln w="31750">
            <a:solidFill>
              <a:srgbClr val="22D3EE"/>
            </a:solidFill>
            <a:prstDash val="solid"/>
          </a:ln>
          <a:effectLst>
            <a:outerShdw blurRad="165100" dist="50800" dir="16200000" algn="bl" rotWithShape="0">
              <a:srgbClr val="22D3EE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1540" y="2743200"/>
            <a:ext cx="4722876" cy="1714500"/>
          </a:xfrm>
          <a:prstGeom prst="rect">
            <a:avLst/>
          </a:prstGeom>
          <a:noFill/>
          <a:ln/>
          <a:effectLst>
            <a:outerShdw blurRad="203200" dist="50800" dir="16200000" algn="bl" rotWithShape="0">
              <a:srgbClr val="22D3EE">
                <a:alpha val="45000"/>
              </a:srgbClr>
            </a:outerShdw>
          </a:effectLst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600" b="1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9600"/>
          </a:p>
        </p:txBody>
      </p:sp>
      <p:sp>
        <p:nvSpPr>
          <p:cNvPr id="6" name="Shape 4"/>
          <p:cNvSpPr/>
          <p:nvPr/>
        </p:nvSpPr>
        <p:spPr>
          <a:xfrm>
            <a:off x="1028700" y="4663440"/>
            <a:ext cx="444855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5006340"/>
            <a:ext cx="4448556" cy="37033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8000"/>
              </a:lnSpc>
              <a:buNone/>
            </a:pPr>
            <a:r>
              <a:rPr lang="en-US" sz="240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frontier open-source models released in 2025 were NOT Transformer architecture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028700" y="8778240"/>
            <a:ext cx="4448556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i="1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AI landscape, 2025</a:t>
            </a:r>
            <a:endParaRPr lang="en-US" sz="1650"/>
          </a:p>
        </p:txBody>
      </p:sp>
      <p:sp>
        <p:nvSpPr>
          <p:cNvPr id="9" name="Shape 7"/>
          <p:cNvSpPr/>
          <p:nvPr/>
        </p:nvSpPr>
        <p:spPr>
          <a:xfrm>
            <a:off x="6437376" y="2331720"/>
            <a:ext cx="5408676" cy="7200900"/>
          </a:xfrm>
          <a:prstGeom prst="rect">
            <a:avLst/>
          </a:prstGeom>
          <a:solidFill>
            <a:srgbClr val="0E1424"/>
          </a:solidFill>
          <a:ln w="31750">
            <a:solidFill>
              <a:srgbClr val="A855F7"/>
            </a:solidFill>
            <a:prstDash val="solid"/>
          </a:ln>
          <a:effectLst>
            <a:outerShdw blurRad="165100" dist="50800" dir="16200000" algn="bl" rotWithShape="0">
              <a:srgbClr val="A855F7">
                <a:alpha val="6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80276" y="2743200"/>
            <a:ext cx="4722876" cy="1714500"/>
          </a:xfrm>
          <a:prstGeom prst="rect">
            <a:avLst/>
          </a:prstGeom>
          <a:noFill/>
          <a:ln/>
          <a:effectLst>
            <a:outerShdw blurRad="203200" dist="50800" dir="16200000" algn="bl" rotWithShape="0">
              <a:srgbClr val="A855F7">
                <a:alpha val="45000"/>
              </a:srgbClr>
            </a:outerShdw>
          </a:effectLst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600" b="1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9600"/>
          </a:p>
        </p:txBody>
      </p:sp>
      <p:sp>
        <p:nvSpPr>
          <p:cNvPr id="11" name="Shape 9"/>
          <p:cNvSpPr/>
          <p:nvPr/>
        </p:nvSpPr>
        <p:spPr>
          <a:xfrm>
            <a:off x="6917436" y="4663440"/>
            <a:ext cx="4448556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7436" y="5006340"/>
            <a:ext cx="4448556" cy="37033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8000"/>
              </a:lnSpc>
              <a:buNone/>
            </a:pPr>
            <a:r>
              <a:rPr lang="en-US" sz="240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 found by AlphaEvolve inside Gemini's own architecture — recovering 0.7% of Google's compute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917436" y="8778240"/>
            <a:ext cx="4448556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i="1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AlphaEvolve · DeepMind 2025</a:t>
            </a:r>
            <a:endParaRPr lang="en-US" sz="1650"/>
          </a:p>
        </p:txBody>
      </p:sp>
      <p:sp>
        <p:nvSpPr>
          <p:cNvPr id="14" name="Shape 12"/>
          <p:cNvSpPr/>
          <p:nvPr/>
        </p:nvSpPr>
        <p:spPr>
          <a:xfrm>
            <a:off x="12326112" y="2331720"/>
            <a:ext cx="5408676" cy="7200900"/>
          </a:xfrm>
          <a:prstGeom prst="rect">
            <a:avLst/>
          </a:prstGeom>
          <a:solidFill>
            <a:srgbClr val="0E1424"/>
          </a:solidFill>
          <a:ln w="31750">
            <a:solidFill>
              <a:srgbClr val="F59E0B"/>
            </a:solidFill>
            <a:prstDash val="solid"/>
          </a:ln>
          <a:effectLst>
            <a:outerShdw blurRad="165100" dist="50800" dir="16200000" algn="bl" rotWithShape="0">
              <a:srgbClr val="F59E0B">
                <a:alpha val="6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669012" y="2743200"/>
            <a:ext cx="4722876" cy="1714500"/>
          </a:xfrm>
          <a:prstGeom prst="rect">
            <a:avLst/>
          </a:prstGeom>
          <a:noFill/>
          <a:ln/>
          <a:effectLst>
            <a:outerShdw blurRad="203200" dist="50800" dir="16200000" algn="bl" rotWithShape="0">
              <a:srgbClr val="F59E0B">
                <a:alpha val="45000"/>
              </a:srgbClr>
            </a:outerShdw>
          </a:effectLst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600" b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$2.3B</a:t>
            </a:r>
            <a:endParaRPr lang="en-US" sz="9600"/>
          </a:p>
        </p:txBody>
      </p:sp>
      <p:sp>
        <p:nvSpPr>
          <p:cNvPr id="16" name="Shape 14"/>
          <p:cNvSpPr/>
          <p:nvPr/>
        </p:nvSpPr>
        <p:spPr>
          <a:xfrm>
            <a:off x="12806172" y="4663440"/>
            <a:ext cx="444855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6172" y="5006340"/>
            <a:ext cx="4448556" cy="37033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8000"/>
              </a:lnSpc>
              <a:buNone/>
            </a:pPr>
            <a:r>
              <a:rPr lang="en-US" sz="240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2024 inference spend 15× more than GPT-4.5 training cost.</a:t>
            </a:r>
            <a:endParaRPr lang="en-US" sz="240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40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IS the new battleground.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12806172" y="8778240"/>
            <a:ext cx="4448556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i="1">
                <a:solidFill>
                  <a:srgbClr val="7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financials 2024</a:t>
            </a:r>
            <a:endParaRPr lang="en-US" sz="1650"/>
          </a:p>
        </p:txBody>
      </p:sp>
      <p:pic>
        <p:nvPicPr>
          <p:cNvPr id="20" name="OdysseyLogo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4F34EA2-FE87-59CE-A26C-CB5A2FABA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16911828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b="1" kern="0" spc="750">
                <a:solidFill>
                  <a:srgbClr val="22D3EE"/>
                </a:solidFill>
                <a:latin typeface="Arial"/>
                <a:ea typeface="Arial" pitchFamily="34" charset="-122"/>
                <a:cs typeface="Arial"/>
              </a:rPr>
              <a:t>HOW TRANSFORMERS CONQUERED AI</a:t>
            </a:r>
            <a:endParaRPr lang="en-US" sz="2250">
              <a:latin typeface="Arial"/>
              <a:cs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6911828" cy="1440180"/>
          </a:xfrm>
          <a:prstGeom prst="rect">
            <a:avLst/>
          </a:prstGeom>
          <a:noFill/>
          <a:ln/>
          <a:effectLst>
            <a:outerShdw blurRad="228600" dist="50800" dir="16200000" algn="bl" rotWithShape="0">
              <a:srgbClr val="1FB6FF">
                <a:alpha val="45000"/>
              </a:srgbClr>
            </a:outerShdw>
          </a:effectLst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is All You Need" — 2017</a:t>
            </a:r>
            <a:endParaRPr lang="en-US" sz="6900"/>
          </a:p>
        </p:txBody>
      </p:sp>
      <p:sp>
        <p:nvSpPr>
          <p:cNvPr id="4" name="Shape 2"/>
          <p:cNvSpPr/>
          <p:nvPr/>
        </p:nvSpPr>
        <p:spPr>
          <a:xfrm>
            <a:off x="672084" y="2674620"/>
            <a:ext cx="2674620" cy="2359152"/>
          </a:xfrm>
          <a:prstGeom prst="rect">
            <a:avLst/>
          </a:prstGeom>
          <a:solidFill>
            <a:srgbClr val="0E1424"/>
          </a:solidFill>
          <a:ln w="28575">
            <a:solidFill>
              <a:srgbClr val="22D3EE"/>
            </a:solidFill>
            <a:prstDash val="solid"/>
          </a:ln>
          <a:effectLst>
            <a:outerShdw blurRad="139700" dist="50800" dir="16200000" algn="bl" rotWithShape="0">
              <a:srgbClr val="22D3EE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2084" y="2811780"/>
            <a:ext cx="2674620" cy="7543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3900"/>
          </a:p>
        </p:txBody>
      </p:sp>
      <p:sp>
        <p:nvSpPr>
          <p:cNvPr id="6" name="Text 4"/>
          <p:cNvSpPr/>
          <p:nvPr/>
        </p:nvSpPr>
        <p:spPr>
          <a:xfrm>
            <a:off x="781812" y="3525012"/>
            <a:ext cx="245516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/>
          </a:p>
        </p:txBody>
      </p:sp>
      <p:sp>
        <p:nvSpPr>
          <p:cNvPr id="7" name="Shape 5"/>
          <p:cNvSpPr/>
          <p:nvPr/>
        </p:nvSpPr>
        <p:spPr>
          <a:xfrm>
            <a:off x="3367278" y="3854196"/>
            <a:ext cx="137160" cy="0"/>
          </a:xfrm>
          <a:prstGeom prst="line">
            <a:avLst/>
          </a:prstGeom>
          <a:noFill/>
          <a:ln w="25400">
            <a:solidFill>
              <a:srgbClr val="4450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5012" y="2674620"/>
            <a:ext cx="2674620" cy="2359152"/>
          </a:xfrm>
          <a:prstGeom prst="rect">
            <a:avLst/>
          </a:prstGeom>
          <a:solidFill>
            <a:srgbClr val="0E1424"/>
          </a:solidFill>
          <a:ln w="28575">
            <a:solidFill>
              <a:srgbClr val="2DD4BF"/>
            </a:solidFill>
            <a:prstDash val="solid"/>
          </a:ln>
          <a:effectLst>
            <a:outerShdw blurRad="139700" dist="50800" dir="16200000" algn="bl" rotWithShape="0">
              <a:srgbClr val="2DD4BF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5012" y="2811780"/>
            <a:ext cx="2674620" cy="7543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3900"/>
          </a:p>
        </p:txBody>
      </p:sp>
      <p:sp>
        <p:nvSpPr>
          <p:cNvPr id="10" name="Text 8"/>
          <p:cNvSpPr/>
          <p:nvPr/>
        </p:nvSpPr>
        <p:spPr>
          <a:xfrm>
            <a:off x="3634740" y="3525012"/>
            <a:ext cx="245516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</a:t>
            </a:r>
            <a:endParaRPr lang="en-US" sz="1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</a:t>
            </a:r>
            <a:endParaRPr lang="en-US" sz="1950"/>
          </a:p>
        </p:txBody>
      </p:sp>
      <p:sp>
        <p:nvSpPr>
          <p:cNvPr id="11" name="Shape 9"/>
          <p:cNvSpPr/>
          <p:nvPr/>
        </p:nvSpPr>
        <p:spPr>
          <a:xfrm>
            <a:off x="6220206" y="3854196"/>
            <a:ext cx="137160" cy="0"/>
          </a:xfrm>
          <a:prstGeom prst="line">
            <a:avLst/>
          </a:prstGeom>
          <a:noFill/>
          <a:ln w="25400">
            <a:solidFill>
              <a:srgbClr val="4450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674620"/>
            <a:ext cx="2674620" cy="2359152"/>
          </a:xfrm>
          <a:prstGeom prst="rect">
            <a:avLst/>
          </a:prstGeom>
          <a:solidFill>
            <a:srgbClr val="0E1424"/>
          </a:solidFill>
          <a:ln w="28575">
            <a:solidFill>
              <a:srgbClr val="A855F7"/>
            </a:solidFill>
            <a:prstDash val="solid"/>
          </a:ln>
          <a:effectLst>
            <a:outerShdw blurRad="139700" dist="50800" dir="16200000" algn="bl" rotWithShape="0">
              <a:srgbClr val="A855F7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7940" y="2811780"/>
            <a:ext cx="2674620" cy="7543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3900"/>
          </a:p>
        </p:txBody>
      </p:sp>
      <p:sp>
        <p:nvSpPr>
          <p:cNvPr id="14" name="Text 12"/>
          <p:cNvSpPr/>
          <p:nvPr/>
        </p:nvSpPr>
        <p:spPr>
          <a:xfrm>
            <a:off x="6487668" y="3525012"/>
            <a:ext cx="245516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</a:t>
            </a:r>
            <a:endParaRPr lang="en-US" sz="1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175B Params</a:t>
            </a:r>
            <a:endParaRPr lang="en-US" sz="1950"/>
          </a:p>
        </p:txBody>
      </p:sp>
      <p:sp>
        <p:nvSpPr>
          <p:cNvPr id="15" name="Shape 13"/>
          <p:cNvSpPr/>
          <p:nvPr/>
        </p:nvSpPr>
        <p:spPr>
          <a:xfrm>
            <a:off x="9073134" y="3854196"/>
            <a:ext cx="137160" cy="0"/>
          </a:xfrm>
          <a:prstGeom prst="line">
            <a:avLst/>
          </a:prstGeom>
          <a:noFill/>
          <a:ln w="25400">
            <a:solidFill>
              <a:srgbClr val="4450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0868" y="2674620"/>
            <a:ext cx="2674620" cy="2359152"/>
          </a:xfrm>
          <a:prstGeom prst="rect">
            <a:avLst/>
          </a:prstGeom>
          <a:solidFill>
            <a:srgbClr val="0E1424"/>
          </a:solidFill>
          <a:ln w="28575">
            <a:solidFill>
              <a:srgbClr val="A855F7"/>
            </a:solidFill>
            <a:prstDash val="solid"/>
          </a:ln>
          <a:effectLst>
            <a:outerShdw blurRad="139700" dist="50800" dir="16200000" algn="bl" rotWithShape="0">
              <a:srgbClr val="A855F7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0868" y="2811780"/>
            <a:ext cx="2674620" cy="7543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3900"/>
          </a:p>
        </p:txBody>
      </p:sp>
      <p:sp>
        <p:nvSpPr>
          <p:cNvPr id="18" name="Text 16"/>
          <p:cNvSpPr/>
          <p:nvPr/>
        </p:nvSpPr>
        <p:spPr>
          <a:xfrm>
            <a:off x="9340596" y="3525012"/>
            <a:ext cx="245516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Adoption</a:t>
            </a:r>
            <a:endParaRPr lang="en-US" sz="1950"/>
          </a:p>
        </p:txBody>
      </p:sp>
      <p:sp>
        <p:nvSpPr>
          <p:cNvPr id="19" name="Shape 17"/>
          <p:cNvSpPr/>
          <p:nvPr/>
        </p:nvSpPr>
        <p:spPr>
          <a:xfrm>
            <a:off x="11926062" y="3854196"/>
            <a:ext cx="137160" cy="0"/>
          </a:xfrm>
          <a:prstGeom prst="line">
            <a:avLst/>
          </a:prstGeom>
          <a:noFill/>
          <a:ln w="25400">
            <a:solidFill>
              <a:srgbClr val="4450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83796" y="2674620"/>
            <a:ext cx="2674620" cy="2359152"/>
          </a:xfrm>
          <a:prstGeom prst="rect">
            <a:avLst/>
          </a:prstGeom>
          <a:solidFill>
            <a:srgbClr val="0E1424"/>
          </a:solidFill>
          <a:ln w="28575">
            <a:solidFill>
              <a:srgbClr val="F59E0B"/>
            </a:solidFill>
            <a:prstDash val="solid"/>
          </a:ln>
          <a:effectLst>
            <a:outerShdw blurRad="139700" dist="50800" dir="16200000" algn="bl" rotWithShape="0">
              <a:srgbClr val="F59E0B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083796" y="2811780"/>
            <a:ext cx="2674620" cy="7543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3900"/>
          </a:p>
        </p:txBody>
      </p:sp>
      <p:sp>
        <p:nvSpPr>
          <p:cNvPr id="22" name="Text 20"/>
          <p:cNvSpPr/>
          <p:nvPr/>
        </p:nvSpPr>
        <p:spPr>
          <a:xfrm>
            <a:off x="12193524" y="3525012"/>
            <a:ext cx="245516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</a:t>
            </a:r>
            <a:endParaRPr lang="en-US" sz="1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1950"/>
          </a:p>
        </p:txBody>
      </p:sp>
      <p:sp>
        <p:nvSpPr>
          <p:cNvPr id="23" name="Shape 21"/>
          <p:cNvSpPr/>
          <p:nvPr/>
        </p:nvSpPr>
        <p:spPr>
          <a:xfrm>
            <a:off x="14778990" y="3854196"/>
            <a:ext cx="137160" cy="0"/>
          </a:xfrm>
          <a:prstGeom prst="line">
            <a:avLst/>
          </a:prstGeom>
          <a:noFill/>
          <a:ln w="25400">
            <a:solidFill>
              <a:srgbClr val="4450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936724" y="2674620"/>
            <a:ext cx="2674620" cy="2359152"/>
          </a:xfrm>
          <a:prstGeom prst="rect">
            <a:avLst/>
          </a:prstGeom>
          <a:solidFill>
            <a:srgbClr val="0E1424"/>
          </a:solidFill>
          <a:ln w="28575">
            <a:solidFill>
              <a:srgbClr val="F97316"/>
            </a:solidFill>
            <a:prstDash val="solid"/>
          </a:ln>
          <a:effectLst>
            <a:outerShdw blurRad="139700" dist="50800" dir="16200000" algn="bl" rotWithShape="0">
              <a:srgbClr val="F97316">
                <a:alpha val="5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936724" y="2811780"/>
            <a:ext cx="2674620" cy="7543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3900"/>
          </a:p>
        </p:txBody>
      </p:sp>
      <p:sp>
        <p:nvSpPr>
          <p:cNvPr id="26" name="Text 24"/>
          <p:cNvSpPr/>
          <p:nvPr/>
        </p:nvSpPr>
        <p:spPr>
          <a:xfrm>
            <a:off x="15046452" y="3525012"/>
            <a:ext cx="2455164" cy="13716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Cracks Begin</a:t>
            </a:r>
            <a:endParaRPr lang="en-US" sz="1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</a:t>
            </a:r>
            <a:endParaRPr lang="en-US" sz="1950"/>
          </a:p>
        </p:txBody>
      </p:sp>
      <p:sp>
        <p:nvSpPr>
          <p:cNvPr id="27" name="Shape 25"/>
          <p:cNvSpPr/>
          <p:nvPr/>
        </p:nvSpPr>
        <p:spPr>
          <a:xfrm>
            <a:off x="672084" y="5376672"/>
            <a:ext cx="16939260" cy="4183380"/>
          </a:xfrm>
          <a:prstGeom prst="rect">
            <a:avLst/>
          </a:prstGeom>
          <a:solidFill>
            <a:srgbClr val="121A30"/>
          </a:solidFill>
          <a:ln w="28575">
            <a:solidFill>
              <a:srgbClr val="A855F7"/>
            </a:solidFill>
            <a:prstDash val="solid"/>
          </a:ln>
          <a:effectLst>
            <a:outerShdw blurRad="165100" dist="50800" dir="16200000" algn="bl" rotWithShape="0">
              <a:srgbClr val="A855F7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2084" y="5815584"/>
            <a:ext cx="16939260" cy="822960"/>
          </a:xfrm>
          <a:prstGeom prst="rect">
            <a:avLst/>
          </a:prstGeom>
          <a:noFill/>
          <a:ln/>
          <a:effectLst>
            <a:outerShdw blurRad="152400" dist="50800" dir="16200000" algn="bl" rotWithShape="0">
              <a:srgbClr val="C77DFF">
                <a:alpha val="40000"/>
              </a:srgbClr>
            </a:outerShdw>
          </a:effectLst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50" b="1">
                <a:solidFill>
                  <a:srgbClr val="C7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weapon: Global Attention</a:t>
            </a:r>
            <a:endParaRPr lang="en-US" sz="4050"/>
          </a:p>
        </p:txBody>
      </p:sp>
      <p:sp>
        <p:nvSpPr>
          <p:cNvPr id="29" name="Text 27"/>
          <p:cNvSpPr/>
          <p:nvPr/>
        </p:nvSpPr>
        <p:spPr>
          <a:xfrm>
            <a:off x="1769364" y="6954012"/>
            <a:ext cx="14744700" cy="21945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8000"/>
              </a:lnSpc>
              <a:buNone/>
            </a:pPr>
            <a:r>
              <a:rPr lang="en-US" sz="270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can see every other token — simultaneously. This unlocked extraordinary language understanding, code generation, and reasoning.</a:t>
            </a:r>
            <a:endParaRPr lang="en-US" sz="270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2700" i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this very strength hides three fatal structural flaws.</a:t>
            </a:r>
            <a:endParaRPr lang="en-US" sz="2700"/>
          </a:p>
        </p:txBody>
      </p:sp>
      <p:pic>
        <p:nvPicPr>
          <p:cNvPr id="31" name="OdysseyLogo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9044F6B-40F4-9605-8FBE-E039196D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64592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 kern="0" spc="500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Problem 1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950976"/>
            <a:ext cx="1280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The O(n²) Compute Tax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87782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Attention: every token must attend to every other token.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Double the context → quadruple the compute.</a:t>
            </a:r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4K tokens</a:t>
            </a:r>
          </a:p>
        </p:txBody>
      </p:sp>
      <p:sp>
        <p:nvSpPr>
          <p:cNvPr id="6" name="Shape 4"/>
          <p:cNvSpPr/>
          <p:nvPr/>
        </p:nvSpPr>
        <p:spPr>
          <a:xfrm>
            <a:off x="3200400" y="3822192"/>
            <a:ext cx="1280160" cy="5852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6864" y="3749040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16M ops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14400" y="5065776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16K tokens</a:t>
            </a:r>
          </a:p>
        </p:txBody>
      </p:sp>
      <p:sp>
        <p:nvSpPr>
          <p:cNvPr id="9" name="Shape 7"/>
          <p:cNvSpPr/>
          <p:nvPr/>
        </p:nvSpPr>
        <p:spPr>
          <a:xfrm>
            <a:off x="3200400" y="5138928"/>
            <a:ext cx="3291840" cy="58521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38544" y="5065776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256M ops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914400" y="6382512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64K tokens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0" y="6455664"/>
            <a:ext cx="5486400" cy="5852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33104" y="6382512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97316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4B ops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14400" y="769924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128K tokens</a:t>
            </a:r>
          </a:p>
        </p:txBody>
      </p:sp>
      <p:sp>
        <p:nvSpPr>
          <p:cNvPr id="15" name="Shape 13"/>
          <p:cNvSpPr/>
          <p:nvPr/>
        </p:nvSpPr>
        <p:spPr>
          <a:xfrm>
            <a:off x="3200400" y="7772400"/>
            <a:ext cx="7680960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27664" y="7699248"/>
            <a:ext cx="23774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F4444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16B ops</a:t>
            </a:r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10972800" y="2340864"/>
            <a:ext cx="6766560" cy="735177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2340864"/>
            <a:ext cx="100584" cy="73517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47120" y="2468880"/>
            <a:ext cx="62179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How can we solve this 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11247120" y="3255264"/>
            <a:ext cx="621792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State Space Models (SSM) - MAMBA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11247120" y="3749040"/>
            <a:ext cx="6217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Hyena  and RWKV</a:t>
            </a:r>
            <a:endParaRPr lang="en-US" sz="2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47120" y="4425696"/>
            <a:ext cx="6181344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Use selective recurrence — compress history into a fixed-size state vector.</a:t>
            </a:r>
          </a:p>
        </p:txBody>
      </p:sp>
      <p:sp>
        <p:nvSpPr>
          <p:cNvPr id="23" name="Text 21"/>
          <p:cNvSpPr/>
          <p:nvPr/>
        </p:nvSpPr>
        <p:spPr>
          <a:xfrm>
            <a:off x="11247120" y="5669280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Complexity: </a:t>
            </a:r>
            <a:r>
              <a:rPr lang="en-US" sz="2200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O(n) vs O(n²)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Memory: </a:t>
            </a:r>
            <a:r>
              <a:rPr lang="en-US" sz="2200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3–8× lower at 100K tokens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11247120" y="7315200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Streaming: </a:t>
            </a:r>
            <a:r>
              <a:rPr lang="en-US" sz="2200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Native — no reprocessing</a:t>
            </a:r>
            <a:endParaRPr lang="en-US" sz="2200"/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298CB7-13A5-79A1-F367-86B96C982F97}"/>
              </a:ext>
            </a:extLst>
          </p:cNvPr>
          <p:cNvSpPr txBox="1"/>
          <p:nvPr/>
        </p:nvSpPr>
        <p:spPr>
          <a:xfrm>
            <a:off x="9610077" y="80786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6127B4-4A14-1DDA-7DF2-B6B0D59345F8}"/>
              </a:ext>
            </a:extLst>
          </p:cNvPr>
          <p:cNvSpPr txBox="1"/>
          <p:nvPr/>
        </p:nvSpPr>
        <p:spPr>
          <a:xfrm>
            <a:off x="9565688" y="7878931"/>
            <a:ext cx="142042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16B 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"/>
            <a:ext cx="1645920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 kern="0" spc="500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Problem 2</a:t>
            </a: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841248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"Lost in the Middle"</a:t>
            </a:r>
            <a:endParaRPr lang="en-US" sz="6800"/>
          </a:p>
        </p:txBody>
      </p:sp>
      <p:sp>
        <p:nvSpPr>
          <p:cNvPr id="4" name="Text 2"/>
          <p:cNvSpPr/>
          <p:nvPr/>
        </p:nvSpPr>
        <p:spPr>
          <a:xfrm>
            <a:off x="914400" y="2157984"/>
            <a:ext cx="9144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Recall accuracy across a 100K-token context window:</a:t>
            </a:r>
            <a:endParaRPr lang="en-US" sz="24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3840480"/>
            <a:ext cx="621792" cy="3291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9072" y="4389120"/>
            <a:ext cx="621792" cy="2743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3744" y="5394960"/>
            <a:ext cx="621792" cy="17373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28416" y="5852160"/>
            <a:ext cx="621792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33088" y="6217920"/>
            <a:ext cx="621792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6181344"/>
            <a:ext cx="621792" cy="9509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42432" y="5852160"/>
            <a:ext cx="621792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47104" y="5303520"/>
            <a:ext cx="621792" cy="18288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51776" y="4297680"/>
            <a:ext cx="621792" cy="2834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3749040"/>
            <a:ext cx="621792" cy="3383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7223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Start</a:t>
            </a:r>
            <a:endParaRPr lang="en-US" sz="1800"/>
          </a:p>
          <a:p>
            <a:pPr marL="0" indent="0" algn="ctr">
              <a:buNone/>
            </a:pPr>
            <a:r>
              <a:rPr lang="en-US" sz="1800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(high recall)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291840" y="7223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EF4444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MIDDLE</a:t>
            </a:r>
            <a:endParaRPr lang="en-US" sz="1800"/>
          </a:p>
          <a:p>
            <a:pPr marL="0" indent="0" algn="ctr">
              <a:buNone/>
            </a:pPr>
            <a:r>
              <a:rPr lang="en-US" sz="1800">
                <a:solidFill>
                  <a:srgbClr val="EF4444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(lost)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6766560" y="7223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End</a:t>
            </a:r>
            <a:endParaRPr lang="en-US" sz="1800"/>
          </a:p>
          <a:p>
            <a:pPr marL="0" indent="0" algn="ctr">
              <a:buNone/>
            </a:pPr>
            <a:r>
              <a:rPr lang="en-US" sz="1800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(high recall)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10789920" y="2340864"/>
            <a:ext cx="6949440" cy="33832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0" y="2340864"/>
            <a:ext cx="100584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82528" y="2523744"/>
            <a:ext cx="6400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The Problem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82528" y="3145536"/>
            <a:ext cx="640080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Transformers systematically under-attend to information in the middle of long contexts. This is reproducible, measurable, and not eliminated by more training data or RLHF.</a:t>
            </a:r>
          </a:p>
        </p:txBody>
      </p:sp>
      <p:sp>
        <p:nvSpPr>
          <p:cNvPr id="22" name="Shape 20"/>
          <p:cNvSpPr/>
          <p:nvPr/>
        </p:nvSpPr>
        <p:spPr>
          <a:xfrm>
            <a:off x="10789920" y="5943600"/>
            <a:ext cx="6949440" cy="380390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89920" y="5943600"/>
            <a:ext cx="100584" cy="38039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82528" y="6126480"/>
            <a:ext cx="6400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Patches vs. Architecture Fix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082528" y="6803136"/>
            <a:ext cx="640080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err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RoPE</a:t>
            </a:r>
            <a:r>
              <a:rPr lang="en-US" sz="2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1" err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ALiBi</a:t>
            </a:r>
            <a:r>
              <a:rPr lang="en-US" sz="2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1" err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YaRN</a:t>
            </a:r>
            <a:r>
              <a:rPr lang="en-US" sz="2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position encoding improvements.</a:t>
            </a:r>
          </a:p>
        </p:txBody>
      </p:sp>
      <p:sp>
        <p:nvSpPr>
          <p:cNvPr id="26" name="Text 24"/>
          <p:cNvSpPr/>
          <p:nvPr/>
        </p:nvSpPr>
        <p:spPr>
          <a:xfrm>
            <a:off x="11082528" y="8138160"/>
            <a:ext cx="64008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SSMs process sequentially</a:t>
            </a:r>
            <a:r>
              <a:rPr lang="en-US" sz="28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—</a:t>
            </a: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Structural fix</a:t>
            </a:r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1704"/>
            <a:ext cx="164592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 kern="0" spc="4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Problem  3 — THE BIG CLAIM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6824960" cy="14264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Hallucination is an Architecture Problem</a:t>
            </a:r>
            <a:endParaRPr lang="en-US" sz="6000"/>
          </a:p>
        </p:txBody>
      </p:sp>
      <p:sp>
        <p:nvSpPr>
          <p:cNvPr id="4" name="Shape 2"/>
          <p:cNvSpPr/>
          <p:nvPr/>
        </p:nvSpPr>
        <p:spPr>
          <a:xfrm>
            <a:off x="914400" y="2523744"/>
            <a:ext cx="16459200" cy="109728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23744"/>
            <a:ext cx="1627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"A Transformer does not know what it does not know."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8046720" cy="57607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931920"/>
            <a:ext cx="100584" cy="5760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59936"/>
            <a:ext cx="7498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F4444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✕  The Common Belief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1188720" y="4791456"/>
            <a:ext cx="749808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"Train on more data.</a:t>
            </a:r>
            <a:endParaRPr lang="en-US" sz="2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Add more parameters.</a:t>
            </a:r>
            <a:endParaRPr lang="en-US" sz="2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Hallucinations will decrease."</a:t>
            </a:r>
            <a:endParaRPr lang="en-US" sz="2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6309360"/>
            <a:ext cx="749808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GPT-3 → GPT-4 did reduce them.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But never eliminated them.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Scaling returns are diminishing fast.</a:t>
            </a:r>
          </a:p>
        </p:txBody>
      </p:sp>
      <p:sp>
        <p:nvSpPr>
          <p:cNvPr id="11" name="Shape 9"/>
          <p:cNvSpPr/>
          <p:nvPr/>
        </p:nvSpPr>
        <p:spPr>
          <a:xfrm>
            <a:off x="1188720" y="9052560"/>
            <a:ext cx="7498080" cy="457200"/>
          </a:xfrm>
          <a:prstGeom prst="rect">
            <a:avLst/>
          </a:prstGeom>
          <a:solidFill>
            <a:srgbClr val="330A0A"/>
          </a:solidFill>
          <a:ln w="12700">
            <a:solidFill>
              <a:srgbClr val="33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9052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F4444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Necessary, not sufficient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9326880" y="3931920"/>
            <a:ext cx="8046720" cy="576072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3931920"/>
            <a:ext cx="100584" cy="5760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4059936"/>
            <a:ext cx="7498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✓  The Architecture Reality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9601200" y="479145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Transformers structurally lack: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9601200" y="5486400"/>
            <a:ext cx="91440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02368" y="548640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Explicit memory module</a:t>
            </a:r>
            <a:endParaRPr lang="en-US" sz="2200"/>
          </a:p>
        </p:txBody>
      </p:sp>
      <p:sp>
        <p:nvSpPr>
          <p:cNvPr id="19" name="Shape 17"/>
          <p:cNvSpPr/>
          <p:nvPr/>
        </p:nvSpPr>
        <p:spPr>
          <a:xfrm>
            <a:off x="9601200" y="6181344"/>
            <a:ext cx="91440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02368" y="6181344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Uncertainty quantification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9601200" y="6876288"/>
            <a:ext cx="91440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02368" y="6876288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Knowledge boundary signal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9601200" y="7589520"/>
            <a:ext cx="640080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>
                <a:solidFill>
                  <a:schemeClr val="bg1"/>
                </a:solidFill>
                <a:ea typeface="+mn-lt"/>
                <a:cs typeface="+mn-lt"/>
              </a:rPr>
              <a:t>Paper: "Hallucination Stations: On Some Basic Limitations of Transformer-Based Language Models" (arXiv:2507.07505)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601200" y="9052560"/>
            <a:ext cx="7498080" cy="45720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9052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The path forward</a:t>
            </a:r>
            <a:endParaRPr lang="en-US" sz="2000"/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1645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500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THE CHALLENGERS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164592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SSMs and MoE: Rethinking the Architecture</a:t>
            </a:r>
            <a:endParaRPr lang="en-US" sz="600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8321040" cy="74980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100584" cy="7498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STATE SPACE MODELS (SSMs)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3017520"/>
            <a:ext cx="76809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Mamba,</a:t>
            </a:r>
            <a:r>
              <a:rPr lang="en-US" sz="2400" i="1">
                <a:solidFill>
                  <a:srgbClr val="94A3B8"/>
                </a:solidFill>
                <a:ea typeface="+mn-lt"/>
                <a:cs typeface="+mn-lt"/>
              </a:rPr>
              <a:t> </a:t>
            </a:r>
            <a:r>
              <a:rPr lang="en-US" sz="2400">
                <a:solidFill>
                  <a:srgbClr val="94A3B8"/>
                </a:solidFill>
                <a:ea typeface="+mn-lt"/>
                <a:cs typeface="+mn-lt"/>
              </a:rPr>
              <a:t>S4</a:t>
            </a:r>
            <a:r>
              <a:rPr lang="en-US" sz="24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0976" y="3803904"/>
            <a:ext cx="10058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803904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O(n) complexity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188720" y="426110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vs O(n²) attention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950976" y="5120640"/>
            <a:ext cx="100584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5120640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Selective state compression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188720" y="557784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remembers what matters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950976" y="6437376"/>
            <a:ext cx="100584" cy="10058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6437376"/>
            <a:ext cx="713232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Streaming native and Long context windows 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1188720" y="6894576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no re-processing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950976" y="7754112"/>
            <a:ext cx="10058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7754112"/>
            <a:ext cx="7132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60%+ open-source adoption</a:t>
            </a:r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1188720" y="821131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in 2025 frontier models</a:t>
            </a:r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9326880" y="2286000"/>
            <a:ext cx="8321040" cy="74980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2286000"/>
            <a:ext cx="100584" cy="7498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37776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kern="0" spc="20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MIXTURE OF EXPERTS (</a:t>
            </a:r>
            <a:r>
              <a:rPr lang="en-US" sz="2800" b="1" kern="0" spc="200" err="1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800" b="1" kern="0" spc="20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)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37776" y="3017520"/>
            <a:ext cx="7680960" cy="5120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Mixtral</a:t>
            </a:r>
            <a:r>
              <a:rPr lang="en-US" sz="24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· GPT-4 (rumored) · Grok-2 · DeepSeek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637776" y="3803904"/>
            <a:ext cx="10058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380390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Sparse activation</a:t>
            </a:r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9875520" y="426110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~12B of 45B params active</a:t>
            </a:r>
            <a:endParaRPr lang="en-US" sz="2000"/>
          </a:p>
        </p:txBody>
      </p:sp>
      <p:sp>
        <p:nvSpPr>
          <p:cNvPr id="27" name="Shape 25"/>
          <p:cNvSpPr/>
          <p:nvPr/>
        </p:nvSpPr>
        <p:spPr>
          <a:xfrm>
            <a:off x="9637776" y="5120640"/>
            <a:ext cx="10058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0" y="512064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FLOPS efficiency</a:t>
            </a:r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9875520" y="557784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3–4× per compute unit</a:t>
            </a:r>
            <a:endParaRPr lang="en-US" sz="2000"/>
          </a:p>
        </p:txBody>
      </p:sp>
      <p:sp>
        <p:nvSpPr>
          <p:cNvPr id="30" name="Shape 28"/>
          <p:cNvSpPr/>
          <p:nvPr/>
        </p:nvSpPr>
        <p:spPr>
          <a:xfrm>
            <a:off x="9637776" y="6437376"/>
            <a:ext cx="100584" cy="10058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643737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Specialist routing</a:t>
            </a:r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9875520" y="68945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right expert for each token</a:t>
            </a:r>
            <a:endParaRPr lang="en-US" sz="2000"/>
          </a:p>
        </p:txBody>
      </p:sp>
      <p:sp>
        <p:nvSpPr>
          <p:cNvPr id="33" name="Shape 31"/>
          <p:cNvSpPr/>
          <p:nvPr/>
        </p:nvSpPr>
        <p:spPr>
          <a:xfrm>
            <a:off x="9637776" y="7754112"/>
            <a:ext cx="100584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0" y="7754112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Scales capacity</a:t>
            </a:r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9875520" y="821131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94A3B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without proportional cost</a:t>
            </a:r>
            <a:endParaRPr lang="en-US" sz="2000"/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"/>
            <a:ext cx="1645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TRANSFORMERS AREN'T STANDING STILL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914400" y="859536"/>
            <a:ext cx="164592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The Architecture Fights Back</a:t>
            </a:r>
            <a:endParaRPr lang="en-US" sz="6400"/>
          </a:p>
        </p:txBody>
      </p:sp>
      <p:sp>
        <p:nvSpPr>
          <p:cNvPr id="4" name="Shape 2"/>
          <p:cNvSpPr/>
          <p:nvPr/>
        </p:nvSpPr>
        <p:spPr>
          <a:xfrm>
            <a:off x="640080" y="2340864"/>
            <a:ext cx="8321040" cy="35112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40864"/>
            <a:ext cx="100584" cy="3511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23744"/>
            <a:ext cx="4754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Flash Attention 2 / 3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5943600" y="2523744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2–4× speedup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914400" y="3218688"/>
            <a:ext cx="777240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IO-aware tiling reduces memory bandwidth — not the O(n²) complexity, but dramatically more practical. Key to enabling 128K+ context in production.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Training &amp; inference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9326880" y="2340864"/>
            <a:ext cx="8321040" cy="35112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40864"/>
            <a:ext cx="100584" cy="351129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2523744"/>
            <a:ext cx="4754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A855F7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RoPE / ALiBi / YaRN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14630400" y="2523744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>
                <a:solidFill>
                  <a:srgbClr val="A855F7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Better long context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9601200" y="3218688"/>
            <a:ext cx="777240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Rotary Position Embeddings and attention linear biases improve position generalization. Better than sinusoidal, but the lost-in-the-middle effect persists.</a:t>
            </a:r>
          </a:p>
        </p:txBody>
      </p:sp>
      <p:sp>
        <p:nvSpPr>
          <p:cNvPr id="15" name="Text 13"/>
          <p:cNvSpPr/>
          <p:nvPr/>
        </p:nvSpPr>
        <p:spPr>
          <a:xfrm>
            <a:off x="9601200" y="548640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A855F7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Position encoding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640080" y="6071616"/>
            <a:ext cx="8321040" cy="35112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6071616"/>
            <a:ext cx="100584" cy="351129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6254496"/>
            <a:ext cx="4754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GQA / MLA (DeepSeek)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5943600" y="62544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5–13× KV cache cut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914400" y="6949440"/>
            <a:ext cx="777240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Grouped Query Attention (Llama 3) and Multi-head Latent Attention compress the KV cache — slashing inference memory requirements dramatically.</a:t>
            </a:r>
          </a:p>
        </p:txBody>
      </p:sp>
      <p:sp>
        <p:nvSpPr>
          <p:cNvPr id="21" name="Text 19"/>
          <p:cNvSpPr/>
          <p:nvPr/>
        </p:nvSpPr>
        <p:spPr>
          <a:xfrm>
            <a:off x="914400" y="921715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Inference efficiency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9326880" y="6071616"/>
            <a:ext cx="8321040" cy="3511296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6071616"/>
            <a:ext cx="100584" cy="3511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6254496"/>
            <a:ext cx="4754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AlphaEvolve Auto-Optimization</a:t>
            </a:r>
            <a:endParaRPr lang="en-US" sz="2600"/>
          </a:p>
        </p:txBody>
      </p:sp>
      <p:sp>
        <p:nvSpPr>
          <p:cNvPr id="25" name="Text 23"/>
          <p:cNvSpPr/>
          <p:nvPr/>
        </p:nvSpPr>
        <p:spPr>
          <a:xfrm>
            <a:off x="14630400" y="62544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23% kernel speedup</a:t>
            </a:r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9601200" y="6949440"/>
            <a:ext cx="777240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AI discovering better attention kernels inside Gemini. Recovered 0.7% of Google's total compute. At </a:t>
            </a:r>
            <a:r>
              <a:rPr lang="en-US" sz="2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hyperscaler</a:t>
            </a: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scale, that's hundreds of millions.</a:t>
            </a:r>
          </a:p>
        </p:txBody>
      </p:sp>
      <p:sp>
        <p:nvSpPr>
          <p:cNvPr id="27" name="Text 25"/>
          <p:cNvSpPr/>
          <p:nvPr/>
        </p:nvSpPr>
        <p:spPr>
          <a:xfrm>
            <a:off x="9601200" y="921715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22C55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Auto-optimization</a:t>
            </a:r>
            <a:endParaRPr lang="en-US" sz="1800"/>
          </a:p>
        </p:txBody>
      </p:sp>
      <p:sp>
        <p:nvSpPr>
          <p:cNvPr id="28" name="Shape 26"/>
          <p:cNvSpPr/>
          <p:nvPr/>
        </p:nvSpPr>
        <p:spPr>
          <a:xfrm>
            <a:off x="640080" y="9546336"/>
            <a:ext cx="1700784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9546336"/>
            <a:ext cx="1700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Key insight: These are optimizations — they extend the runway. They do not rewrite the blueprint.</a:t>
            </a:r>
            <a:endParaRPr lang="en-US" sz="2000"/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8710"/>
            <a:ext cx="1645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500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WHERE HYBRID WINS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914400" y="859536"/>
            <a:ext cx="164592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3 Scenarios Where Pure Transformer Cannot Compete</a:t>
            </a:r>
            <a:endParaRPr lang="en-US" sz="5200"/>
          </a:p>
        </p:txBody>
      </p:sp>
      <p:sp>
        <p:nvSpPr>
          <p:cNvPr id="4" name="Shape 2"/>
          <p:cNvSpPr/>
          <p:nvPr/>
        </p:nvSpPr>
        <p:spPr>
          <a:xfrm>
            <a:off x="421828" y="2340864"/>
            <a:ext cx="5852160" cy="74980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1959" y="2340864"/>
            <a:ext cx="100584" cy="7498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523744"/>
            <a:ext cx="914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01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786384" y="3072384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Long-Context</a:t>
            </a:r>
            <a:endParaRPr lang="en-US" sz="2800"/>
          </a:p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Document Intelligence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86384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Legal · Finance · Healthcare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786384" y="4901184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Problem: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5266944"/>
            <a:ext cx="54864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100K+ token contracts, records, filings. Pure Transformer: expensive + lossy recall.</a:t>
            </a:r>
          </a:p>
        </p:txBody>
      </p:sp>
      <p:sp>
        <p:nvSpPr>
          <p:cNvPr id="11" name="Text 9"/>
          <p:cNvSpPr/>
          <p:nvPr/>
        </p:nvSpPr>
        <p:spPr>
          <a:xfrm>
            <a:off x="786384" y="6729984"/>
            <a:ext cx="164592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Hybrid Fix: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6384" y="7095744"/>
            <a:ext cx="5486400" cy="14996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SSM backbone streams the document O(n). Transformer cross-attends to key passages. Best of both worlds.</a:t>
            </a:r>
          </a:p>
        </p:txBody>
      </p:sp>
      <p:sp>
        <p:nvSpPr>
          <p:cNvPr id="13" name="Shape 11"/>
          <p:cNvSpPr/>
          <p:nvPr/>
        </p:nvSpPr>
        <p:spPr>
          <a:xfrm>
            <a:off x="786384" y="9144000"/>
            <a:ext cx="5303520" cy="635462"/>
          </a:xfrm>
          <a:prstGeom prst="rect">
            <a:avLst/>
          </a:prstGeom>
          <a:solidFill>
            <a:srgbClr val="111827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9144000"/>
            <a:ext cx="5303520" cy="6354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90% cost cut · No lost-in-middle failure</a:t>
            </a:r>
          </a:p>
        </p:txBody>
      </p:sp>
      <p:sp>
        <p:nvSpPr>
          <p:cNvPr id="15" name="Shape 13"/>
          <p:cNvSpPr/>
          <p:nvPr/>
        </p:nvSpPr>
        <p:spPr>
          <a:xfrm>
            <a:off x="6571890" y="2340864"/>
            <a:ext cx="5641607" cy="7447949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704" y="2340864"/>
            <a:ext cx="100584" cy="7498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2523744"/>
            <a:ext cx="914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A855F7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02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6876288" y="3072384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Genomics &amp;</a:t>
            </a:r>
            <a:endParaRPr lang="en-US" sz="2800"/>
          </a:p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Drug Discovery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6876288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A855F7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Biotech · Pharma · Research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6876288" y="4901184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Problem</a:t>
            </a:r>
            <a:r>
              <a:rPr lang="en-US" sz="20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: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76288" y="5266944"/>
            <a:ext cx="54864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DNA/protein sequences are naturally sequential, extremely long. Attention is brutally expensive.</a:t>
            </a:r>
          </a:p>
        </p:txBody>
      </p:sp>
      <p:sp>
        <p:nvSpPr>
          <p:cNvPr id="22" name="Text 20"/>
          <p:cNvSpPr/>
          <p:nvPr/>
        </p:nvSpPr>
        <p:spPr>
          <a:xfrm>
            <a:off x="6876288" y="6729984"/>
            <a:ext cx="164592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Hybrid Fix: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76288" y="7095744"/>
            <a:ext cx="5486400" cy="14996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SSM for sequences (Hyena, Evo), </a:t>
            </a:r>
            <a:r>
              <a:rPr lang="en-US" sz="2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for multi-domain expertise. AlphaFold3-style hybrid.</a:t>
            </a:r>
          </a:p>
        </p:txBody>
      </p:sp>
      <p:sp>
        <p:nvSpPr>
          <p:cNvPr id="24" name="Shape 22"/>
          <p:cNvSpPr/>
          <p:nvPr/>
        </p:nvSpPr>
        <p:spPr>
          <a:xfrm>
            <a:off x="6876288" y="9144000"/>
            <a:ext cx="5303520" cy="635462"/>
          </a:xfrm>
          <a:prstGeom prst="rect">
            <a:avLst/>
          </a:prstGeom>
          <a:solidFill>
            <a:srgbClr val="11182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9144000"/>
            <a:ext cx="5303520" cy="6455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A855F7"/>
                </a:solidFill>
                <a:latin typeface="Calibri"/>
                <a:ea typeface="Calibri"/>
                <a:cs typeface="Calibri"/>
              </a:rPr>
              <a:t>State-of-the-art protein structure already uses this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2631716" y="2340864"/>
            <a:ext cx="5551369" cy="749808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31451" y="2340864"/>
            <a:ext cx="100584" cy="74980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66192" y="2523744"/>
            <a:ext cx="914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03</a:t>
            </a:r>
            <a:endParaRPr lang="en-US" sz="2800"/>
          </a:p>
        </p:txBody>
      </p:sp>
      <p:sp>
        <p:nvSpPr>
          <p:cNvPr id="29" name="Text 27"/>
          <p:cNvSpPr/>
          <p:nvPr/>
        </p:nvSpPr>
        <p:spPr>
          <a:xfrm>
            <a:off x="12966192" y="3072384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Edge &amp;</a:t>
            </a:r>
            <a:endParaRPr lang="en-US" sz="2800"/>
          </a:p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Real-Time AI</a:t>
            </a:r>
            <a:endParaRPr lang="en-US" sz="2800"/>
          </a:p>
        </p:txBody>
      </p:sp>
      <p:sp>
        <p:nvSpPr>
          <p:cNvPr id="30" name="Text 28"/>
          <p:cNvSpPr/>
          <p:nvPr/>
        </p:nvSpPr>
        <p:spPr>
          <a:xfrm>
            <a:off x="12966192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IoT · Autonomous · Voice</a:t>
            </a:r>
            <a:endParaRPr lang="en-US" sz="1800"/>
          </a:p>
        </p:txBody>
      </p:sp>
      <p:sp>
        <p:nvSpPr>
          <p:cNvPr id="31" name="Text 29"/>
          <p:cNvSpPr/>
          <p:nvPr/>
        </p:nvSpPr>
        <p:spPr>
          <a:xfrm>
            <a:off x="12966192" y="4901184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Problem: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966192" y="5266944"/>
            <a:ext cx="54864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Power-constrained, streaming sensor </a:t>
            </a:r>
            <a:b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data, sub-10ms latency. KV cache is a </a:t>
            </a:r>
            <a:b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killer.</a:t>
            </a:r>
          </a:p>
        </p:txBody>
      </p:sp>
      <p:sp>
        <p:nvSpPr>
          <p:cNvPr id="33" name="Text 31"/>
          <p:cNvSpPr/>
          <p:nvPr/>
        </p:nvSpPr>
        <p:spPr>
          <a:xfrm>
            <a:off x="12966192" y="6729984"/>
            <a:ext cx="164592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Hybrid Fix: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966192" y="7095744"/>
            <a:ext cx="5486400" cy="14996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SSM for streaming (no reprocessing), </a:t>
            </a:r>
            <a:b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r>
              <a:rPr lang="en-US" sz="2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MoE</a:t>
            </a: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for sparse activation, Transformer </a:t>
            </a:r>
            <a:b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</a:b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for occasional global reasoning.</a:t>
            </a:r>
          </a:p>
        </p:txBody>
      </p:sp>
      <p:sp>
        <p:nvSpPr>
          <p:cNvPr id="35" name="Shape 33"/>
          <p:cNvSpPr/>
          <p:nvPr/>
        </p:nvSpPr>
        <p:spPr>
          <a:xfrm>
            <a:off x="12966192" y="9144000"/>
            <a:ext cx="5303520" cy="638702"/>
          </a:xfrm>
          <a:prstGeom prst="rect">
            <a:avLst/>
          </a:prstGeom>
          <a:solidFill>
            <a:srgbClr val="111827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66192" y="9174080"/>
            <a:ext cx="5313546" cy="642066"/>
          </a:xfrm>
          <a:prstGeom prst="rect">
            <a:avLst/>
          </a:prstGeom>
          <a:noFill/>
          <a:ln/>
          <a:effectLst>
            <a:reflection stA="40000" endPos="54000" dist="50800" dir="5400000" sy="-100000" algn="bl" rotWithShape="0"/>
          </a:effectLst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>
                <a:solidFill>
                  <a:srgbClr val="EAB308"/>
                </a:solidFill>
                <a:latin typeface="Calibri"/>
                <a:ea typeface="Calibri"/>
                <a:cs typeface="Calibri"/>
              </a:rPr>
              <a:t>10× lower power · Native streaming 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000">
                <a:solidFill>
                  <a:srgbClr val="EAB308"/>
                </a:solidFill>
                <a:latin typeface="Calibri"/>
                <a:ea typeface="Calibri"/>
                <a:cs typeface="Calibri"/>
              </a:rPr>
              <a:t>· No KV cache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9883" y="939419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1645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>
                <a:solidFill>
                  <a:srgbClr val="EF4444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HALLUCINATION: THE ARCHITECTURE ARGUMENT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914400" y="841248"/>
            <a:ext cx="164592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Why Scaling Alone Will Never Save Us</a:t>
            </a:r>
            <a:endParaRPr lang="en-US" sz="5200"/>
          </a:p>
        </p:txBody>
      </p:sp>
      <p:sp>
        <p:nvSpPr>
          <p:cNvPr id="4" name="Shape 2"/>
          <p:cNvSpPr/>
          <p:nvPr/>
        </p:nvSpPr>
        <p:spPr>
          <a:xfrm>
            <a:off x="914400" y="2231136"/>
            <a:ext cx="16459200" cy="1280160"/>
          </a:xfrm>
          <a:prstGeom prst="rect">
            <a:avLst/>
          </a:prstGeom>
          <a:solidFill>
            <a:srgbClr val="15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31136"/>
            <a:ext cx="1609344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 i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"More parameters ≠ understanding.
</a:t>
            </a:r>
            <a:r>
              <a:rPr lang="en-US" sz="2800" i="1">
                <a:solidFill>
                  <a:srgbClr val="EAB308"/>
                </a:solidFill>
                <a:latin typeface="Calibri"/>
                <a:ea typeface="Calibri"/>
                <a:cs typeface="Calibri"/>
              </a:rPr>
              <a:t>The architecture has no mechanism to know what it does not know."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486400" cy="59436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840480"/>
            <a:ext cx="100584" cy="5943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5029200" cy="585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Training Hypothesis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5029200" cy="3840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More/better data + RLHF.</a:t>
            </a:r>
          </a:p>
          <a:p>
            <a:pPr marL="0" indent="0">
              <a:buNone/>
            </a:pPr>
            <a:endParaRPr lang="en-US" sz="2100"/>
          </a:p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Result: GPT-4 better than GPT-3. Still hallucinates at scale. Better training is necessary but not sufficient.</a:t>
            </a:r>
          </a:p>
        </p:txBody>
      </p:sp>
      <p:sp>
        <p:nvSpPr>
          <p:cNvPr id="10" name="Shape 8"/>
          <p:cNvSpPr/>
          <p:nvPr/>
        </p:nvSpPr>
        <p:spPr>
          <a:xfrm>
            <a:off x="822960" y="9235440"/>
            <a:ext cx="4974336" cy="438912"/>
          </a:xfrm>
          <a:prstGeom prst="rect">
            <a:avLst/>
          </a:prstGeom>
          <a:solidFill>
            <a:srgbClr val="1A0D0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9235440"/>
            <a:ext cx="4974336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Necessary, not sufficient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2240" y="3840480"/>
            <a:ext cx="5486400" cy="59436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840480"/>
            <a:ext cx="100584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023360"/>
            <a:ext cx="5029200" cy="585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Scaling Hypothesis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6560" y="4754880"/>
            <a:ext cx="5029200" cy="3840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Enough parameters = reliable world model.</a:t>
            </a:r>
          </a:p>
          <a:p>
            <a:pPr marL="0" indent="0">
              <a:buNone/>
            </a:pPr>
            <a:endParaRPr lang="en-US" sz="2100"/>
          </a:p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Result: Returns are diminishing. $2.3B/year inference proves scale isn't free. We cannot scale our way out.</a:t>
            </a:r>
          </a:p>
        </p:txBody>
      </p:sp>
      <p:sp>
        <p:nvSpPr>
          <p:cNvPr id="16" name="Shape 14"/>
          <p:cNvSpPr/>
          <p:nvPr/>
        </p:nvSpPr>
        <p:spPr>
          <a:xfrm>
            <a:off x="6766560" y="9235440"/>
            <a:ext cx="4974336" cy="438912"/>
          </a:xfrm>
          <a:prstGeom prst="rect">
            <a:avLst/>
          </a:prstGeom>
          <a:solidFill>
            <a:srgbClr val="1A000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9235440"/>
            <a:ext cx="4974336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Hitting the wall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435840" y="3840480"/>
            <a:ext cx="5486400" cy="59436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0" y="3840480"/>
            <a:ext cx="100584" cy="5943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710160" y="4023360"/>
            <a:ext cx="5029200" cy="5852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Architecture Hypothesis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10160" y="4754880"/>
            <a:ext cx="5029200" cy="3840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Explicit uncertainty layers, retrieval-augmented grounding, symbolic reasoning, neuro-hybrid memory — these structurally address the problem.</a:t>
            </a:r>
          </a:p>
        </p:txBody>
      </p:sp>
      <p:sp>
        <p:nvSpPr>
          <p:cNvPr id="22" name="Shape 20"/>
          <p:cNvSpPr/>
          <p:nvPr/>
        </p:nvSpPr>
        <p:spPr>
          <a:xfrm>
            <a:off x="12710160" y="9235440"/>
            <a:ext cx="4974336" cy="438912"/>
          </a:xfrm>
          <a:prstGeom prst="rect">
            <a:avLst/>
          </a:prstGeom>
          <a:solidFill>
            <a:srgbClr val="001A08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10160" y="9235440"/>
            <a:ext cx="4974336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22C55E"/>
                </a:solidFill>
                <a:latin typeface="Calibri"/>
                <a:ea typeface="Calibri"/>
                <a:cs typeface="Calibri"/>
              </a:rPr>
              <a:t>The path forward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645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600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THE VERDICT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645920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The Future of AI is Hybrid</a:t>
            </a:r>
            <a:endParaRPr lang="en-US" sz="8000"/>
          </a:p>
        </p:txBody>
      </p:sp>
      <p:sp>
        <p:nvSpPr>
          <p:cNvPr id="4" name="Shape 2"/>
          <p:cNvSpPr/>
          <p:nvPr/>
        </p:nvSpPr>
        <p:spPr>
          <a:xfrm>
            <a:off x="5486400" y="2468880"/>
            <a:ext cx="7315200" cy="100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89504"/>
            <a:ext cx="100584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2889504"/>
            <a:ext cx="162763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Transformers are not dead — they are evolving. Flash Attention, RoPE, and MoE patches prove sustained investment.</a:t>
            </a:r>
            <a:endParaRPr lang="en-US" sz="250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10058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4206240"/>
            <a:ext cx="162763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SSMs solve O(n²) and streaming structurally — not with workarounds. This is a real architectural advance.</a:t>
            </a:r>
            <a:endParaRPr lang="en-US" sz="2500"/>
          </a:p>
        </p:txBody>
      </p:sp>
      <p:sp>
        <p:nvSpPr>
          <p:cNvPr id="9" name="Shape 7"/>
          <p:cNvSpPr/>
          <p:nvPr/>
        </p:nvSpPr>
        <p:spPr>
          <a:xfrm>
            <a:off x="914400" y="5522976"/>
            <a:ext cx="100584" cy="10058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5522976"/>
            <a:ext cx="162763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Hallucination requires architectural fixes — explicit memory, uncertainty grounding, neuro-symbolic layers. Not just more scale.</a:t>
            </a:r>
            <a:endParaRPr lang="en-US" sz="2500"/>
          </a:p>
        </p:txBody>
      </p:sp>
      <p:sp>
        <p:nvSpPr>
          <p:cNvPr id="11" name="Shape 9"/>
          <p:cNvSpPr/>
          <p:nvPr/>
        </p:nvSpPr>
        <p:spPr>
          <a:xfrm>
            <a:off x="914400" y="6839712"/>
            <a:ext cx="100584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6839712"/>
            <a:ext cx="162763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The winners will be architectures that combine Transformers + SSMs + MoE. Hybrid is not a compromise — it's the design.</a:t>
            </a:r>
            <a:endParaRPr lang="en-US" sz="2500"/>
          </a:p>
        </p:txBody>
      </p:sp>
      <p:sp>
        <p:nvSpPr>
          <p:cNvPr id="13" name="Shape 11"/>
          <p:cNvSpPr/>
          <p:nvPr/>
        </p:nvSpPr>
        <p:spPr>
          <a:xfrm>
            <a:off x="914400" y="8558784"/>
            <a:ext cx="1645920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8558784"/>
            <a:ext cx="1627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>
                <a:solidFill>
                  <a:srgbClr val="EAB308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Stop asking: "What kills the Transformer?"</a:t>
            </a:r>
            <a:r>
              <a:rPr lang="en-US" sz="2600">
                <a:solidFill>
                  <a:srgbClr val="FFFFFF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  Ask: </a:t>
            </a:r>
            <a:r>
              <a:rPr lang="en-US" sz="2600" b="1" i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"What does it take to make AI reliable, efficient, and grounded?"</a:t>
            </a:r>
            <a:endParaRPr lang="en-US" sz="2600"/>
          </a:p>
        </p:txBody>
      </p:sp>
      <p:pic>
        <p:nvPicPr>
          <p:cNvPr id="999" name="Odysse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763" y="8887916"/>
            <a:ext cx="2042237" cy="1201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1772" y="547254"/>
            <a:ext cx="10972800" cy="292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0" b="1">
                <a:solidFill>
                  <a:srgbClr val="FFFFFF"/>
                </a:solidFill>
                <a:latin typeface="Arial Black"/>
                <a:ea typeface="Arial Black" pitchFamily="68" charset="-122"/>
                <a:cs typeface="Arial Black" pitchFamily="68" charset="-120"/>
              </a:rPr>
              <a:t>Appendix :</a:t>
            </a:r>
            <a:endParaRPr lang="en-US" sz="8000" dirty="0">
              <a:solidFill>
                <a:srgbClr val="000000"/>
              </a:solidFill>
              <a:latin typeface="Arial Black"/>
              <a:ea typeface="Arial Black" pitchFamily="68" charset="-122"/>
              <a:cs typeface="Arial Black" pitchFamily="68" charset="-120"/>
            </a:endParaRPr>
          </a:p>
          <a:p>
            <a:r>
              <a:rPr lang="en-US" sz="8000" b="1">
                <a:solidFill>
                  <a:srgbClr val="FFFFFF"/>
                </a:solidFill>
                <a:latin typeface="Arial Black"/>
                <a:ea typeface="Arial Black" pitchFamily="68" charset="-122"/>
                <a:cs typeface="Arial Black" pitchFamily="68" charset="-120"/>
              </a:rPr>
              <a:t>Chasing </a:t>
            </a:r>
            <a:r>
              <a:rPr lang="en-US" sz="8000" b="1" dirty="0">
                <a:solidFill>
                  <a:srgbClr val="FFFFFF"/>
                </a:solidFill>
                <a:latin typeface="Arial Black"/>
                <a:ea typeface="Arial Black" pitchFamily="68" charset="-122"/>
                <a:cs typeface="Arial Black" pitchFamily="68" charset="-120"/>
              </a:rPr>
              <a:t>the</a:t>
            </a:r>
            <a:endParaRPr lang="en-US" sz="8000">
              <a:latin typeface="Arial Black"/>
            </a:endParaRPr>
          </a:p>
          <a:p>
            <a:pPr marL="0" indent="0">
              <a:buNone/>
            </a:pPr>
            <a:r>
              <a:rPr lang="en-US" sz="8000" b="1">
                <a:solidFill>
                  <a:srgbClr val="FFFFFF"/>
                </a:solidFill>
                <a:latin typeface="Arial Black" pitchFamily="68" charset="0"/>
                <a:ea typeface="Arial Black" pitchFamily="68" charset="-122"/>
                <a:cs typeface="Arial Black" pitchFamily="68" charset="-120"/>
              </a:rPr>
              <a:t>Transformer Killer</a:t>
            </a:r>
            <a:endParaRPr lang="en-US" sz="8000"/>
          </a:p>
        </p:txBody>
      </p:sp>
      <p:sp>
        <p:nvSpPr>
          <p:cNvPr id="5" name="Shape 3"/>
          <p:cNvSpPr/>
          <p:nvPr/>
        </p:nvSpPr>
        <p:spPr>
          <a:xfrm>
            <a:off x="731520" y="4169344"/>
            <a:ext cx="16824960" cy="142646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389" y="4169344"/>
            <a:ext cx="100584" cy="14264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4561573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Jamba (AI21 Labs)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212080" y="4381099"/>
            <a:ext cx="1207008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First production hybrid: Mamba + Transformer interleaved layers. 256K token context. Outperforms </a:t>
            </a:r>
            <a:r>
              <a:rPr lang="en-US" sz="24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Mixtral</a:t>
            </a: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on long-context tasks.</a:t>
            </a:r>
          </a:p>
        </p:txBody>
      </p:sp>
      <p:sp>
        <p:nvSpPr>
          <p:cNvPr id="9" name="Shape 7"/>
          <p:cNvSpPr/>
          <p:nvPr/>
        </p:nvSpPr>
        <p:spPr>
          <a:xfrm>
            <a:off x="731520" y="5970953"/>
            <a:ext cx="16824960" cy="142646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389" y="5970953"/>
            <a:ext cx="100584" cy="14264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6393260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Zamba2 (54B)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212080" y="6222813"/>
            <a:ext cx="1207008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SSM-Transformer hybrid. Beats Llama 3.1 70B on most benchmarks at 78% of the parameter count.</a:t>
            </a:r>
          </a:p>
        </p:txBody>
      </p:sp>
      <p:sp>
        <p:nvSpPr>
          <p:cNvPr id="13" name="Shape 11"/>
          <p:cNvSpPr/>
          <p:nvPr/>
        </p:nvSpPr>
        <p:spPr>
          <a:xfrm>
            <a:off x="731520" y="7662271"/>
            <a:ext cx="16824960" cy="1426464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389" y="7572034"/>
            <a:ext cx="100584" cy="14264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8074553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2D3EE"/>
                </a:solidFill>
                <a:latin typeface="Calibri" pitchFamily="68" charset="0"/>
                <a:ea typeface="Calibri" pitchFamily="68" charset="-122"/>
                <a:cs typeface="Calibri" pitchFamily="68" charset="-120"/>
              </a:rPr>
              <a:t>Griffin (Google DeepMind)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5212080" y="7864000"/>
            <a:ext cx="1207008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Linear recurrence + local attention. Matches Transformer quality on language tasks with linear scaling.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7F0004-B434-E416-E14D-0270585B66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9600">
                <a:ea typeface="Calibri"/>
                <a:cs typeface="Calibri"/>
              </a:rPr>
              <a:t>Thank You </a:t>
            </a:r>
          </a:p>
        </p:txBody>
      </p:sp>
    </p:spTree>
    <p:extLst>
      <p:ext uri="{BB962C8B-B14F-4D97-AF65-F5344CB8AC3E}">
        <p14:creationId xmlns:p14="http://schemas.microsoft.com/office/powerpoint/2010/main" val="2140077527"/>
      </p:ext>
    </p:extLst>
  </p:cSld>
  <p:clrMapOvr>
    <a:masterClrMapping/>
  </p:clrMapOvr>
</p:sld>
</file>

<file path=ppt/theme/theme1.xml><?xml version="1.0" encoding="utf-8"?>
<a:theme xmlns:a="http://schemas.openxmlformats.org/drawingml/2006/main" name="CDC - Odyssey De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ck" id="{E920A891-8B05-CD43-9E2A-DBB0B7092B39}" vid="{5BF80236-F201-8B47-8063-83721C2892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CDC - Odyssey Deck</Template>
  <Application>Microsoft Office PowerPoint</Application>
  <PresentationFormat>Custom</PresentationFormat>
  <Slides>13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CDC - Odyssey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18</cp:revision>
  <dcterms:created xsi:type="dcterms:W3CDTF">2026-05-13T06:24:25Z</dcterms:created>
  <dcterms:modified xsi:type="dcterms:W3CDTF">2026-05-16T04:00:18Z</dcterms:modified>
  <dc:identifier>DAHGtO8WrjY</dc:identifier>
</cp:coreProperties>
</file>