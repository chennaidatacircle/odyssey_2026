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8" r:id="rId3"/>
    <p:sldId id="261" r:id="rId4"/>
    <p:sldId id="275" r:id="rId5"/>
    <p:sldId id="259" r:id="rId6"/>
    <p:sldId id="262" r:id="rId7"/>
    <p:sldId id="263" r:id="rId8"/>
    <p:sldId id="264" r:id="rId9"/>
    <p:sldId id="266" r:id="rId10"/>
    <p:sldId id="268" r:id="rId11"/>
    <p:sldId id="272" r:id="rId12"/>
    <p:sldId id="284" r:id="rId13"/>
    <p:sldId id="273" r:id="rId14"/>
    <p:sldId id="270" r:id="rId15"/>
    <p:sldId id="269" r:id="rId16"/>
    <p:sldId id="271" r:id="rId17"/>
    <p:sldId id="274" r:id="rId18"/>
    <p:sldId id="285" r:id="rId19"/>
    <p:sldId id="276" r:id="rId20"/>
    <p:sldId id="277" r:id="rId21"/>
    <p:sldId id="279" r:id="rId22"/>
    <p:sldId id="280" r:id="rId23"/>
    <p:sldId id="282" r:id="rId24"/>
    <p:sldId id="283" r:id="rId25"/>
    <p:sldId id="289" r:id="rId26"/>
    <p:sldId id="290" r:id="rId27"/>
    <p:sldId id="291" r:id="rId28"/>
    <p:sldId id="296" r:id="rId29"/>
    <p:sldId id="293" r:id="rId30"/>
    <p:sldId id="297" r:id="rId31"/>
    <p:sldId id="299" r:id="rId32"/>
    <p:sldId id="300" r:id="rId33"/>
    <p:sldId id="302" r:id="rId34"/>
    <p:sldId id="303" r:id="rId35"/>
    <p:sldId id="304" r:id="rId36"/>
    <p:sldId id="308" r:id="rId37"/>
    <p:sldId id="312" r:id="rId38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40"/>
  </p:normalViewPr>
  <p:slideViewPr>
    <p:cSldViewPr snapToGrid="0" snapToObjects="1">
      <p:cViewPr varScale="1">
        <p:scale>
          <a:sx n="45" d="100"/>
          <a:sy n="45" d="100"/>
        </p:scale>
        <p:origin x="6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ush Rajaram" userId="bc58ba00c44c0349" providerId="LiveId" clId="{2D90C60A-F31A-4589-B115-090C90A05D8A}"/>
    <pc:docChg chg="modSld">
      <pc:chgData name="Danush Rajaram" userId="bc58ba00c44c0349" providerId="LiveId" clId="{2D90C60A-F31A-4589-B115-090C90A05D8A}" dt="2026-05-19T13:02:55.598" v="0" actId="20577"/>
      <pc:docMkLst>
        <pc:docMk/>
      </pc:docMkLst>
      <pc:sldChg chg="modSp mod">
        <pc:chgData name="Danush Rajaram" userId="bc58ba00c44c0349" providerId="LiveId" clId="{2D90C60A-F31A-4589-B115-090C90A05D8A}" dt="2026-05-19T13:02:55.598" v="0" actId="20577"/>
        <pc:sldMkLst>
          <pc:docMk/>
          <pc:sldMk cId="0" sldId="256"/>
        </pc:sldMkLst>
        <pc:spChg chg="mod">
          <ac:chgData name="Danush Rajaram" userId="bc58ba00c44c0349" providerId="LiveId" clId="{2D90C60A-F31A-4589-B115-090C90A05D8A}" dt="2026-05-19T13:02:55.598" v="0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B06F6-F2FE-3B4B-B030-1A4AA588EC0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46822-F0BD-CE4D-A92B-2136E855F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20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46822-F0BD-CE4D-A92B-2136E855F3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49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46822-F0BD-CE4D-A92B-2136E855F3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8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46822-F0BD-CE4D-A92B-2136E855F3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40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46822-F0BD-CE4D-A92B-2136E855F3A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20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46822-F0BD-CE4D-A92B-2136E855F3A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90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424159" y="0"/>
            <a:ext cx="7863383" cy="10287000"/>
          </a:xfrm>
          <a:prstGeom prst="rect">
            <a:avLst/>
          </a:prstGeom>
          <a:solidFill>
            <a:srgbClr val="14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754380"/>
            <a:ext cx="10972800" cy="27699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800" b="1" i="0" dirty="0">
                <a:solidFill>
                  <a:srgbClr val="A7F3D0"/>
                </a:solidFill>
                <a:latin typeface="Calibri"/>
              </a:rPr>
              <a:t>DATA VALUE 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316736"/>
            <a:ext cx="16047719" cy="8000"/>
          </a:xfrm>
          <a:prstGeom prst="rect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263139"/>
            <a:ext cx="9601200" cy="4937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1700" b="1" i="0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l"/>
            <a:r>
              <a:rPr sz="11700" b="1" i="0">
                <a:solidFill>
                  <a:srgbClr val="FFFFFF"/>
                </a:solidFill>
                <a:latin typeface="Calibri"/>
              </a:rPr>
              <a:t>Value.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5860" y="7132320"/>
            <a:ext cx="2194560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7475220"/>
            <a:ext cx="9601200" cy="41549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700" b="0" i="1" dirty="0">
                <a:solidFill>
                  <a:srgbClr val="A7F3D0"/>
                </a:solidFill>
                <a:latin typeface="Calibri"/>
              </a:rPr>
              <a:t>From Raw Bytes to Real </a:t>
            </a:r>
            <a:r>
              <a:rPr sz="2700" b="0" i="1">
                <a:solidFill>
                  <a:srgbClr val="A7F3D0"/>
                </a:solidFill>
                <a:latin typeface="Calibri"/>
              </a:rPr>
              <a:t>Business Outcomes</a:t>
            </a:r>
            <a:endParaRPr sz="2700" b="0" i="1" dirty="0">
              <a:solidFill>
                <a:srgbClr val="A7F3D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1570" y="8558785"/>
            <a:ext cx="9601200" cy="23083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lang="en-GB" sz="1500" b="1" dirty="0">
                <a:solidFill>
                  <a:srgbClr val="A7F3D0"/>
                </a:solidFill>
                <a:latin typeface="Calibri"/>
              </a:rPr>
              <a:t>By Gunasekaran Kumar</a:t>
            </a:r>
            <a:endParaRPr sz="1500" b="1" i="0" dirty="0">
              <a:solidFill>
                <a:srgbClr val="A7F3D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67059" y="2263139"/>
            <a:ext cx="6858000" cy="41147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Calibri"/>
              </a:rPr>
              <a:t>THE 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7059" y="2674620"/>
            <a:ext cx="6858000" cy="6172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Raw bytes → real outcomes.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67059" y="3771900"/>
            <a:ext cx="137160" cy="130301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09959" y="3771900"/>
            <a:ext cx="6309359" cy="41147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EA580C"/>
                </a:solidFill>
                <a:latin typeface="Calibri"/>
              </a:rPr>
              <a:t>01 · RAW BYTES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59" y="4210812"/>
            <a:ext cx="6309359" cy="41147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0" i="0">
                <a:solidFill>
                  <a:srgbClr val="A7F3D0"/>
                </a:solidFill>
                <a:latin typeface="Calibri"/>
              </a:rPr>
              <a:t>logs · clicks · sensors</a:t>
            </a:r>
          </a:p>
        </p:txBody>
      </p:sp>
      <p:sp>
        <p:nvSpPr>
          <p:cNvPr id="16" name="Oval 15"/>
          <p:cNvSpPr/>
          <p:nvPr/>
        </p:nvSpPr>
        <p:spPr>
          <a:xfrm>
            <a:off x="11109959" y="4677156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356847" y="4677156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603735" y="4677156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850624" y="4677156"/>
            <a:ext cx="109728" cy="10972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097512" y="4677156"/>
            <a:ext cx="109728" cy="10972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344400" y="4677156"/>
            <a:ext cx="109728" cy="10972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767059" y="5417820"/>
            <a:ext cx="137160" cy="130301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09959" y="5417820"/>
            <a:ext cx="6309359" cy="41147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D97706"/>
                </a:solidFill>
                <a:latin typeface="Calibri"/>
              </a:rPr>
              <a:t>02 · TRANSFORMATION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59" y="5856732"/>
            <a:ext cx="6309359" cy="41147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0" i="0">
                <a:solidFill>
                  <a:srgbClr val="A7F3D0"/>
                </a:solidFill>
                <a:latin typeface="Calibri"/>
              </a:rPr>
              <a:t>streams · models · pipes</a:t>
            </a:r>
          </a:p>
        </p:txBody>
      </p:sp>
      <p:sp>
        <p:nvSpPr>
          <p:cNvPr id="25" name="Oval 24"/>
          <p:cNvSpPr/>
          <p:nvPr/>
        </p:nvSpPr>
        <p:spPr>
          <a:xfrm>
            <a:off x="11109959" y="63230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356847" y="63230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03735" y="63230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850624" y="63230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097512" y="6323076"/>
            <a:ext cx="109728" cy="10972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344400" y="6323076"/>
            <a:ext cx="109728" cy="10972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767059" y="7063740"/>
            <a:ext cx="137160" cy="130301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09959" y="7063740"/>
            <a:ext cx="6309359" cy="41147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0F766E"/>
                </a:solidFill>
                <a:latin typeface="Calibri"/>
              </a:rPr>
              <a:t>03 · BUSINESS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59" y="7502652"/>
            <a:ext cx="6309359" cy="41147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0" i="0">
                <a:solidFill>
                  <a:srgbClr val="A7F3D0"/>
                </a:solidFill>
                <a:latin typeface="Calibri"/>
              </a:rPr>
              <a:t>revenue · safety · margin</a:t>
            </a:r>
          </a:p>
        </p:txBody>
      </p:sp>
      <p:sp>
        <p:nvSpPr>
          <p:cNvPr id="34" name="Oval 33"/>
          <p:cNvSpPr/>
          <p:nvPr/>
        </p:nvSpPr>
        <p:spPr>
          <a:xfrm>
            <a:off x="11109959" y="7968996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356847" y="7968996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1603735" y="7968996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850624" y="7968996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2097512" y="7968996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2344400" y="7968996"/>
            <a:ext cx="109728" cy="10972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344400" y="0"/>
            <a:ext cx="5943142" cy="10287000"/>
          </a:xfrm>
          <a:prstGeom prst="rect">
            <a:avLst/>
          </a:prstGeom>
          <a:solidFill>
            <a:srgbClr val="14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0" y="1920239"/>
            <a:ext cx="5897879" cy="61722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sz="36000" b="1" i="0">
                <a:solidFill>
                  <a:srgbClr val="2A4A73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54380"/>
            <a:ext cx="1097280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DATA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316736"/>
            <a:ext cx="16047719" cy="8000"/>
          </a:xfrm>
          <a:prstGeom prst="rect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" y="4183379"/>
            <a:ext cx="2194560" cy="82296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526279"/>
            <a:ext cx="10972800" cy="329183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8100" b="1" i="0">
                <a:solidFill>
                  <a:srgbClr val="FFFFFF"/>
                </a:solidFill>
                <a:latin typeface="Calibri"/>
              </a:rPr>
              <a:t>Foundations of Data Value</a:t>
            </a:r>
          </a:p>
        </p:txBody>
      </p:sp>
      <p:pic>
        <p:nvPicPr>
          <p:cNvPr id="12" name="Picture 11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3612" y="1433243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What Exactly Is 'Data'? </a:t>
            </a:r>
            <a:r>
              <a:rPr lang="en-GB" sz="3600" b="1" dirty="0">
                <a:solidFill>
                  <a:srgbClr val="FFFFFF"/>
                </a:solidFill>
                <a:latin typeface="Calibri"/>
              </a:rPr>
              <a:t>-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three families by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8837" y="2496855"/>
            <a:ext cx="4083797" cy="4971579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26633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8837" y="2496855"/>
            <a:ext cx="4083797" cy="799003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8837" y="3029524"/>
            <a:ext cx="4083797" cy="26633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61254" y="2785384"/>
            <a:ext cx="1898965" cy="4261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97" b="1">
                <a:solidFill>
                  <a:srgbClr val="FFFFFF"/>
                </a:solidFill>
                <a:latin typeface="Calibri"/>
              </a:rPr>
              <a:t>Structured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759" y="3517804"/>
            <a:ext cx="2531954" cy="14204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990" b="1">
                <a:solidFill>
                  <a:srgbClr val="0F766E"/>
                </a:solidFill>
                <a:latin typeface="Calibri"/>
              </a:rPr>
              <a:t>~20%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9233" y="4418015"/>
            <a:ext cx="1823007" cy="227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dirty="0">
                <a:solidFill>
                  <a:srgbClr val="475569"/>
                </a:solidFill>
                <a:latin typeface="Calibri"/>
              </a:rPr>
              <a:t>of enterprise data</a:t>
            </a:r>
          </a:p>
        </p:txBody>
      </p:sp>
      <p:sp>
        <p:nvSpPr>
          <p:cNvPr id="15" name="Oval 14"/>
          <p:cNvSpPr/>
          <p:nvPr/>
        </p:nvSpPr>
        <p:spPr>
          <a:xfrm>
            <a:off x="959461" y="5062545"/>
            <a:ext cx="106533" cy="106533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1208040" y="5027034"/>
            <a:ext cx="1772368" cy="2840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26456E"/>
                </a:solidFill>
                <a:latin typeface="Calibri"/>
              </a:rPr>
              <a:t>Rows &amp; columns</a:t>
            </a:r>
          </a:p>
        </p:txBody>
      </p:sp>
      <p:sp>
        <p:nvSpPr>
          <p:cNvPr id="17" name="Oval 16"/>
          <p:cNvSpPr/>
          <p:nvPr/>
        </p:nvSpPr>
        <p:spPr>
          <a:xfrm>
            <a:off x="959461" y="5435414"/>
            <a:ext cx="106533" cy="106533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1208040" y="5399902"/>
            <a:ext cx="1265977" cy="2840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26456E"/>
                </a:solidFill>
                <a:latin typeface="Calibri"/>
              </a:rPr>
              <a:t>RDBMS, CSV</a:t>
            </a:r>
          </a:p>
        </p:txBody>
      </p:sp>
      <p:sp>
        <p:nvSpPr>
          <p:cNvPr id="19" name="Oval 18"/>
          <p:cNvSpPr/>
          <p:nvPr/>
        </p:nvSpPr>
        <p:spPr>
          <a:xfrm>
            <a:off x="959461" y="5808282"/>
            <a:ext cx="106533" cy="106533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1208040" y="5772771"/>
            <a:ext cx="3164943" cy="2840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26456E"/>
                </a:solidFill>
                <a:latin typeface="Calibri"/>
              </a:rPr>
              <a:t>Orders, Customers, Ledger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393" y="6846987"/>
            <a:ext cx="3728684" cy="443891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8636" y="6995247"/>
            <a:ext cx="3304200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115E59"/>
                </a:solidFill>
                <a:latin typeface="Calibri"/>
              </a:rPr>
              <a:t>Easy to query · Fast to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18969" y="2496855"/>
            <a:ext cx="4083797" cy="4971579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26633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918969" y="2496855"/>
            <a:ext cx="4083797" cy="799003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18969" y="3029524"/>
            <a:ext cx="4083797" cy="26633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36644" y="2785384"/>
            <a:ext cx="2848448" cy="4261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97" b="1">
                <a:solidFill>
                  <a:srgbClr val="FFFFFF"/>
                </a:solidFill>
                <a:latin typeface="Calibri"/>
              </a:rPr>
              <a:t>Semi-Structured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4891" y="3517804"/>
            <a:ext cx="2531954" cy="14204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990" b="1">
                <a:solidFill>
                  <a:srgbClr val="D97706"/>
                </a:solidFill>
                <a:latin typeface="Calibri"/>
              </a:rPr>
              <a:t>~30%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9365" y="4418015"/>
            <a:ext cx="1823007" cy="227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>
                <a:solidFill>
                  <a:srgbClr val="475569"/>
                </a:solidFill>
                <a:latin typeface="Calibri"/>
              </a:rPr>
              <a:t>of enterprise data</a:t>
            </a:r>
          </a:p>
        </p:txBody>
      </p:sp>
      <p:sp>
        <p:nvSpPr>
          <p:cNvPr id="29" name="Oval 28"/>
          <p:cNvSpPr/>
          <p:nvPr/>
        </p:nvSpPr>
        <p:spPr>
          <a:xfrm>
            <a:off x="5309593" y="5062545"/>
            <a:ext cx="106533" cy="106533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5558172" y="5027034"/>
            <a:ext cx="2025563" cy="2840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26456E"/>
                </a:solidFill>
                <a:latin typeface="Calibri"/>
              </a:rPr>
              <a:t>Tagged hierarchy</a:t>
            </a:r>
          </a:p>
        </p:txBody>
      </p:sp>
      <p:sp>
        <p:nvSpPr>
          <p:cNvPr id="31" name="Oval 30"/>
          <p:cNvSpPr/>
          <p:nvPr/>
        </p:nvSpPr>
        <p:spPr>
          <a:xfrm>
            <a:off x="5309593" y="5435414"/>
            <a:ext cx="106533" cy="106533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5558172" y="5399902"/>
            <a:ext cx="1898965" cy="2840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26456E"/>
                </a:solidFill>
                <a:latin typeface="Calibri"/>
              </a:rPr>
              <a:t>JSON, XML, Avro</a:t>
            </a:r>
          </a:p>
        </p:txBody>
      </p:sp>
      <p:sp>
        <p:nvSpPr>
          <p:cNvPr id="33" name="Oval 32"/>
          <p:cNvSpPr/>
          <p:nvPr/>
        </p:nvSpPr>
        <p:spPr>
          <a:xfrm>
            <a:off x="5309593" y="5808282"/>
            <a:ext cx="106533" cy="106533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5558172" y="5772771"/>
            <a:ext cx="2278759" cy="2840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26456E"/>
                </a:solidFill>
                <a:latin typeface="Calibri"/>
              </a:rPr>
              <a:t>API payloads, Logs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96526" y="6846987"/>
            <a:ext cx="3728684" cy="443891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00929" y="6995247"/>
            <a:ext cx="3519879" cy="248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115E59"/>
                </a:solidFill>
                <a:latin typeface="Calibri"/>
              </a:rPr>
              <a:t>Flexible schema · Needs parsing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69102" y="2496855"/>
            <a:ext cx="4083797" cy="4971579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26633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269102" y="2496855"/>
            <a:ext cx="4083797" cy="799003"/>
          </a:xfrm>
          <a:prstGeom prst="roundRect">
            <a:avLst>
              <a:gd name="adj" fmla="val 22222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269102" y="3029524"/>
            <a:ext cx="4083797" cy="26633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71621" y="2785384"/>
            <a:ext cx="2278759" cy="4261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97" b="1">
                <a:solidFill>
                  <a:srgbClr val="FFFFFF"/>
                </a:solidFill>
                <a:latin typeface="Calibri"/>
              </a:rPr>
              <a:t>Unstructured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5023" y="3517804"/>
            <a:ext cx="2531954" cy="14204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990" b="1">
                <a:solidFill>
                  <a:srgbClr val="EA580C"/>
                </a:solidFill>
                <a:latin typeface="Calibri"/>
              </a:rPr>
              <a:t>~50%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99497" y="4418015"/>
            <a:ext cx="1823007" cy="227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>
                <a:solidFill>
                  <a:srgbClr val="475569"/>
                </a:solidFill>
                <a:latin typeface="Calibri"/>
              </a:rPr>
              <a:t>of enterprise data</a:t>
            </a:r>
          </a:p>
        </p:txBody>
      </p:sp>
      <p:sp>
        <p:nvSpPr>
          <p:cNvPr id="43" name="Oval 42"/>
          <p:cNvSpPr/>
          <p:nvPr/>
        </p:nvSpPr>
        <p:spPr>
          <a:xfrm>
            <a:off x="9659726" y="5062545"/>
            <a:ext cx="106533" cy="106533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4" name="TextBox 43"/>
          <p:cNvSpPr txBox="1"/>
          <p:nvPr/>
        </p:nvSpPr>
        <p:spPr>
          <a:xfrm>
            <a:off x="9908305" y="5027034"/>
            <a:ext cx="1898965" cy="2840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26456E"/>
                </a:solidFill>
                <a:latin typeface="Calibri"/>
              </a:rPr>
              <a:t>Free-form blobs</a:t>
            </a:r>
          </a:p>
        </p:txBody>
      </p:sp>
      <p:sp>
        <p:nvSpPr>
          <p:cNvPr id="45" name="Oval 44"/>
          <p:cNvSpPr/>
          <p:nvPr/>
        </p:nvSpPr>
        <p:spPr>
          <a:xfrm>
            <a:off x="9659726" y="5435414"/>
            <a:ext cx="106533" cy="106533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TextBox 45"/>
          <p:cNvSpPr txBox="1"/>
          <p:nvPr/>
        </p:nvSpPr>
        <p:spPr>
          <a:xfrm>
            <a:off x="9908305" y="5399902"/>
            <a:ext cx="2405356" cy="2840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26456E"/>
                </a:solidFill>
                <a:latin typeface="Calibri"/>
              </a:rPr>
              <a:t>Images, Audio, PDFs</a:t>
            </a:r>
          </a:p>
        </p:txBody>
      </p:sp>
      <p:sp>
        <p:nvSpPr>
          <p:cNvPr id="47" name="Oval 46"/>
          <p:cNvSpPr/>
          <p:nvPr/>
        </p:nvSpPr>
        <p:spPr>
          <a:xfrm>
            <a:off x="9659726" y="5808282"/>
            <a:ext cx="106533" cy="106533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/>
          <p:cNvSpPr txBox="1"/>
          <p:nvPr/>
        </p:nvSpPr>
        <p:spPr>
          <a:xfrm>
            <a:off x="9908305" y="5772771"/>
            <a:ext cx="2911747" cy="2840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26456E"/>
                </a:solidFill>
                <a:latin typeface="Calibri"/>
              </a:rPr>
              <a:t>Reviews, Tickets, Chats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46658" y="6846987"/>
            <a:ext cx="3728684" cy="443891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51061" y="6995247"/>
            <a:ext cx="3519879" cy="2405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115E59"/>
                </a:solidFill>
                <a:latin typeface="Calibri"/>
              </a:rPr>
              <a:t>Highest volume · Highest insight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2796" y="7835089"/>
            <a:ext cx="11976145" cy="3124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37" b="1">
                <a:solidFill>
                  <a:srgbClr val="26456E"/>
                </a:solidFill>
                <a:latin typeface="Calibri"/>
              </a:rPr>
              <a:t>80% of your data is hardest to use — and that’s where engineers create the most value.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3578840" y="1714499"/>
            <a:ext cx="4183379" cy="64907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Structured (~20%) — rows &amp; columns. Easy to query, fast to model.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Semi-structured (~30%) — JSON, XML, logs. Flexible, needs parsing.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Unstructured (~50%) — images, audio, PDFs, chats. Highest volume and highest insight.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80% of enterprise data is the hardest to use — and that's where engineers create the most value.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3578840" y="7077219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 dirty="0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If you only mine the easy 20%, you're competing for the same scraps as everyone else.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53257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Three Pillars of Data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2154" y="2071569"/>
            <a:ext cx="3927763" cy="4641902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2678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9326" y="1803767"/>
            <a:ext cx="4213418" cy="446336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9326" y="6534936"/>
            <a:ext cx="4213418" cy="446336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76138" y="2375078"/>
            <a:ext cx="999794" cy="99979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97822" y="2610744"/>
            <a:ext cx="356426" cy="799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936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912" y="3523056"/>
            <a:ext cx="1400247" cy="62844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092" b="1">
                <a:solidFill>
                  <a:srgbClr val="0F766E"/>
                </a:solidFill>
                <a:latin typeface="Calibri"/>
              </a:rPr>
              <a:t>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550" y="4077406"/>
            <a:ext cx="3436971" cy="25708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dirty="0">
                <a:solidFill>
                  <a:srgbClr val="475569"/>
                </a:solidFill>
                <a:latin typeface="Calibri"/>
              </a:rPr>
              <a:t>Quality · Lineage · Governance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9956" y="4660322"/>
            <a:ext cx="3392159" cy="1428277"/>
          </a:xfrm>
          <a:prstGeom prst="roundRect">
            <a:avLst>
              <a:gd name="adj" fmla="val 8750"/>
            </a:avLst>
          </a:prstGeom>
          <a:solidFill>
            <a:srgbClr val="0F766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4936" y="4939729"/>
            <a:ext cx="3202198" cy="3044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 dirty="0">
                <a:solidFill>
                  <a:srgbClr val="26456E"/>
                </a:solidFill>
                <a:latin typeface="Calibri"/>
              </a:rPr>
              <a:t>“Without trust, data 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949" y="5225384"/>
            <a:ext cx="980173" cy="3142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26456E"/>
                </a:solidFill>
                <a:latin typeface="Calibri"/>
              </a:rPr>
              <a:t>noise.”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6986" y="2071569"/>
            <a:ext cx="3927763" cy="4641902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26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854159" y="1803767"/>
            <a:ext cx="4213418" cy="446336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854159" y="6534936"/>
            <a:ext cx="4213418" cy="446336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60971" y="2375078"/>
            <a:ext cx="999794" cy="99979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82655" y="2610744"/>
            <a:ext cx="356426" cy="799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936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0745" y="3523056"/>
            <a:ext cx="1400247" cy="62844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092" b="1">
                <a:solidFill>
                  <a:srgbClr val="D97706"/>
                </a:solidFill>
                <a:latin typeface="Calibri"/>
              </a:rPr>
              <a:t>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5100" y="4077406"/>
            <a:ext cx="3551537" cy="25708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Right latency for each decision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64788" y="4660322"/>
            <a:ext cx="3392159" cy="1428277"/>
          </a:xfrm>
          <a:prstGeom prst="roundRect">
            <a:avLst>
              <a:gd name="adj" fmla="val 8750"/>
            </a:avLst>
          </a:prstGeom>
          <a:solidFill>
            <a:srgbClr val="D9770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90608" y="4939729"/>
            <a:ext cx="2940520" cy="3142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26456E"/>
                </a:solidFill>
                <a:latin typeface="Calibri"/>
              </a:rPr>
              <a:t>“Faster than needed 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0695" y="5225384"/>
            <a:ext cx="1960346" cy="3142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26456E"/>
                </a:solidFill>
                <a:latin typeface="Calibri"/>
              </a:rPr>
              <a:t>wasted spend.”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819" y="2071569"/>
            <a:ext cx="3927763" cy="4641902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26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38991" y="1803767"/>
            <a:ext cx="4213418" cy="446336"/>
          </a:xfrm>
          <a:prstGeom prst="roundRect">
            <a:avLst>
              <a:gd name="adj" fmla="val 2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138991" y="6534936"/>
            <a:ext cx="4213418" cy="446336"/>
          </a:xfrm>
          <a:prstGeom prst="roundRect">
            <a:avLst>
              <a:gd name="adj" fmla="val 2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745804" y="2375078"/>
            <a:ext cx="999794" cy="99979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067488" y="2610744"/>
            <a:ext cx="356426" cy="799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936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45578" y="3523056"/>
            <a:ext cx="1400247" cy="62844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092" b="1">
                <a:solidFill>
                  <a:srgbClr val="EA580C"/>
                </a:solidFill>
                <a:latin typeface="Calibri"/>
              </a:rPr>
              <a:t>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1781" y="4077406"/>
            <a:ext cx="3207840" cy="25708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Revenue · Cost · Risk · 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49621" y="4660322"/>
            <a:ext cx="3392159" cy="1428277"/>
          </a:xfrm>
          <a:prstGeom prst="roundRect">
            <a:avLst>
              <a:gd name="adj" fmla="val 8750"/>
            </a:avLst>
          </a:prstGeom>
          <a:solidFill>
            <a:srgbClr val="EA580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05429" y="4939729"/>
            <a:ext cx="3080544" cy="3142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26456E"/>
                </a:solidFill>
                <a:latin typeface="Calibri"/>
              </a:rPr>
              <a:t>“If you can’t name it,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25503" y="5225384"/>
            <a:ext cx="2240396" cy="3142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26456E"/>
                </a:solidFill>
                <a:latin typeface="Calibri"/>
              </a:rPr>
              <a:t>don’t build it.”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48128" y="7319596"/>
            <a:ext cx="10425480" cy="3713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827" b="1">
                <a:solidFill>
                  <a:srgbClr val="115E59"/>
                </a:solidFill>
                <a:latin typeface="Calibri"/>
              </a:rPr>
              <a:t>Trust × Speed × Value — that’s the only data equation you need.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578840" y="1714500"/>
            <a:ext cx="4183379" cy="6595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Pillar 1 — Reliable data (engineering quality).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Pillar 2 — Right speed (architecture choice).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Pillar 3 — Real decision (business adoption).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Drop any one and the entire platform is a cost centre.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578840" y="7181356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All three pillars or no value. There is no two-out-of-three discount.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74522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From Raw Data to Real Value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the five-stage chain</a:t>
            </a:r>
          </a:p>
        </p:txBody>
      </p:sp>
      <p:sp>
        <p:nvSpPr>
          <p:cNvPr id="9" name="Oval 8"/>
          <p:cNvSpPr/>
          <p:nvPr/>
        </p:nvSpPr>
        <p:spPr>
          <a:xfrm>
            <a:off x="686265" y="3505635"/>
            <a:ext cx="1952359" cy="1952359"/>
          </a:xfrm>
          <a:prstGeom prst="ellipse">
            <a:avLst/>
          </a:prstGeom>
          <a:solidFill>
            <a:srgbClr val="FFFFFF"/>
          </a:solidFill>
          <a:ln w="55781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7282" y="3756653"/>
            <a:ext cx="1450323" cy="1450323"/>
          </a:xfrm>
          <a:prstGeom prst="ellipse">
            <a:avLst/>
          </a:prstGeom>
          <a:solidFill>
            <a:srgbClr val="0F766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95562" y="3514932"/>
            <a:ext cx="483441" cy="483441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1232" y="3625566"/>
            <a:ext cx="292100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3924" y="4183382"/>
            <a:ext cx="517040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26456E"/>
                </a:solidFill>
                <a:latin typeface="Calibri"/>
              </a:rPr>
              <a:t>Raw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7751" y="4480885"/>
            <a:ext cx="689387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26456E"/>
                </a:solidFill>
                <a:latin typeface="Calibri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16" y="5548174"/>
            <a:ext cx="2505657" cy="267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dirty="0">
                <a:solidFill>
                  <a:srgbClr val="475569"/>
                </a:solidFill>
                <a:latin typeface="Calibri"/>
              </a:rPr>
              <a:t>Logs · Events · Files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66515" y="4481815"/>
            <a:ext cx="557817" cy="0"/>
          </a:xfrm>
          <a:prstGeom prst="line">
            <a:avLst/>
          </a:prstGeom>
          <a:ln w="55781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3168550" y="4370251"/>
            <a:ext cx="167345" cy="223127"/>
          </a:xfrm>
          <a:custGeom>
            <a:avLst/>
            <a:gdLst/>
            <a:ahLst/>
            <a:cxnLst/>
            <a:rect l="l" t="t" r="r" b="b"/>
            <a:pathLst>
              <a:path w="167345" h="223127">
                <a:moveTo>
                  <a:pt x="167345" y="111564"/>
                </a:moveTo>
                <a:lnTo>
                  <a:pt x="0" y="0"/>
                </a:lnTo>
                <a:lnTo>
                  <a:pt x="0" y="223127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363786" y="3505635"/>
            <a:ext cx="1952359" cy="1952359"/>
          </a:xfrm>
          <a:prstGeom prst="ellipse">
            <a:avLst/>
          </a:prstGeom>
          <a:solidFill>
            <a:srgbClr val="FFFFFF"/>
          </a:solidFill>
          <a:ln w="55781"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14803" y="3756653"/>
            <a:ext cx="1450323" cy="1450323"/>
          </a:xfrm>
          <a:prstGeom prst="ellipse">
            <a:avLst/>
          </a:prstGeom>
          <a:solidFill>
            <a:srgbClr val="115E5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73083" y="3514932"/>
            <a:ext cx="483441" cy="483441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68753" y="3625566"/>
            <a:ext cx="292100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5272" y="4183382"/>
            <a:ext cx="689387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26456E"/>
                </a:solidFill>
                <a:latin typeface="Calibri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2058" y="4480885"/>
            <a:ext cx="1895815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26456E"/>
                </a:solidFill>
                <a:latin typeface="Calibri"/>
              </a:rPr>
              <a:t>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6454" y="5548174"/>
            <a:ext cx="2267023" cy="267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>
                <a:solidFill>
                  <a:srgbClr val="475569"/>
                </a:solidFill>
                <a:latin typeface="Calibri"/>
              </a:rPr>
              <a:t>Pipelines · Quality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44036" y="4481815"/>
            <a:ext cx="557817" cy="0"/>
          </a:xfrm>
          <a:prstGeom prst="line">
            <a:avLst/>
          </a:prstGeom>
          <a:ln w="55781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5846071" y="4370251"/>
            <a:ext cx="167345" cy="223127"/>
          </a:xfrm>
          <a:custGeom>
            <a:avLst/>
            <a:gdLst/>
            <a:ahLst/>
            <a:cxnLst/>
            <a:rect l="l" t="t" r="r" b="b"/>
            <a:pathLst>
              <a:path w="167345" h="223127">
                <a:moveTo>
                  <a:pt x="167345" y="111564"/>
                </a:moveTo>
                <a:lnTo>
                  <a:pt x="0" y="0"/>
                </a:lnTo>
                <a:lnTo>
                  <a:pt x="0" y="223127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041307" y="3505635"/>
            <a:ext cx="1952359" cy="1952359"/>
          </a:xfrm>
          <a:prstGeom prst="ellipse">
            <a:avLst/>
          </a:prstGeom>
          <a:solidFill>
            <a:srgbClr val="FFFFFF"/>
          </a:solidFill>
          <a:ln w="55781">
            <a:solidFill>
              <a:srgbClr val="3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292324" y="3756653"/>
            <a:ext cx="1450323" cy="1450323"/>
          </a:xfrm>
          <a:prstGeom prst="ellipse">
            <a:avLst/>
          </a:prstGeom>
          <a:solidFill>
            <a:srgbClr val="3371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050604" y="3514932"/>
            <a:ext cx="483441" cy="483441"/>
          </a:xfrm>
          <a:prstGeom prst="ellipse">
            <a:avLst/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46274" y="3625566"/>
            <a:ext cx="292100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4273" y="4183382"/>
            <a:ext cx="1206427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26456E"/>
                </a:solidFill>
                <a:latin typeface="Calibri"/>
              </a:rPr>
              <a:t>Trusted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2793" y="4480885"/>
            <a:ext cx="689387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26456E"/>
                </a:solidFill>
                <a:latin typeface="Calibri"/>
              </a:rPr>
              <a:t>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33" y="5548174"/>
            <a:ext cx="2147706" cy="267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>
                <a:solidFill>
                  <a:srgbClr val="475569"/>
                </a:solidFill>
                <a:latin typeface="Calibri"/>
              </a:rPr>
              <a:t>Modeled · Governed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21557" y="4481815"/>
            <a:ext cx="557817" cy="0"/>
          </a:xfrm>
          <a:prstGeom prst="line">
            <a:avLst/>
          </a:prstGeom>
          <a:ln w="55781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8523592" y="4370251"/>
            <a:ext cx="167345" cy="223127"/>
          </a:xfrm>
          <a:custGeom>
            <a:avLst/>
            <a:gdLst/>
            <a:ahLst/>
            <a:cxnLst/>
            <a:rect l="l" t="t" r="r" b="b"/>
            <a:pathLst>
              <a:path w="167345" h="223127">
                <a:moveTo>
                  <a:pt x="167345" y="111564"/>
                </a:moveTo>
                <a:lnTo>
                  <a:pt x="0" y="0"/>
                </a:lnTo>
                <a:lnTo>
                  <a:pt x="0" y="223127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718828" y="3505635"/>
            <a:ext cx="1952359" cy="1952359"/>
          </a:xfrm>
          <a:prstGeom prst="ellipse">
            <a:avLst/>
          </a:prstGeom>
          <a:solidFill>
            <a:srgbClr val="FFFFFF"/>
          </a:solidFill>
          <a:ln w="55781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969845" y="3756653"/>
            <a:ext cx="1450323" cy="1450323"/>
          </a:xfrm>
          <a:prstGeom prst="ellipse">
            <a:avLst/>
          </a:prstGeom>
          <a:solidFill>
            <a:srgbClr val="D9770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728125" y="3514932"/>
            <a:ext cx="483441" cy="483441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23795" y="3625566"/>
            <a:ext cx="292100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4140" y="4183382"/>
            <a:ext cx="861734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26456E"/>
                </a:solidFill>
                <a:latin typeface="Calibri"/>
              </a:rPr>
              <a:t>Smart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9447" y="4480885"/>
            <a:ext cx="1551121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26456E"/>
                </a:solidFill>
                <a:latin typeface="Calibri"/>
              </a:rPr>
              <a:t>Decisions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9788" y="5548174"/>
            <a:ext cx="1670438" cy="267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>
                <a:solidFill>
                  <a:srgbClr val="475569"/>
                </a:solidFill>
                <a:latin typeface="Calibri"/>
              </a:rPr>
              <a:t>Analytics · ML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699078" y="4481815"/>
            <a:ext cx="557817" cy="0"/>
          </a:xfrm>
          <a:prstGeom prst="line">
            <a:avLst/>
          </a:prstGeom>
          <a:ln w="55781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11201113" y="4370251"/>
            <a:ext cx="167345" cy="223127"/>
          </a:xfrm>
          <a:custGeom>
            <a:avLst/>
            <a:gdLst/>
            <a:ahLst/>
            <a:cxnLst/>
            <a:rect l="l" t="t" r="r" b="b"/>
            <a:pathLst>
              <a:path w="167345" h="223127">
                <a:moveTo>
                  <a:pt x="167345" y="111564"/>
                </a:moveTo>
                <a:lnTo>
                  <a:pt x="0" y="0"/>
                </a:lnTo>
                <a:lnTo>
                  <a:pt x="0" y="223127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1396349" y="3505635"/>
            <a:ext cx="1952359" cy="1952359"/>
          </a:xfrm>
          <a:prstGeom prst="ellipse">
            <a:avLst/>
          </a:prstGeom>
          <a:solidFill>
            <a:srgbClr val="FFFFFF"/>
          </a:solidFill>
          <a:ln w="55781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1647367" y="3756653"/>
            <a:ext cx="1450323" cy="1450323"/>
          </a:xfrm>
          <a:prstGeom prst="ellipse">
            <a:avLst/>
          </a:prstGeom>
          <a:solidFill>
            <a:srgbClr val="EA580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405646" y="3514932"/>
            <a:ext cx="483441" cy="483441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501317" y="3625566"/>
            <a:ext cx="292100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83141" y="4183382"/>
            <a:ext cx="1378774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26456E"/>
                </a:solidFill>
                <a:latin typeface="Calibri"/>
              </a:rPr>
              <a:t>Business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941661" y="4480885"/>
            <a:ext cx="861734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26456E"/>
                </a:solidFill>
                <a:latin typeface="Calibri"/>
              </a:rPr>
              <a:t>Value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58334" y="5548174"/>
            <a:ext cx="2028389" cy="267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>
                <a:solidFill>
                  <a:srgbClr val="475569"/>
                </a:solidFill>
                <a:latin typeface="Calibri"/>
              </a:rPr>
              <a:t>Revenue · Savings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53379" y="6713082"/>
            <a:ext cx="11528215" cy="929694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 w="18593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191775" y="6879497"/>
            <a:ext cx="9651422" cy="3867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903" b="1">
                <a:solidFill>
                  <a:srgbClr val="0F766E"/>
                </a:solidFill>
                <a:latin typeface="Calibri"/>
              </a:rPr>
              <a:t>Data is the raw material. Engineering turns it into ROI.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4805" y="7252305"/>
            <a:ext cx="9545362" cy="2975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Skip a step and value leaks at every junction — quality, latency, trust.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3578840" y="1714500"/>
            <a:ext cx="4183379" cy="6595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Raw data → cleaned data → information → insight → decision → value.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Each stage multiplies the next. Skip one and the value chain breaks.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Most companies stop at stage 2 (cleaned data) and wonder why ROI is flat.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Data engineering is the discipline of moving data through all five stages reliably.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3578840" y="7197350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 dirty="0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Data has no value until it changes a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592" y="1459992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The 5 V's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Volume, Velocity, Variety, Veracity,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7637" y="2415109"/>
            <a:ext cx="1751570" cy="1033426"/>
          </a:xfrm>
          <a:prstGeom prst="roundRect">
            <a:avLst>
              <a:gd name="adj" fmla="val 11864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3829" y="2674341"/>
            <a:ext cx="899186" cy="3363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55" b="1">
                <a:solidFill>
                  <a:srgbClr val="FFFFFF"/>
                </a:solidFill>
                <a:latin typeface="Calibri"/>
              </a:rPr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681" y="3008891"/>
            <a:ext cx="1653482" cy="18080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E0F2F1"/>
                </a:solidFill>
                <a:latin typeface="Calibri"/>
              </a:rPr>
              <a:t>How much data exists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69521" y="2415109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2669521" y="2415109"/>
            <a:ext cx="52547" cy="103342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44678" y="2520203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91155" y="2563554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4929" y="2556110"/>
            <a:ext cx="1193294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SMB / Startup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4678" y="2806585"/>
            <a:ext cx="1123982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1E3A5F"/>
                </a:solidFill>
                <a:latin typeface="Calibri"/>
              </a:rPr>
              <a:t>~10 GB/day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4678" y="3149017"/>
            <a:ext cx="2182024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A regional shop's web 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7818" y="2415109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47818" y="2415109"/>
            <a:ext cx="52547" cy="103342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22975" y="2520203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9452" y="2563554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227" y="2556110"/>
            <a:ext cx="1285086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Mid-Enterprise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975" y="2806585"/>
            <a:ext cx="1123982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1E3A5F"/>
                </a:solidFill>
                <a:latin typeface="Calibri"/>
              </a:rPr>
              <a:t>~10 TB/day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975" y="3149017"/>
            <a:ext cx="2517720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A national bank's transactions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26116" y="2415109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026116" y="2415109"/>
            <a:ext cx="52547" cy="103342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201273" y="2520203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47749" y="2563554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81524" y="2556110"/>
            <a:ext cx="917919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Hyperscale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1273" y="2806585"/>
            <a:ext cx="1236380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1E3A5F"/>
                </a:solidFill>
                <a:latin typeface="Calibri"/>
              </a:rPr>
              <a:t>~100 PB/day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01273" y="3149017"/>
            <a:ext cx="2349872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Meta's photo + reels uploads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37" y="3518598"/>
            <a:ext cx="1751570" cy="1033426"/>
          </a:xfrm>
          <a:prstGeom prst="roundRect">
            <a:avLst>
              <a:gd name="adj" fmla="val 11864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3965" y="3777830"/>
            <a:ext cx="1198914" cy="3363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55" b="1">
                <a:solidFill>
                  <a:srgbClr val="FFFFFF"/>
                </a:solidFill>
                <a:latin typeface="Calibri"/>
              </a:rPr>
              <a:t>VELOCITY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144" y="4112380"/>
            <a:ext cx="1594556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E0F2F1"/>
                </a:solidFill>
                <a:latin typeface="Calibri"/>
              </a:rPr>
              <a:t>How fast it arrives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69521" y="3518598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669521" y="3518598"/>
            <a:ext cx="52547" cy="103342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844678" y="3623692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91155" y="3667043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24929" y="3659599"/>
            <a:ext cx="1285086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Daily / Weekly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44678" y="3910074"/>
            <a:ext cx="1123982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D97706"/>
                </a:solidFill>
                <a:latin typeface="Calibri"/>
              </a:rPr>
              <a:t>1 file/day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44678" y="4252506"/>
            <a:ext cx="2098100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Vendor sales report (CSV)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47818" y="3518598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47818" y="3518598"/>
            <a:ext cx="52547" cy="103342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522975" y="3623692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69452" y="3667043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03227" y="3659599"/>
            <a:ext cx="1468670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Hourly / Minutes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975" y="3910074"/>
            <a:ext cx="1573575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D97706"/>
                </a:solidFill>
                <a:latin typeface="Calibri"/>
              </a:rPr>
              <a:t>1 batch/15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975" y="4252506"/>
            <a:ext cx="2182024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POS aggregation, CDC feeds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26116" y="3518598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026116" y="3518598"/>
            <a:ext cx="52547" cy="103342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201273" y="3623692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147749" y="3667043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81524" y="3659599"/>
            <a:ext cx="917919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Sub-second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01273" y="3910074"/>
            <a:ext cx="1461177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D97706"/>
                </a:solidFill>
                <a:latin typeface="Calibri"/>
              </a:rPr>
              <a:t>1M events/sec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01273" y="4252506"/>
            <a:ext cx="2601644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Uber GPS pings · Stripe charges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7637" y="4622087"/>
            <a:ext cx="1751570" cy="1033426"/>
          </a:xfrm>
          <a:prstGeom prst="roundRect">
            <a:avLst>
              <a:gd name="adj" fmla="val 11864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8897" y="4881319"/>
            <a:ext cx="1049050" cy="3363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55" b="1">
                <a:solidFill>
                  <a:srgbClr val="FFFFFF"/>
                </a:solidFill>
                <a:latin typeface="Calibri"/>
              </a:rPr>
              <a:t>VARIETY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6144" y="5215869"/>
            <a:ext cx="1594556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E0F2F1"/>
                </a:solidFill>
                <a:latin typeface="Calibri"/>
              </a:rPr>
              <a:t>What shape it takes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669521" y="4622087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669521" y="4622087"/>
            <a:ext cx="52547" cy="103342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2844678" y="4727181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791155" y="4770533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24929" y="4763089"/>
            <a:ext cx="1376878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Structured only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44678" y="5013563"/>
            <a:ext cx="1573575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0F766E"/>
                </a:solidFill>
                <a:latin typeface="Calibri"/>
              </a:rPr>
              <a:t>Rows + columns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44678" y="5355995"/>
            <a:ext cx="1930252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ERP tables, CSV exports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47818" y="4622087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347818" y="4622087"/>
            <a:ext cx="52547" cy="103342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522975" y="4727181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69452" y="4770533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03227" y="4763089"/>
            <a:ext cx="1560462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+ Semi-structured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22975" y="5013563"/>
            <a:ext cx="1910770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0F766E"/>
                </a:solidFill>
                <a:latin typeface="Calibri"/>
              </a:rPr>
              <a:t>JSON · Avro · XML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22975" y="5355995"/>
            <a:ext cx="2265948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Mobile app events, API logs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026116" y="4622087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026116" y="4622087"/>
            <a:ext cx="52547" cy="103342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10201273" y="4727181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147749" y="4770533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81524" y="4763089"/>
            <a:ext cx="1285086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+ Unstructured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01273" y="5013563"/>
            <a:ext cx="2135566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0F766E"/>
                </a:solidFill>
                <a:latin typeface="Calibri"/>
              </a:rPr>
              <a:t>PDF · audio · video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01273" y="5355995"/>
            <a:ext cx="2433796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Call recordings, X-rays, chat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7637" y="5725576"/>
            <a:ext cx="1751570" cy="1033426"/>
          </a:xfrm>
          <a:prstGeom prst="roundRect">
            <a:avLst>
              <a:gd name="adj" fmla="val 1186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43965" y="5984809"/>
            <a:ext cx="1198914" cy="3363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55" b="1">
                <a:solidFill>
                  <a:srgbClr val="FFFFFF"/>
                </a:solidFill>
                <a:latin typeface="Calibri"/>
              </a:rPr>
              <a:t>VERACITY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6681" y="6319359"/>
            <a:ext cx="1653482" cy="1721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E0F2F1"/>
                </a:solidFill>
                <a:latin typeface="Calibri"/>
              </a:rPr>
              <a:t>How trustworthy it is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669521" y="5725576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2669521" y="5725576"/>
            <a:ext cx="52547" cy="103342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2844678" y="5830671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791155" y="5874022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24929" y="5866578"/>
            <a:ext cx="1101502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Manual entry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44678" y="6117052"/>
            <a:ext cx="1461177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EA580C"/>
                </a:solidFill>
                <a:latin typeface="Calibri"/>
              </a:rPr>
              <a:t>~70% accurate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44678" y="6459484"/>
            <a:ext cx="1930252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Hand-typed CRM contacts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347818" y="5725576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6347818" y="5725576"/>
            <a:ext cx="52547" cy="103342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6522975" y="5830671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469452" y="5874022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03227" y="5866578"/>
            <a:ext cx="826127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Validated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2975" y="6117052"/>
            <a:ext cx="1461177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EA580C"/>
                </a:solidFill>
                <a:latin typeface="Calibri"/>
              </a:rPr>
              <a:t>~95% accurate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22975" y="6459484"/>
            <a:ext cx="2265948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OLTP with check constraints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026116" y="5725576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0026116" y="5725576"/>
            <a:ext cx="52547" cy="103342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10201273" y="5830671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147749" y="5874022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81524" y="5866578"/>
            <a:ext cx="1285086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Auto-corrected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201273" y="6117052"/>
            <a:ext cx="1685973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EA580C"/>
                </a:solidFill>
                <a:latin typeface="Calibri"/>
              </a:rPr>
              <a:t>~99.9% accurate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01273" y="6459484"/>
            <a:ext cx="2349872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Pipelines with quality gates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67637" y="6829065"/>
            <a:ext cx="1751570" cy="1033426"/>
          </a:xfrm>
          <a:prstGeom prst="roundRect">
            <a:avLst>
              <a:gd name="adj" fmla="val 11864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68762" y="7088298"/>
            <a:ext cx="749321" cy="3363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55" b="1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6681" y="7422848"/>
            <a:ext cx="1653482" cy="1390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E0F2F1"/>
                </a:solidFill>
                <a:latin typeface="Calibri"/>
              </a:rPr>
              <a:t>How decision-driving it is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669521" y="6829065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2669521" y="6829065"/>
            <a:ext cx="52547" cy="103342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2844678" y="6934160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791155" y="6977511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124929" y="6970067"/>
            <a:ext cx="1193294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Vanity metric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844678" y="7220541"/>
            <a:ext cx="2135566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0F766E"/>
                </a:solidFill>
                <a:latin typeface="Calibri"/>
              </a:rPr>
              <a:t>Looked at quarterly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844678" y="7562973"/>
            <a:ext cx="2098100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Pageviews, follower count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347818" y="6829065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6347818" y="6829065"/>
            <a:ext cx="52547" cy="103342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6522975" y="6934160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69452" y="6977511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03227" y="6970067"/>
            <a:ext cx="1009710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Operational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522975" y="7220541"/>
            <a:ext cx="1685973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0F766E"/>
                </a:solidFill>
                <a:latin typeface="Calibri"/>
              </a:rPr>
              <a:t>Looked at daily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22975" y="7562973"/>
            <a:ext cx="2349872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Inventory, churn, conversion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26116" y="6829065"/>
            <a:ext cx="3327983" cy="1033426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050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10026116" y="6829065"/>
            <a:ext cx="52547" cy="103342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10201273" y="6934160"/>
            <a:ext cx="192672" cy="192672"/>
          </a:xfrm>
          <a:prstGeom prst="roundRect">
            <a:avLst>
              <a:gd name="adj" fmla="val 27272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0147749" y="6977511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481524" y="6970067"/>
            <a:ext cx="1468670" cy="205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13" b="1">
                <a:solidFill>
                  <a:srgbClr val="1E3A5F"/>
                </a:solidFill>
                <a:latin typeface="Calibri"/>
              </a:rPr>
              <a:t>Decision-driving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201273" y="7220541"/>
            <a:ext cx="2023168" cy="2522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41" b="1">
                <a:solidFill>
                  <a:srgbClr val="0F766E"/>
                </a:solidFill>
                <a:latin typeface="Calibri"/>
              </a:rPr>
              <a:t>Wired into actions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201273" y="7562973"/>
            <a:ext cx="2349872" cy="18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Fraud decline · auto-reorder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67637" y="7967586"/>
            <a:ext cx="12611304" cy="402861"/>
          </a:xfrm>
          <a:prstGeom prst="roundRect">
            <a:avLst>
              <a:gd name="adj" fmla="val 26086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218252" y="8109901"/>
            <a:ext cx="11310074" cy="2206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86" b="1" dirty="0">
                <a:solidFill>
                  <a:srgbClr val="FFFFFF"/>
                </a:solidFill>
                <a:latin typeface="Calibri"/>
              </a:rPr>
              <a:t>Most teams optimize for one V (usually Volume) and lose to the other four. Mature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platforms</a:t>
            </a:r>
            <a:r>
              <a:rPr sz="1086" b="1" dirty="0">
                <a:solidFill>
                  <a:srgbClr val="FFFFFF"/>
                </a:solidFill>
                <a:latin typeface="Calibri"/>
              </a:rPr>
              <a:t> invest across all five.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3578840" y="1714500"/>
            <a:ext cx="4183379" cy="667633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Volume — how much (petabytes is now table stakes at hyperscale).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Velocity — how fast (events per second, freshness SLA).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Variety — how many shapes (structured + semi + unstructured).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Veracity — how trustworthy (the one most teams ignore).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Value — only the last V matters. The first four are inputs.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3578840" y="7263381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Big data is not about V's 1-4. It's about whether V5 (value) shows 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80530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Does a Data Engineer Actually Do?</a:t>
            </a:r>
          </a:p>
        </p:txBody>
      </p:sp>
      <p:sp>
        <p:nvSpPr>
          <p:cNvPr id="9" name="Oval 8"/>
          <p:cNvSpPr/>
          <p:nvPr/>
        </p:nvSpPr>
        <p:spPr>
          <a:xfrm>
            <a:off x="5145579" y="3594620"/>
            <a:ext cx="3630577" cy="3630577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5228" y="4883475"/>
            <a:ext cx="1331280" cy="74686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675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0357" y="5402129"/>
            <a:ext cx="3661022" cy="74686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675" b="1">
                <a:solidFill>
                  <a:srgbClr val="FFFFFF"/>
                </a:solidFill>
                <a:latin typeface="Calibri"/>
              </a:rPr>
              <a:t>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203" y="6119168"/>
            <a:ext cx="2163331" cy="3734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837">
                <a:solidFill>
                  <a:srgbClr val="A7F3D0"/>
                </a:solidFill>
                <a:latin typeface="Calibri"/>
              </a:rPr>
              <a:t>Trust × Speed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960868" y="2751807"/>
            <a:ext cx="0" cy="842813"/>
          </a:xfrm>
          <a:prstGeom prst="line">
            <a:avLst/>
          </a:prstGeom>
          <a:ln w="38899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053224" y="1508264"/>
            <a:ext cx="1815288" cy="1815288"/>
          </a:xfrm>
          <a:prstGeom prst="ellipse">
            <a:avLst/>
          </a:prstGeom>
          <a:solidFill>
            <a:srgbClr val="FFFFFF"/>
          </a:solidFill>
          <a:ln w="5186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0698" y="2121572"/>
            <a:ext cx="1220340" cy="4564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246" b="1">
                <a:solidFill>
                  <a:srgbClr val="D97706"/>
                </a:solidFill>
                <a:latin typeface="Calibri"/>
              </a:rPr>
              <a:t>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5228" y="2568911"/>
            <a:ext cx="1331280" cy="2489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25">
                <a:solidFill>
                  <a:srgbClr val="475569"/>
                </a:solidFill>
                <a:latin typeface="Calibri"/>
              </a:rPr>
              <a:t>From sources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532389" y="4080858"/>
            <a:ext cx="1741381" cy="421407"/>
          </a:xfrm>
          <a:prstGeom prst="line">
            <a:avLst/>
          </a:prstGeom>
          <a:ln w="38899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366126" y="3173214"/>
            <a:ext cx="1815288" cy="1815288"/>
          </a:xfrm>
          <a:prstGeom prst="ellipse">
            <a:avLst/>
          </a:prstGeom>
          <a:solidFill>
            <a:srgbClr val="FFFFFF"/>
          </a:solidFill>
          <a:ln w="51865">
            <a:solidFill>
              <a:srgbClr val="3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65295" y="3786522"/>
            <a:ext cx="1016950" cy="4564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246" b="1">
                <a:solidFill>
                  <a:srgbClr val="3371A0"/>
                </a:solidFill>
                <a:latin typeface="Calibri"/>
              </a:rPr>
              <a:t>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6250" y="4233861"/>
            <a:ext cx="1775041" cy="2489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25">
                <a:solidFill>
                  <a:srgbClr val="475569"/>
                </a:solidFill>
                <a:latin typeface="Calibri"/>
              </a:rPr>
              <a:t>Lake · Warehouse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32389" y="6317553"/>
            <a:ext cx="1741381" cy="421407"/>
          </a:xfrm>
          <a:prstGeom prst="line">
            <a:avLst/>
          </a:prstGeom>
          <a:ln w="38899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366126" y="5831315"/>
            <a:ext cx="1815288" cy="1815288"/>
          </a:xfrm>
          <a:prstGeom prst="ellipse">
            <a:avLst/>
          </a:prstGeom>
          <a:solidFill>
            <a:srgbClr val="FFFFFF"/>
          </a:solidFill>
          <a:ln w="5186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58515" y="6444624"/>
            <a:ext cx="1830511" cy="4564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246" b="1">
                <a:solidFill>
                  <a:srgbClr val="0F766E"/>
                </a:solidFill>
                <a:latin typeface="Calibri"/>
              </a:rPr>
              <a:t>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2660" y="6891963"/>
            <a:ext cx="1442221" cy="2489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25">
                <a:solidFill>
                  <a:srgbClr val="475569"/>
                </a:solidFill>
                <a:latin typeface="Calibri"/>
              </a:rPr>
              <a:t>Clean · Model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60868" y="7225198"/>
            <a:ext cx="0" cy="842812"/>
          </a:xfrm>
          <a:prstGeom prst="line">
            <a:avLst/>
          </a:prstGeom>
          <a:ln w="38899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053224" y="7533588"/>
            <a:ext cx="1815288" cy="1815288"/>
          </a:xfrm>
          <a:prstGeom prst="ellipse">
            <a:avLst/>
          </a:prstGeom>
          <a:solidFill>
            <a:srgbClr val="FFFFFF"/>
          </a:solidFill>
          <a:ln w="51865"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42223" y="8146896"/>
            <a:ext cx="2237291" cy="4564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246" b="1">
                <a:solidFill>
                  <a:srgbClr val="115E59"/>
                </a:solidFill>
                <a:latin typeface="Calibri"/>
              </a:rPr>
              <a:t>Orchestrate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8818" y="8594235"/>
            <a:ext cx="1664101" cy="2489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25">
                <a:solidFill>
                  <a:srgbClr val="475569"/>
                </a:solidFill>
                <a:latin typeface="Calibri"/>
              </a:rPr>
              <a:t>Schedule · SLAs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647966" y="6317553"/>
            <a:ext cx="1741381" cy="421407"/>
          </a:xfrm>
          <a:prstGeom prst="line">
            <a:avLst/>
          </a:prstGeom>
          <a:ln w="38899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740321" y="5831315"/>
            <a:ext cx="1815288" cy="1815288"/>
          </a:xfrm>
          <a:prstGeom prst="ellipse">
            <a:avLst/>
          </a:prstGeom>
          <a:solidFill>
            <a:srgbClr val="FFFFFF"/>
          </a:solidFill>
          <a:ln w="5186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37796" y="6444624"/>
            <a:ext cx="1220340" cy="4564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246" b="1">
                <a:solidFill>
                  <a:srgbClr val="EA580C"/>
                </a:solidFill>
                <a:latin typeface="Calibri"/>
              </a:rPr>
              <a:t>Govern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04976" y="6891963"/>
            <a:ext cx="1885981" cy="2489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25">
                <a:solidFill>
                  <a:srgbClr val="475569"/>
                </a:solidFill>
                <a:latin typeface="Calibri"/>
              </a:rPr>
              <a:t>Quality · Lineage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3647966" y="4080858"/>
            <a:ext cx="1741381" cy="421407"/>
          </a:xfrm>
          <a:prstGeom prst="line">
            <a:avLst/>
          </a:prstGeom>
          <a:ln w="38899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2740321" y="3173214"/>
            <a:ext cx="1815288" cy="1815288"/>
          </a:xfrm>
          <a:prstGeom prst="ellipse">
            <a:avLst/>
          </a:prstGeom>
          <a:solidFill>
            <a:srgbClr val="FFFFFF"/>
          </a:solidFill>
          <a:ln w="5186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39491" y="3786522"/>
            <a:ext cx="1016950" cy="4564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246" b="1">
                <a:solidFill>
                  <a:srgbClr val="0F766E"/>
                </a:solidFill>
                <a:latin typeface="Calibri"/>
              </a:rPr>
              <a:t>Serve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48736" y="4233861"/>
            <a:ext cx="998460" cy="2489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25">
                <a:solidFill>
                  <a:srgbClr val="475569"/>
                </a:solidFill>
                <a:latin typeface="Calibri"/>
              </a:rPr>
              <a:t>APIs · BI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164" y="9446333"/>
            <a:ext cx="12203408" cy="4564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246" b="1">
                <a:solidFill>
                  <a:srgbClr val="26456E"/>
                </a:solidFill>
                <a:latin typeface="Calibri"/>
              </a:rPr>
              <a:t>Move data + Make it usable + Keep it trustworthy — at scale.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578840" y="1714500"/>
            <a:ext cx="4183379" cy="66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Six functions: ingest · store · transform · serve · govern · observe.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Junior DEs typically own ingest + transform. Staff DEs own govern + observe.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A real Tuesday: 30% pipeline fixes, 30% new builds, 20% reviews, 20% meetings.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Salary band signals the function mix, not the technology stack.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578840" y="7235190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A data engineer is paid for reliable plumbing, not for the latest framework.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985" y="1469858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Data Engineering vs ETL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they are not the same 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3325" y="2325178"/>
            <a:ext cx="5681563" cy="669995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23673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ounded Rectangle 9"/>
          <p:cNvSpPr/>
          <p:nvPr/>
        </p:nvSpPr>
        <p:spPr>
          <a:xfrm>
            <a:off x="643325" y="2325178"/>
            <a:ext cx="5681563" cy="457681"/>
          </a:xfrm>
          <a:prstGeom prst="roundRect">
            <a:avLst>
              <a:gd name="adj" fmla="val 31034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643325" y="2561910"/>
            <a:ext cx="5681563" cy="22094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832710" y="2972245"/>
            <a:ext cx="5302792" cy="725977"/>
          </a:xfrm>
          <a:prstGeom prst="roundRect">
            <a:avLst>
              <a:gd name="adj" fmla="val 10869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958967" y="3090216"/>
            <a:ext cx="819193" cy="183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alibri"/>
              </a:rPr>
              <a:t>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967" y="3262468"/>
            <a:ext cx="5093930" cy="21019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A process that moves data from one system to another,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967" y="3464647"/>
            <a:ext cx="5093930" cy="1856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reshaping it on the way so it fits the destination’s schema.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74609" y="3982301"/>
            <a:ext cx="1104748" cy="71019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727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1680934" y="4134598"/>
            <a:ext cx="292100" cy="2777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B45309"/>
                </a:solidFill>
                <a:latin typeface="Calibri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1749" y="4397765"/>
            <a:ext cx="570471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Calibri"/>
              </a:rPr>
              <a:t>EXTRACT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10922" y="4337398"/>
            <a:ext cx="252514" cy="0"/>
          </a:xfrm>
          <a:prstGeom prst="line">
            <a:avLst/>
          </a:prstGeom>
          <a:ln w="23673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695000" y="3982301"/>
            <a:ext cx="1104748" cy="71019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727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3101324" y="4134598"/>
            <a:ext cx="292100" cy="2777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B45309"/>
                </a:solidFill>
                <a:latin typeface="Calibri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643" y="4397765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Calibri"/>
              </a:rPr>
              <a:t>TRANSFORM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31313" y="4337398"/>
            <a:ext cx="252514" cy="0"/>
          </a:xfrm>
          <a:prstGeom prst="line">
            <a:avLst/>
          </a:prstGeom>
          <a:ln w="23673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15391" y="3982301"/>
            <a:ext cx="1104748" cy="71019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727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4521715" y="4134598"/>
            <a:ext cx="292100" cy="2777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B45309"/>
                </a:solidFill>
                <a:latin typeface="Calibri"/>
              </a:rPr>
              <a:t>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4774" y="4397765"/>
            <a:ext cx="32598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Calibri"/>
              </a:rPr>
              <a:t>LOAD</a:t>
            </a:r>
          </a:p>
        </p:txBody>
      </p:sp>
      <p:sp>
        <p:nvSpPr>
          <p:cNvPr id="27" name="Oval 26"/>
          <p:cNvSpPr/>
          <p:nvPr/>
        </p:nvSpPr>
        <p:spPr>
          <a:xfrm>
            <a:off x="564414" y="4053320"/>
            <a:ext cx="473463" cy="142039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Rectangle 27"/>
          <p:cNvSpPr/>
          <p:nvPr/>
        </p:nvSpPr>
        <p:spPr>
          <a:xfrm>
            <a:off x="564414" y="4124340"/>
            <a:ext cx="473463" cy="394553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Oval 28"/>
          <p:cNvSpPr/>
          <p:nvPr/>
        </p:nvSpPr>
        <p:spPr>
          <a:xfrm>
            <a:off x="564414" y="4447873"/>
            <a:ext cx="473463" cy="142039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434415" y="4658170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Calibri"/>
              </a:rPr>
              <a:t>SOURCE DB</a:t>
            </a:r>
          </a:p>
        </p:txBody>
      </p:sp>
      <p:sp>
        <p:nvSpPr>
          <p:cNvPr id="31" name="Oval 30"/>
          <p:cNvSpPr/>
          <p:nvPr/>
        </p:nvSpPr>
        <p:spPr>
          <a:xfrm>
            <a:off x="5456871" y="4053320"/>
            <a:ext cx="473463" cy="142039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Rectangle 31"/>
          <p:cNvSpPr/>
          <p:nvPr/>
        </p:nvSpPr>
        <p:spPr>
          <a:xfrm>
            <a:off x="5456871" y="4124340"/>
            <a:ext cx="473463" cy="394553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Oval 32"/>
          <p:cNvSpPr/>
          <p:nvPr/>
        </p:nvSpPr>
        <p:spPr>
          <a:xfrm>
            <a:off x="5456871" y="4447873"/>
            <a:ext cx="473463" cy="142039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5326872" y="4658170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WAREHOUSE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710" y="4936694"/>
            <a:ext cx="5302792" cy="678630"/>
          </a:xfrm>
          <a:prstGeom prst="roundRect">
            <a:avLst>
              <a:gd name="adj" fmla="val 15625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958967" y="4994472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dirty="0">
                <a:solidFill>
                  <a:srgbClr val="B45309"/>
                </a:solidFill>
                <a:latin typeface="Calibri"/>
              </a:rPr>
              <a:t>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967" y="5163735"/>
            <a:ext cx="5093930" cy="1485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Two systems. One direction. One job. Run on a schedule </a:t>
            </a:r>
            <a:br>
              <a:rPr lang="en-GB" sz="1400" dirty="0">
                <a:solidFill>
                  <a:srgbClr val="26456E"/>
                </a:solidFill>
                <a:latin typeface="Calibri"/>
              </a:rPr>
            </a:br>
            <a:r>
              <a:rPr sz="1400" dirty="0">
                <a:solidFill>
                  <a:srgbClr val="26456E"/>
                </a:solidFill>
                <a:latin typeface="Calibri"/>
              </a:rPr>
              <a:t>(typically nightly).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967" y="5669409"/>
            <a:ext cx="2526372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475569"/>
                </a:solidFill>
                <a:latin typeface="Calibri"/>
              </a:rPr>
              <a:t>ORIGIN &amp; CONTEXT (illustrative)</a:t>
            </a:r>
          </a:p>
        </p:txBody>
      </p:sp>
      <p:sp>
        <p:nvSpPr>
          <p:cNvPr id="39" name="Oval 38"/>
          <p:cNvSpPr/>
          <p:nvPr/>
        </p:nvSpPr>
        <p:spPr>
          <a:xfrm>
            <a:off x="998422" y="5968951"/>
            <a:ext cx="47346" cy="47346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0" name="TextBox 39"/>
          <p:cNvSpPr txBox="1"/>
          <p:nvPr/>
        </p:nvSpPr>
        <p:spPr>
          <a:xfrm>
            <a:off x="1132570" y="5921244"/>
            <a:ext cx="5314635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Term coined in the 1970s; mainstream by mid-1990s with </a:t>
            </a:r>
            <a:br>
              <a:rPr lang="en-GB" sz="1400" dirty="0">
                <a:solidFill>
                  <a:srgbClr val="26456E"/>
                </a:solidFill>
                <a:latin typeface="Calibri"/>
              </a:rPr>
            </a:br>
            <a:r>
              <a:rPr sz="1400" dirty="0">
                <a:solidFill>
                  <a:srgbClr val="26456E"/>
                </a:solidFill>
                <a:latin typeface="Calibri"/>
              </a:rPr>
              <a:t>Informatica, IBM DataStage, SSIS.</a:t>
            </a:r>
          </a:p>
        </p:txBody>
      </p:sp>
      <p:sp>
        <p:nvSpPr>
          <p:cNvPr id="41" name="Oval 40"/>
          <p:cNvSpPr/>
          <p:nvPr/>
        </p:nvSpPr>
        <p:spPr>
          <a:xfrm>
            <a:off x="998422" y="6689863"/>
            <a:ext cx="47346" cy="47346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2" name="TextBox 41"/>
          <p:cNvSpPr txBox="1"/>
          <p:nvPr/>
        </p:nvSpPr>
        <p:spPr>
          <a:xfrm>
            <a:off x="1132570" y="6545757"/>
            <a:ext cx="5314635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Built for the era of on-prem servers, structured tabular data, </a:t>
            </a:r>
            <a:br>
              <a:rPr lang="en-GB" sz="1400" dirty="0">
                <a:solidFill>
                  <a:srgbClr val="26456E"/>
                </a:solidFill>
                <a:latin typeface="Calibri"/>
              </a:rPr>
            </a:br>
            <a:r>
              <a:rPr sz="1400" dirty="0">
                <a:solidFill>
                  <a:srgbClr val="26456E"/>
                </a:solidFill>
                <a:latin typeface="Calibri"/>
              </a:rPr>
              <a:t>and end-of-day reporting.</a:t>
            </a:r>
          </a:p>
        </p:txBody>
      </p:sp>
      <p:sp>
        <p:nvSpPr>
          <p:cNvPr id="43" name="Oval 42"/>
          <p:cNvSpPr/>
          <p:nvPr/>
        </p:nvSpPr>
        <p:spPr>
          <a:xfrm>
            <a:off x="998422" y="7260687"/>
            <a:ext cx="47346" cy="47346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4" name="TextBox 43"/>
          <p:cNvSpPr txBox="1"/>
          <p:nvPr/>
        </p:nvSpPr>
        <p:spPr>
          <a:xfrm>
            <a:off x="1132570" y="7174364"/>
            <a:ext cx="5094578" cy="1428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Optimized for one question: “Is the warehouse refreshed </a:t>
            </a:r>
            <a:br>
              <a:rPr lang="en-GB" sz="1400" dirty="0">
                <a:solidFill>
                  <a:srgbClr val="26456E"/>
                </a:solidFill>
                <a:latin typeface="Calibri"/>
              </a:rPr>
            </a:br>
            <a:r>
              <a:rPr sz="1400" dirty="0">
                <a:solidFill>
                  <a:srgbClr val="26456E"/>
                </a:solidFill>
                <a:latin typeface="Calibri"/>
              </a:rPr>
              <a:t>before 9 AM tomorrow?”</a:t>
            </a:r>
          </a:p>
        </p:txBody>
      </p:sp>
      <p:sp>
        <p:nvSpPr>
          <p:cNvPr id="45" name="Oval 44"/>
          <p:cNvSpPr/>
          <p:nvPr/>
        </p:nvSpPr>
        <p:spPr>
          <a:xfrm>
            <a:off x="998422" y="7945349"/>
            <a:ext cx="47346" cy="47346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6" name="TextBox 45"/>
          <p:cNvSpPr txBox="1"/>
          <p:nvPr/>
        </p:nvSpPr>
        <p:spPr>
          <a:xfrm>
            <a:off x="1132570" y="7829464"/>
            <a:ext cx="5254241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Still the right answer for ~30–40% of pipelines today </a:t>
            </a:r>
            <a:br>
              <a:rPr lang="en-GB" sz="1400" dirty="0">
                <a:solidFill>
                  <a:srgbClr val="26456E"/>
                </a:solidFill>
                <a:latin typeface="Calibri"/>
              </a:rPr>
            </a:br>
            <a:r>
              <a:rPr sz="1400" dirty="0">
                <a:solidFill>
                  <a:srgbClr val="26456E"/>
                </a:solidFill>
                <a:latin typeface="Calibri"/>
              </a:rPr>
              <a:t>(illustrative) — batch reporting.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8001" y="2325178"/>
            <a:ext cx="5681563" cy="669995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23673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Rounded Rectangle 47"/>
          <p:cNvSpPr/>
          <p:nvPr/>
        </p:nvSpPr>
        <p:spPr>
          <a:xfrm>
            <a:off x="7088001" y="2325178"/>
            <a:ext cx="5681563" cy="457681"/>
          </a:xfrm>
          <a:prstGeom prst="roundRect">
            <a:avLst>
              <a:gd name="adj" fmla="val 31034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9" name="Rectangle 48"/>
          <p:cNvSpPr/>
          <p:nvPr/>
        </p:nvSpPr>
        <p:spPr>
          <a:xfrm>
            <a:off x="7088001" y="2561910"/>
            <a:ext cx="5681563" cy="22094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0" name="Rounded Rectangle 49"/>
          <p:cNvSpPr/>
          <p:nvPr/>
        </p:nvSpPr>
        <p:spPr>
          <a:xfrm>
            <a:off x="7277387" y="2972245"/>
            <a:ext cx="5302792" cy="725977"/>
          </a:xfrm>
          <a:prstGeom prst="roundRect">
            <a:avLst>
              <a:gd name="adj" fmla="val 10869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TextBox 50"/>
          <p:cNvSpPr txBox="1"/>
          <p:nvPr/>
        </p:nvSpPr>
        <p:spPr>
          <a:xfrm>
            <a:off x="7403644" y="3090216"/>
            <a:ext cx="819193" cy="183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DEFINITION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3644" y="3262468"/>
            <a:ext cx="5093929" cy="1713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The discipline of designing, building, and operating the platform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3644" y="3464647"/>
            <a:ext cx="5093929" cy="192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that turns raw data into reliable, governed data products.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40515" y="3887608"/>
            <a:ext cx="1641340" cy="899580"/>
          </a:xfrm>
          <a:prstGeom prst="roundRect">
            <a:avLst>
              <a:gd name="adj" fmla="val 8771"/>
            </a:avLst>
          </a:prstGeom>
          <a:solidFill>
            <a:srgbClr val="F0FDFA"/>
          </a:solidFill>
          <a:ln w="11836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5" name="Rounded Rectangle 54"/>
          <p:cNvSpPr/>
          <p:nvPr/>
        </p:nvSpPr>
        <p:spPr>
          <a:xfrm>
            <a:off x="7340515" y="3887608"/>
            <a:ext cx="47346" cy="89958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6" name="TextBox 55"/>
          <p:cNvSpPr txBox="1"/>
          <p:nvPr/>
        </p:nvSpPr>
        <p:spPr>
          <a:xfrm>
            <a:off x="7482554" y="4066735"/>
            <a:ext cx="607643" cy="2272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15E59"/>
                </a:solidFill>
                <a:latin typeface="Calibri"/>
              </a:rPr>
              <a:t>INGEST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82554" y="4327929"/>
            <a:ext cx="1471047" cy="1462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>
                <a:solidFill>
                  <a:srgbClr val="475569"/>
                </a:solidFill>
                <a:latin typeface="Calibri"/>
              </a:rPr>
              <a:t>Kafka · Fivetran · 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08113" y="3887608"/>
            <a:ext cx="1641340" cy="899580"/>
          </a:xfrm>
          <a:prstGeom prst="roundRect">
            <a:avLst>
              <a:gd name="adj" fmla="val 8771"/>
            </a:avLst>
          </a:prstGeom>
          <a:solidFill>
            <a:srgbClr val="F0FDFA"/>
          </a:solidFill>
          <a:ln w="11836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9" name="Rounded Rectangle 58"/>
          <p:cNvSpPr/>
          <p:nvPr/>
        </p:nvSpPr>
        <p:spPr>
          <a:xfrm>
            <a:off x="9108113" y="3887608"/>
            <a:ext cx="47346" cy="89958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0" name="TextBox 59"/>
          <p:cNvSpPr txBox="1"/>
          <p:nvPr/>
        </p:nvSpPr>
        <p:spPr>
          <a:xfrm>
            <a:off x="9250152" y="4066735"/>
            <a:ext cx="506369" cy="2272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15E59"/>
                </a:solidFill>
                <a:latin typeface="Calibri"/>
              </a:rPr>
              <a:t>STORE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50152" y="4327929"/>
            <a:ext cx="1471046" cy="13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>
                <a:solidFill>
                  <a:srgbClr val="475569"/>
                </a:solidFill>
                <a:latin typeface="Calibri"/>
              </a:rPr>
              <a:t>S3 · Iceberg · Warehouse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875710" y="3887608"/>
            <a:ext cx="1641340" cy="899580"/>
          </a:xfrm>
          <a:prstGeom prst="roundRect">
            <a:avLst>
              <a:gd name="adj" fmla="val 8771"/>
            </a:avLst>
          </a:prstGeom>
          <a:solidFill>
            <a:srgbClr val="F0FDFA"/>
          </a:solidFill>
          <a:ln w="11836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3" name="Rounded Rectangle 62"/>
          <p:cNvSpPr/>
          <p:nvPr/>
        </p:nvSpPr>
        <p:spPr>
          <a:xfrm>
            <a:off x="10875710" y="3887608"/>
            <a:ext cx="47346" cy="89958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4" name="TextBox 63"/>
          <p:cNvSpPr txBox="1"/>
          <p:nvPr/>
        </p:nvSpPr>
        <p:spPr>
          <a:xfrm>
            <a:off x="11017749" y="4066735"/>
            <a:ext cx="708917" cy="2272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15E59"/>
                </a:solidFill>
                <a:latin typeface="Calibri"/>
              </a:rPr>
              <a:t>PROCESS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17749" y="4327929"/>
            <a:ext cx="1471046" cy="1693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>
                <a:solidFill>
                  <a:srgbClr val="475569"/>
                </a:solidFill>
                <a:latin typeface="Calibri"/>
              </a:rPr>
              <a:t>Spark · dbt · Flink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40515" y="4913446"/>
            <a:ext cx="1641340" cy="899580"/>
          </a:xfrm>
          <a:prstGeom prst="roundRect">
            <a:avLst>
              <a:gd name="adj" fmla="val 8771"/>
            </a:avLst>
          </a:prstGeom>
          <a:solidFill>
            <a:srgbClr val="F0FDFA"/>
          </a:solidFill>
          <a:ln w="11836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7" name="Rounded Rectangle 66"/>
          <p:cNvSpPr/>
          <p:nvPr/>
        </p:nvSpPr>
        <p:spPr>
          <a:xfrm>
            <a:off x="7340515" y="4913446"/>
            <a:ext cx="47346" cy="89958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8" name="TextBox 67"/>
          <p:cNvSpPr txBox="1"/>
          <p:nvPr/>
        </p:nvSpPr>
        <p:spPr>
          <a:xfrm>
            <a:off x="7482554" y="5092573"/>
            <a:ext cx="506369" cy="2272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15E59"/>
                </a:solidFill>
                <a:latin typeface="Calibri"/>
              </a:rPr>
              <a:t>SERVE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82554" y="5353767"/>
            <a:ext cx="1471046" cy="13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>
                <a:solidFill>
                  <a:srgbClr val="475569"/>
                </a:solidFill>
                <a:latin typeface="Calibri"/>
              </a:rPr>
              <a:t>API · BI · Feature store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108113" y="4913446"/>
            <a:ext cx="1641340" cy="899580"/>
          </a:xfrm>
          <a:prstGeom prst="roundRect">
            <a:avLst>
              <a:gd name="adj" fmla="val 8771"/>
            </a:avLst>
          </a:prstGeom>
          <a:solidFill>
            <a:srgbClr val="F0FDFA"/>
          </a:solidFill>
          <a:ln w="11836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1" name="Rounded Rectangle 70"/>
          <p:cNvSpPr/>
          <p:nvPr/>
        </p:nvSpPr>
        <p:spPr>
          <a:xfrm>
            <a:off x="9108113" y="4913446"/>
            <a:ext cx="47346" cy="89958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2" name="TextBox 71"/>
          <p:cNvSpPr txBox="1"/>
          <p:nvPr/>
        </p:nvSpPr>
        <p:spPr>
          <a:xfrm>
            <a:off x="9250152" y="5092573"/>
            <a:ext cx="607643" cy="2272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15E59"/>
                </a:solidFill>
                <a:latin typeface="Calibri"/>
              </a:rPr>
              <a:t>GOVERN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50152" y="5353767"/>
            <a:ext cx="1471047" cy="139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>
                <a:solidFill>
                  <a:srgbClr val="475569"/>
                </a:solidFill>
                <a:latin typeface="Calibri"/>
              </a:rPr>
              <a:t>Catalog · Lineage · ACL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875710" y="4913446"/>
            <a:ext cx="1641340" cy="899580"/>
          </a:xfrm>
          <a:prstGeom prst="roundRect">
            <a:avLst>
              <a:gd name="adj" fmla="val 8771"/>
            </a:avLst>
          </a:prstGeom>
          <a:solidFill>
            <a:srgbClr val="F0FDFA"/>
          </a:solidFill>
          <a:ln w="11836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5" name="Rounded Rectangle 74"/>
          <p:cNvSpPr/>
          <p:nvPr/>
        </p:nvSpPr>
        <p:spPr>
          <a:xfrm>
            <a:off x="10875710" y="4913446"/>
            <a:ext cx="47346" cy="89958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6" name="TextBox 75"/>
          <p:cNvSpPr txBox="1"/>
          <p:nvPr/>
        </p:nvSpPr>
        <p:spPr>
          <a:xfrm>
            <a:off x="11017749" y="5092573"/>
            <a:ext cx="708917" cy="2272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15E59"/>
                </a:solidFill>
                <a:latin typeface="Calibri"/>
              </a:rPr>
              <a:t>OBSERVE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17749" y="5353767"/>
            <a:ext cx="1471047" cy="1608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>
                <a:solidFill>
                  <a:srgbClr val="475569"/>
                </a:solidFill>
                <a:latin typeface="Calibri"/>
              </a:rPr>
              <a:t>SLA · Quality · Cost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277387" y="5891937"/>
            <a:ext cx="5302792" cy="4734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cxnSp>
        <p:nvCxnSpPr>
          <p:cNvPr id="79" name="Connector 78"/>
          <p:cNvCxnSpPr/>
          <p:nvPr/>
        </p:nvCxnSpPr>
        <p:spPr>
          <a:xfrm flipH="1" flipV="1">
            <a:off x="9505033" y="4605695"/>
            <a:ext cx="95482" cy="55237"/>
          </a:xfrm>
          <a:prstGeom prst="line">
            <a:avLst/>
          </a:prstGeom>
          <a:ln w="11836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8792009" y="4515991"/>
            <a:ext cx="568156" cy="568156"/>
          </a:xfrm>
          <a:prstGeom prst="ellipse">
            <a:avLst/>
          </a:prstGeom>
          <a:solidFill>
            <a:srgbClr val="FFFFFF"/>
          </a:solidFill>
          <a:ln w="19727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1" name="TextBox 80"/>
          <p:cNvSpPr txBox="1"/>
          <p:nvPr/>
        </p:nvSpPr>
        <p:spPr>
          <a:xfrm>
            <a:off x="8864710" y="4702615"/>
            <a:ext cx="422755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115E59"/>
                </a:solidFill>
                <a:latin typeface="Calibri"/>
              </a:rPr>
              <a:t>OBSERVE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72152" y="4841103"/>
            <a:ext cx="1207871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>
                <a:solidFill>
                  <a:srgbClr val="475569"/>
                </a:solidFill>
                <a:latin typeface="Calibri"/>
              </a:rPr>
              <a:t>SLA · Quality · Cost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277387" y="5962536"/>
            <a:ext cx="5302792" cy="705342"/>
          </a:xfrm>
          <a:prstGeom prst="roundRect">
            <a:avLst>
              <a:gd name="adj" fmla="val 17857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4" name="TextBox 83"/>
          <p:cNvSpPr txBox="1"/>
          <p:nvPr/>
        </p:nvSpPr>
        <p:spPr>
          <a:xfrm>
            <a:off x="7403644" y="6055651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SCOPE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03644" y="6209132"/>
            <a:ext cx="5093929" cy="13262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Many sources. Many destinations. Many speeds. Operated 24×7 </a:t>
            </a:r>
            <a:br>
              <a:rPr lang="en-GB" sz="1400" dirty="0">
                <a:solidFill>
                  <a:srgbClr val="26456E"/>
                </a:solidFill>
                <a:latin typeface="Calibri"/>
              </a:rPr>
            </a:br>
            <a:r>
              <a:rPr sz="1400" dirty="0">
                <a:solidFill>
                  <a:srgbClr val="26456E"/>
                </a:solidFill>
                <a:latin typeface="Calibri"/>
              </a:rPr>
              <a:t>like a software product.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03644" y="6699935"/>
            <a:ext cx="2526372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475569"/>
                </a:solidFill>
                <a:latin typeface="Calibri"/>
              </a:rPr>
              <a:t>ORIGIN &amp; CONTEXT (illustrative)</a:t>
            </a:r>
          </a:p>
        </p:txBody>
      </p:sp>
      <p:sp>
        <p:nvSpPr>
          <p:cNvPr id="87" name="Oval 86"/>
          <p:cNvSpPr/>
          <p:nvPr/>
        </p:nvSpPr>
        <p:spPr>
          <a:xfrm>
            <a:off x="7443099" y="7091423"/>
            <a:ext cx="47346" cy="4734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88" name="TextBox 87"/>
          <p:cNvSpPr txBox="1"/>
          <p:nvPr/>
        </p:nvSpPr>
        <p:spPr>
          <a:xfrm>
            <a:off x="7577247" y="6918975"/>
            <a:ext cx="5193847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Term emerged ~2011 (Facebook, LinkedIn job posts) </a:t>
            </a:r>
            <a:br>
              <a:rPr lang="en-GB" sz="1400" dirty="0">
                <a:solidFill>
                  <a:srgbClr val="26456E"/>
                </a:solidFill>
                <a:latin typeface="Calibri"/>
              </a:rPr>
            </a:br>
            <a:r>
              <a:rPr sz="1400" dirty="0">
                <a:solidFill>
                  <a:srgbClr val="26456E"/>
                </a:solidFill>
                <a:latin typeface="Calibri"/>
              </a:rPr>
              <a:t>as data outgrew classic ETL tooling.</a:t>
            </a:r>
          </a:p>
        </p:txBody>
      </p:sp>
      <p:sp>
        <p:nvSpPr>
          <p:cNvPr id="89" name="Oval 88"/>
          <p:cNvSpPr/>
          <p:nvPr/>
        </p:nvSpPr>
        <p:spPr>
          <a:xfrm>
            <a:off x="7443099" y="7778648"/>
            <a:ext cx="47346" cy="4734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90" name="TextBox 89"/>
          <p:cNvSpPr txBox="1"/>
          <p:nvPr/>
        </p:nvSpPr>
        <p:spPr>
          <a:xfrm>
            <a:off x="7577247" y="7423320"/>
            <a:ext cx="5254241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Built for the cloud era: petabytes, JSON/blobs, streaming, </a:t>
            </a:r>
            <a:br>
              <a:rPr lang="en-GB" sz="1400" dirty="0">
                <a:solidFill>
                  <a:srgbClr val="26456E"/>
                </a:solidFill>
                <a:latin typeface="Calibri"/>
              </a:rPr>
            </a:br>
            <a:r>
              <a:rPr sz="1400" dirty="0">
                <a:solidFill>
                  <a:srgbClr val="26456E"/>
                </a:solidFill>
                <a:latin typeface="Calibri"/>
              </a:rPr>
              <a:t>ML features, real-time apps.</a:t>
            </a:r>
          </a:p>
        </p:txBody>
      </p:sp>
      <p:sp>
        <p:nvSpPr>
          <p:cNvPr id="91" name="Oval 90"/>
          <p:cNvSpPr/>
          <p:nvPr/>
        </p:nvSpPr>
        <p:spPr>
          <a:xfrm>
            <a:off x="7443099" y="8217302"/>
            <a:ext cx="47346" cy="4734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92" name="TextBox 91"/>
          <p:cNvSpPr txBox="1"/>
          <p:nvPr/>
        </p:nvSpPr>
        <p:spPr>
          <a:xfrm>
            <a:off x="7577248" y="7963574"/>
            <a:ext cx="5054536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Optimized for many questions at many speeds </a:t>
            </a:r>
            <a:br>
              <a:rPr lang="en-GB" sz="1400" dirty="0">
                <a:solidFill>
                  <a:srgbClr val="26456E"/>
                </a:solidFill>
                <a:latin typeface="Calibri"/>
              </a:rPr>
            </a:br>
            <a:r>
              <a:rPr sz="1400" dirty="0">
                <a:solidFill>
                  <a:srgbClr val="26456E"/>
                </a:solidFill>
                <a:latin typeface="Calibri"/>
              </a:rPr>
              <a:t>— batch + micro-batch + streaming side-by-side.</a:t>
            </a:r>
          </a:p>
        </p:txBody>
      </p:sp>
      <p:sp>
        <p:nvSpPr>
          <p:cNvPr id="93" name="Oval 92"/>
          <p:cNvSpPr/>
          <p:nvPr/>
        </p:nvSpPr>
        <p:spPr>
          <a:xfrm>
            <a:off x="7443099" y="8701850"/>
            <a:ext cx="47346" cy="4734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94" name="TextBox 93"/>
          <p:cNvSpPr txBox="1"/>
          <p:nvPr/>
        </p:nvSpPr>
        <p:spPr>
          <a:xfrm>
            <a:off x="7577247" y="8498924"/>
            <a:ext cx="5094578" cy="1505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26456E"/>
                </a:solidFill>
                <a:latin typeface="Calibri"/>
              </a:rPr>
              <a:t>Now ~70% of new pipelines (illustrative) — ETL is a subset, </a:t>
            </a:r>
            <a:br>
              <a:rPr lang="en-GB" sz="1400" dirty="0">
                <a:solidFill>
                  <a:srgbClr val="26456E"/>
                </a:solidFill>
                <a:latin typeface="Calibri"/>
              </a:rPr>
            </a:br>
            <a:r>
              <a:rPr sz="1400" dirty="0">
                <a:solidFill>
                  <a:srgbClr val="26456E"/>
                </a:solidFill>
                <a:latin typeface="Calibri"/>
              </a:rPr>
              <a:t>not a synonym.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43325" y="9338811"/>
            <a:ext cx="12126239" cy="505027"/>
          </a:xfrm>
          <a:prstGeom prst="roundRect">
            <a:avLst>
              <a:gd name="adj" fmla="val 21875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022095" y="9627272"/>
            <a:ext cx="347206" cy="347206"/>
          </a:xfrm>
          <a:prstGeom prst="ellipse">
            <a:avLst/>
          </a:prstGeom>
          <a:noFill/>
          <a:ln w="23673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085224" y="9721964"/>
            <a:ext cx="157821" cy="157821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542905" y="9517938"/>
            <a:ext cx="10581046" cy="1944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ETL  ⊂  Data Engineering   —   every ETL pipeline is data engineering, but most data engineering is no longer just ETL.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3578840" y="1714500"/>
            <a:ext cx="4183379" cy="639763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3758840" y="1894500"/>
            <a:ext cx="3823379" cy="27699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758840" y="2274500"/>
            <a:ext cx="3823379" cy="34240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2000" dirty="0">
                <a:solidFill>
                  <a:srgbClr val="26456E"/>
                </a:solidFill>
                <a:latin typeface="Calibri"/>
              </a:rPr>
              <a:t>ETL = Extract → Transform → Load. A pattern from the 1990s.</a:t>
            </a:r>
          </a:p>
          <a:p>
            <a:pPr algn="l">
              <a:spcAft>
                <a:spcPts val="900"/>
              </a:spcAft>
            </a:pPr>
            <a:r>
              <a:rPr sz="20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2000" dirty="0">
                <a:solidFill>
                  <a:srgbClr val="26456E"/>
                </a:solidFill>
                <a:latin typeface="Calibri"/>
              </a:rPr>
              <a:t>Data engineering = the whole platform: streaming, batch, ML serving, governance, observability.</a:t>
            </a:r>
          </a:p>
          <a:p>
            <a:pPr algn="l">
              <a:spcAft>
                <a:spcPts val="900"/>
              </a:spcAft>
            </a:pPr>
            <a:r>
              <a:rPr sz="20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2000" dirty="0">
                <a:solidFill>
                  <a:srgbClr val="26456E"/>
                </a:solidFill>
                <a:latin typeface="Calibri"/>
              </a:rPr>
              <a:t>ETL is a tool in the data engineer's toolbox — not the job.</a:t>
            </a:r>
          </a:p>
          <a:p>
            <a:pPr algn="l">
              <a:spcAft>
                <a:spcPts val="900"/>
              </a:spcAft>
            </a:pPr>
            <a:r>
              <a:rPr sz="20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2000" dirty="0">
                <a:solidFill>
                  <a:srgbClr val="26456E"/>
                </a:solidFill>
                <a:latin typeface="Calibri"/>
              </a:rPr>
              <a:t>Companies that conflate the two underpay engineers and underdeliver platforms.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3578840" y="6978747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2000" b="1">
                <a:solidFill>
                  <a:srgbClr val="FFFFFF"/>
                </a:solidFill>
                <a:latin typeface="Calibri"/>
              </a:rPr>
              <a:t>ETL is a verb. Data engineering is an entire engineering discipline.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54376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Trace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an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order (#84231) through both worlds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0107" y="1485539"/>
            <a:ext cx="2924241" cy="748825"/>
          </a:xfrm>
          <a:prstGeom prst="roundRect">
            <a:avLst>
              <a:gd name="adj" fmla="val 16666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88811" y="1666285"/>
            <a:ext cx="1011912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94A3B8"/>
                </a:solidFill>
                <a:latin typeface="Calibri"/>
              </a:rPr>
              <a:t>SOURCE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8811" y="1980118"/>
            <a:ext cx="2697140" cy="1787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Order #84231 placed · 10:42:07 AM</a:t>
            </a:r>
          </a:p>
        </p:txBody>
      </p:sp>
      <p:sp>
        <p:nvSpPr>
          <p:cNvPr id="12" name="Freeform 11"/>
          <p:cNvSpPr/>
          <p:nvPr/>
        </p:nvSpPr>
        <p:spPr>
          <a:xfrm>
            <a:off x="2673240" y="2234365"/>
            <a:ext cx="3898988" cy="584848"/>
          </a:xfrm>
          <a:custGeom>
            <a:avLst/>
            <a:gdLst/>
            <a:ahLst/>
            <a:cxnLst/>
            <a:rect l="l" t="t" r="r" b="b"/>
            <a:pathLst>
              <a:path w="3898988" h="584848">
                <a:moveTo>
                  <a:pt x="3898988" y="0"/>
                </a:moveTo>
                <a:lnTo>
                  <a:pt x="3898988" y="259932"/>
                </a:lnTo>
                <a:lnTo>
                  <a:pt x="0" y="259932"/>
                </a:lnTo>
                <a:lnTo>
                  <a:pt x="0" y="584848"/>
                </a:lnTo>
              </a:path>
            </a:pathLst>
          </a:custGeom>
          <a:noFill/>
          <a:ln w="24368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6572228" y="2234365"/>
            <a:ext cx="3898989" cy="584848"/>
          </a:xfrm>
          <a:custGeom>
            <a:avLst/>
            <a:gdLst/>
            <a:ahLst/>
            <a:cxnLst/>
            <a:rect l="l" t="t" r="r" b="b"/>
            <a:pathLst>
              <a:path w="3898989" h="584848">
                <a:moveTo>
                  <a:pt x="0" y="0"/>
                </a:moveTo>
                <a:lnTo>
                  <a:pt x="0" y="259932"/>
                </a:lnTo>
                <a:lnTo>
                  <a:pt x="3898989" y="259932"/>
                </a:lnTo>
                <a:lnTo>
                  <a:pt x="3898989" y="584848"/>
                </a:lnTo>
              </a:path>
            </a:pathLst>
          </a:custGeom>
          <a:noFill/>
          <a:ln w="24368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61287" y="2770475"/>
            <a:ext cx="5361109" cy="5713079"/>
          </a:xfrm>
          <a:prstGeom prst="roundRect">
            <a:avLst>
              <a:gd name="adj" fmla="val 3200"/>
            </a:avLst>
          </a:prstGeom>
          <a:solidFill>
            <a:srgbClr val="FFF7ED"/>
          </a:solidFill>
          <a:ln w="1624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61287" y="2770476"/>
            <a:ext cx="5361109" cy="373653"/>
          </a:xfrm>
          <a:prstGeom prst="roundRect">
            <a:avLst>
              <a:gd name="adj" fmla="val 34782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1287" y="3014162"/>
            <a:ext cx="5361109" cy="12996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9991" y="2889882"/>
            <a:ext cx="3335974" cy="2339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CLASSIC ETL WORLD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0151" y="2890537"/>
            <a:ext cx="1433542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b="1" dirty="0">
                <a:solidFill>
                  <a:srgbClr val="FED7AA"/>
                </a:solidFill>
                <a:latin typeface="Calibri"/>
              </a:rPr>
              <a:t>"BEFORE 9 AM" SLA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974" y="3661052"/>
            <a:ext cx="747306" cy="2274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184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236" y="3725629"/>
            <a:ext cx="666783" cy="182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97" b="1">
                <a:solidFill>
                  <a:srgbClr val="D97706"/>
                </a:solidFill>
                <a:latin typeface="Calibri"/>
              </a:rPr>
              <a:t>10:42 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247" y="3654960"/>
            <a:ext cx="3739940" cy="2046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1E3A5F"/>
                </a:solidFill>
                <a:latin typeface="Calibri"/>
              </a:rPr>
              <a:t>Order written to OLTP (Oracle/SQL Server)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2247" y="3847472"/>
            <a:ext cx="927586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dirty="0">
                <a:solidFill>
                  <a:srgbClr val="475569"/>
                </a:solidFill>
                <a:latin typeface="Calibri"/>
              </a:rPr>
              <a:t>Sits there.</a:t>
            </a:r>
          </a:p>
        </p:txBody>
      </p:sp>
      <p:cxnSp>
        <p:nvCxnSpPr>
          <p:cNvPr id="23" name="Connector 22"/>
          <p:cNvCxnSpPr>
            <a:cxnSpLocks/>
            <a:stCxn id="20" idx="0"/>
            <a:endCxn id="25" idx="0"/>
          </p:cNvCxnSpPr>
          <p:nvPr/>
        </p:nvCxnSpPr>
        <p:spPr>
          <a:xfrm>
            <a:off x="1178628" y="3725629"/>
            <a:ext cx="0" cy="979710"/>
          </a:xfrm>
          <a:prstGeom prst="line">
            <a:avLst/>
          </a:prstGeom>
          <a:ln w="16245">
            <a:solidFill>
              <a:srgbClr val="D9770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4974" y="4640762"/>
            <a:ext cx="747306" cy="2274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184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5236" y="4705339"/>
            <a:ext cx="666783" cy="182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97" b="1">
                <a:solidFill>
                  <a:srgbClr val="B45309"/>
                </a:solidFill>
                <a:latin typeface="Calibri"/>
              </a:rPr>
              <a:t>02:00 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82247" y="4634670"/>
            <a:ext cx="4013594" cy="2046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Nightly ETL job kicks off (Informatica/SSIS)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82247" y="4827183"/>
            <a:ext cx="3120062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>
                <a:solidFill>
                  <a:srgbClr val="475569"/>
                </a:solidFill>
                <a:latin typeface="Calibri"/>
              </a:rPr>
              <a:t>Extract → Transform → Load. ~2 hours.</a:t>
            </a:r>
          </a:p>
        </p:txBody>
      </p:sp>
      <p:cxnSp>
        <p:nvCxnSpPr>
          <p:cNvPr id="28" name="Connector 27"/>
          <p:cNvCxnSpPr>
            <a:cxnSpLocks/>
            <a:endCxn id="29" idx="0"/>
          </p:cNvCxnSpPr>
          <p:nvPr/>
        </p:nvCxnSpPr>
        <p:spPr>
          <a:xfrm>
            <a:off x="1178627" y="4395054"/>
            <a:ext cx="0" cy="1315577"/>
          </a:xfrm>
          <a:prstGeom prst="line">
            <a:avLst/>
          </a:prstGeom>
          <a:ln w="16245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4974" y="5710631"/>
            <a:ext cx="747306" cy="2274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184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236" y="5775208"/>
            <a:ext cx="666783" cy="182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97" b="1" dirty="0">
                <a:solidFill>
                  <a:srgbClr val="B45309"/>
                </a:solidFill>
                <a:latin typeface="Calibri"/>
              </a:rPr>
              <a:t>04:00 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82247" y="5704538"/>
            <a:ext cx="4013594" cy="2046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Data warehouse refreshed (single fact table)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82247" y="5897051"/>
            <a:ext cx="2529780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>
                <a:solidFill>
                  <a:srgbClr val="475569"/>
                </a:solidFill>
                <a:latin typeface="Calibri"/>
              </a:rPr>
              <a:t>One destination. Tabular only.</a:t>
            </a:r>
          </a:p>
        </p:txBody>
      </p:sp>
      <p:cxnSp>
        <p:nvCxnSpPr>
          <p:cNvPr id="33" name="Connector 32"/>
          <p:cNvCxnSpPr>
            <a:cxnSpLocks/>
            <a:stCxn id="30" idx="2"/>
            <a:endCxn id="34" idx="0"/>
          </p:cNvCxnSpPr>
          <p:nvPr/>
        </p:nvCxnSpPr>
        <p:spPr>
          <a:xfrm flipH="1">
            <a:off x="1178627" y="5957488"/>
            <a:ext cx="1" cy="707100"/>
          </a:xfrm>
          <a:prstGeom prst="line">
            <a:avLst/>
          </a:prstGeom>
          <a:ln w="16245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04974" y="6664588"/>
            <a:ext cx="747306" cy="2274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184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5236" y="6729165"/>
            <a:ext cx="666783" cy="182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97" b="1">
                <a:solidFill>
                  <a:srgbClr val="B45309"/>
                </a:solidFill>
                <a:latin typeface="Calibri"/>
              </a:rPr>
              <a:t>08:00 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82247" y="6658496"/>
            <a:ext cx="2462887" cy="2046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Finance dashboard refreshed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82247" y="6851008"/>
            <a:ext cx="1096238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>
                <a:solidFill>
                  <a:srgbClr val="475569"/>
                </a:solidFill>
                <a:latin typeface="Calibri"/>
              </a:rPr>
              <a:t>One consumer.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7500" y="7641359"/>
            <a:ext cx="5068685" cy="454882"/>
          </a:xfrm>
          <a:prstGeom prst="roundRect">
            <a:avLst>
              <a:gd name="adj" fmla="val 17857"/>
            </a:avLst>
          </a:prstGeom>
          <a:solidFill>
            <a:srgbClr val="D97706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106684" y="7707154"/>
            <a:ext cx="2270316" cy="2037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RESULT  ·  18 HOURS LATER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877" y="7892762"/>
            <a:ext cx="4637931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FFF7ED"/>
                </a:solidFill>
                <a:latin typeface="Calibri"/>
              </a:rPr>
              <a:t>1 event  →  1 pipeline  →  1 destination  →  1 consumer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84855" y="2770475"/>
            <a:ext cx="6498314" cy="5713079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624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084855" y="2770476"/>
            <a:ext cx="6498314" cy="373653"/>
          </a:xfrm>
          <a:prstGeom prst="roundRect">
            <a:avLst>
              <a:gd name="adj" fmla="val 34782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084855" y="3014162"/>
            <a:ext cx="6498314" cy="12996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559" y="2855046"/>
            <a:ext cx="3246202" cy="2339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MODERN DATA ENGINEERING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5043" y="2879803"/>
            <a:ext cx="2083847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dirty="0">
                <a:solidFill>
                  <a:srgbClr val="A7F3D0"/>
                </a:solidFill>
                <a:latin typeface="Calibri"/>
              </a:rPr>
              <a:t>EVENT BUS  ·  same toolbox, 3 speeds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79804" y="3339078"/>
            <a:ext cx="958501" cy="4368073"/>
          </a:xfrm>
          <a:prstGeom prst="roundRect">
            <a:avLst>
              <a:gd name="adj" fmla="val 10169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7" name="TextBox 46"/>
          <p:cNvSpPr txBox="1"/>
          <p:nvPr/>
        </p:nvSpPr>
        <p:spPr>
          <a:xfrm>
            <a:off x="6392324" y="3458078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94A3B8"/>
                </a:solidFill>
                <a:latin typeface="Calibri"/>
              </a:rPr>
              <a:t>EVENT BUS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2024" y="3648560"/>
            <a:ext cx="454063" cy="2037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Kafka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92324" y="3841073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CBD5E1"/>
                </a:solidFill>
                <a:latin typeface="Calibri"/>
              </a:rPr>
              <a:t>/ Pub-Sub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2324" y="4036022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CBD5E1"/>
                </a:solidFill>
                <a:latin typeface="Calibri"/>
              </a:rPr>
              <a:t>/ Kinesis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17311" y="6024913"/>
            <a:ext cx="883488" cy="1610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dirty="0" err="1">
                <a:solidFill>
                  <a:srgbClr val="94A3B8"/>
                </a:solidFill>
                <a:latin typeface="Calibri"/>
              </a:rPr>
              <a:t>order.placed</a:t>
            </a:r>
            <a:endParaRPr sz="140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555316" y="6343138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dirty="0">
                <a:solidFill>
                  <a:srgbClr val="94A3B8"/>
                </a:solidFill>
                <a:latin typeface="Calibri"/>
              </a:rPr>
              <a:t>topic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238305" y="3631502"/>
            <a:ext cx="178704" cy="0"/>
          </a:xfrm>
          <a:prstGeom prst="line">
            <a:avLst/>
          </a:prstGeom>
          <a:ln w="20307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7465746" y="3371570"/>
            <a:ext cx="4824998" cy="519865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624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465746" y="3371570"/>
            <a:ext cx="958501" cy="519865"/>
          </a:xfrm>
          <a:prstGeom prst="roundRect">
            <a:avLst>
              <a:gd name="adj" fmla="val 15625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343019" y="3371570"/>
            <a:ext cx="81228" cy="51986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578266" y="3513720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STREAMING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100" y="3667243"/>
            <a:ext cx="583795" cy="2183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&lt;100ms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37968" y="3487321"/>
            <a:ext cx="2554105" cy="2046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Fraud check (Radar-style ML)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37968" y="3687956"/>
            <a:ext cx="2445454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→ Decline before page reloads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238305" y="4437331"/>
            <a:ext cx="178704" cy="0"/>
          </a:xfrm>
          <a:prstGeom prst="line">
            <a:avLst/>
          </a:prstGeom>
          <a:ln w="20307">
            <a:solidFill>
              <a:srgbClr val="3371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7465746" y="4177398"/>
            <a:ext cx="4824998" cy="519865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6245">
            <a:solidFill>
              <a:srgbClr val="3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7465746" y="4177398"/>
            <a:ext cx="958501" cy="519865"/>
          </a:xfrm>
          <a:prstGeom prst="roundRect">
            <a:avLst>
              <a:gd name="adj" fmla="val 15625"/>
            </a:avLst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343019" y="4177398"/>
            <a:ext cx="81228" cy="519865"/>
          </a:xfrm>
          <a:prstGeom prst="rect">
            <a:avLst/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578266" y="4319549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STREAMING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98947" y="4473071"/>
            <a:ext cx="292100" cy="2183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&lt;3s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37968" y="4293149"/>
            <a:ext cx="1641925" cy="2046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Customer 360 / CDP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37968" y="4493785"/>
            <a:ext cx="2867084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→ Marketing fires abandon-cart SMS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238305" y="5304119"/>
            <a:ext cx="178704" cy="0"/>
          </a:xfrm>
          <a:prstGeom prst="line">
            <a:avLst/>
          </a:prstGeom>
          <a:ln w="20307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7465746" y="5044186"/>
            <a:ext cx="4824998" cy="519865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624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7465746" y="5044186"/>
            <a:ext cx="958501" cy="519865"/>
          </a:xfrm>
          <a:prstGeom prst="roundRect">
            <a:avLst>
              <a:gd name="adj" fmla="val 15625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343019" y="5044186"/>
            <a:ext cx="81228" cy="51986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03253" y="5186337"/>
            <a:ext cx="883488" cy="1756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MICRO-BATCH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01749" y="5339860"/>
            <a:ext cx="486496" cy="2183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 min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37968" y="5159937"/>
            <a:ext cx="2098015" cy="2046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Personalization re-rank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37968" y="5360573"/>
            <a:ext cx="2529780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→ Next-product recos refreshed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238305" y="6178527"/>
            <a:ext cx="178704" cy="0"/>
          </a:xfrm>
          <a:prstGeom prst="line">
            <a:avLst/>
          </a:prstGeom>
          <a:ln w="20307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465746" y="5918595"/>
            <a:ext cx="4824998" cy="519865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624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7465746" y="5918595"/>
            <a:ext cx="958501" cy="519865"/>
          </a:xfrm>
          <a:prstGeom prst="roundRect">
            <a:avLst>
              <a:gd name="adj" fmla="val 15625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343019" y="5918595"/>
            <a:ext cx="81228" cy="51986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503253" y="6060745"/>
            <a:ext cx="883488" cy="1756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MICRO-BATCH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01749" y="6214268"/>
            <a:ext cx="486496" cy="2183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37968" y="6034346"/>
            <a:ext cx="1733143" cy="2046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Inventory rebalance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37968" y="6234981"/>
            <a:ext cx="2951410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→ SKU stock down; reorder if needed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238305" y="7083415"/>
            <a:ext cx="178704" cy="0"/>
          </a:xfrm>
          <a:prstGeom prst="line">
            <a:avLst/>
          </a:prstGeom>
          <a:ln w="20307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7465746" y="6823483"/>
            <a:ext cx="4824998" cy="519865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624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7465746" y="6823483"/>
            <a:ext cx="958501" cy="519865"/>
          </a:xfrm>
          <a:prstGeom prst="roundRect">
            <a:avLst>
              <a:gd name="adj" fmla="val 15625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343019" y="6815863"/>
            <a:ext cx="81228" cy="51986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741258" y="6965633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BATCH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04450" y="7119156"/>
            <a:ext cx="681094" cy="2183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nightly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37968" y="6939234"/>
            <a:ext cx="3101413" cy="2046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Warehouse + BI (the old job, kept)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37968" y="7139869"/>
            <a:ext cx="3035736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→ Same finance dashboard still works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231067" y="7722586"/>
            <a:ext cx="6205890" cy="645419"/>
          </a:xfrm>
          <a:prstGeom prst="roundRect">
            <a:avLst>
              <a:gd name="adj" fmla="val 17857"/>
            </a:avLst>
          </a:prstGeom>
          <a:solidFill>
            <a:srgbClr val="0F766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198854" y="7788383"/>
            <a:ext cx="2270316" cy="2037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RESULT  ·  WITHIN SECONDS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92324" y="8004271"/>
            <a:ext cx="58984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dirty="0">
                <a:solidFill>
                  <a:srgbClr val="ECFDF5"/>
                </a:solidFill>
                <a:latin typeface="Calibri"/>
              </a:rPr>
              <a:t>1 event  →  5 parallel pipelines  →  5 destinations  →  5 business outcomes  </a:t>
            </a:r>
            <a:br>
              <a:rPr lang="en-GB" sz="1100" dirty="0">
                <a:solidFill>
                  <a:srgbClr val="ECFDF5"/>
                </a:solidFill>
                <a:latin typeface="Calibri"/>
              </a:rPr>
            </a:br>
            <a:r>
              <a:rPr sz="1100" dirty="0">
                <a:solidFill>
                  <a:srgbClr val="ECFDF5"/>
                </a:solidFill>
                <a:latin typeface="Calibri"/>
              </a:rPr>
              <a:t>+  quality / lineage / SLAs across all of them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1287" y="8832737"/>
            <a:ext cx="674608" cy="189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dirty="0">
                <a:solidFill>
                  <a:srgbClr val="475569"/>
                </a:solidFill>
                <a:latin typeface="Calibri"/>
              </a:rPr>
              <a:t>TAKEAWAY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1287" y="8994797"/>
            <a:ext cx="11977075" cy="285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 dirty="0">
                <a:solidFill>
                  <a:srgbClr val="1E3A5F"/>
                </a:solidFill>
                <a:latin typeface="Calibri"/>
              </a:rPr>
              <a:t>ETL is one drawer. Data Engineering is the whole workshop — and the workshop runs in parallel.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08763" y="8661149"/>
            <a:ext cx="6112192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2000" i="1" dirty="0">
                <a:solidFill>
                  <a:srgbClr val="475569"/>
                </a:solidFill>
                <a:latin typeface="Calibri"/>
              </a:rPr>
              <a:t>Same Order #84231 · 5 outcomes within seconds vs 1 outcome the next morning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3578840" y="1714500"/>
            <a:ext cx="4183379" cy="6563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b="1">
                <a:solidFill>
                  <a:srgbClr val="0F766E"/>
                </a:solidFill>
                <a:latin typeface="Calibri"/>
              </a:rPr>
              <a:t>▸ </a:t>
            </a:r>
            <a:r>
              <a:rPr>
                <a:solidFill>
                  <a:srgbClr val="26456E"/>
                </a:solidFill>
                <a:latin typeface="Calibri"/>
              </a:rPr>
              <a:t>ETL world (2005): order lands → DB → nightly extract → warehouse next morning → report by lunch.</a:t>
            </a:r>
          </a:p>
          <a:p>
            <a:pPr algn="l">
              <a:spcAft>
                <a:spcPts val="900"/>
              </a:spcAft>
            </a:pPr>
            <a:r>
              <a:rPr b="1">
                <a:solidFill>
                  <a:srgbClr val="0F766E"/>
                </a:solidFill>
                <a:latin typeface="Calibri"/>
              </a:rPr>
              <a:t>▸ </a:t>
            </a:r>
            <a:r>
              <a:rPr>
                <a:solidFill>
                  <a:srgbClr val="26456E"/>
                </a:solidFill>
                <a:latin typeface="Calibri"/>
              </a:rPr>
              <a:t>DE world (2026): order → Kafka → real-time fraud + inventory + recommendation in &lt;100ms.</a:t>
            </a:r>
          </a:p>
          <a:p>
            <a:pPr algn="l">
              <a:spcAft>
                <a:spcPts val="900"/>
              </a:spcAft>
            </a:pPr>
            <a:r>
              <a:rPr b="1">
                <a:solidFill>
                  <a:srgbClr val="0F766E"/>
                </a:solidFill>
                <a:latin typeface="Calibri"/>
              </a:rPr>
              <a:t>▸ </a:t>
            </a:r>
            <a:r>
              <a:rPr>
                <a:solidFill>
                  <a:srgbClr val="26456E"/>
                </a:solidFill>
                <a:latin typeface="Calibri"/>
              </a:rPr>
              <a:t>Same event, same business value — 14 hours vs 100ms to decide.</a:t>
            </a:r>
          </a:p>
          <a:p>
            <a:pPr algn="l">
              <a:spcAft>
                <a:spcPts val="900"/>
              </a:spcAft>
            </a:pPr>
            <a:r>
              <a:rPr b="1">
                <a:solidFill>
                  <a:srgbClr val="0F766E"/>
                </a:solidFill>
                <a:latin typeface="Calibri"/>
              </a:rPr>
              <a:t>▸ </a:t>
            </a:r>
            <a:r>
              <a:rPr>
                <a:solidFill>
                  <a:srgbClr val="26456E"/>
                </a:solidFill>
                <a:latin typeface="Calibri"/>
              </a:rPr>
              <a:t>Difference is not technology. It's architecture and team shape.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3578840" y="7135871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The same order is a daily report in ETL — and five live decisions in 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8" y="1463085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Three Processing Speeds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one cost curve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338" y="2960809"/>
            <a:ext cx="4016276" cy="492906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7383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2091362" y="2952836"/>
            <a:ext cx="976228" cy="4381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200" b="1" dirty="0">
                <a:solidFill>
                  <a:srgbClr val="0F766E"/>
                </a:solidFill>
                <a:latin typeface="Calibri"/>
              </a:rPr>
              <a:t>Batch</a:t>
            </a:r>
          </a:p>
        </p:txBody>
      </p:sp>
      <p:sp>
        <p:nvSpPr>
          <p:cNvPr id="11" name="Freeform 10"/>
          <p:cNvSpPr/>
          <p:nvPr/>
        </p:nvSpPr>
        <p:spPr>
          <a:xfrm>
            <a:off x="1392849" y="3599762"/>
            <a:ext cx="2373254" cy="1186627"/>
          </a:xfrm>
          <a:custGeom>
            <a:avLst/>
            <a:gdLst/>
            <a:ahLst/>
            <a:cxnLst/>
            <a:rect l="l" t="t" r="r" b="b"/>
            <a:pathLst>
              <a:path w="2373254" h="1186627">
                <a:moveTo>
                  <a:pt x="0" y="1186627"/>
                </a:moveTo>
                <a:lnTo>
                  <a:pt x="10151" y="1031741"/>
                </a:lnTo>
                <a:lnTo>
                  <a:pt x="40433" y="879505"/>
                </a:lnTo>
                <a:lnTo>
                  <a:pt x="90326" y="732524"/>
                </a:lnTo>
                <a:lnTo>
                  <a:pt x="158977" y="593313"/>
                </a:lnTo>
                <a:lnTo>
                  <a:pt x="245212" y="464254"/>
                </a:lnTo>
                <a:lnTo>
                  <a:pt x="347555" y="347555"/>
                </a:lnTo>
                <a:lnTo>
                  <a:pt x="464254" y="245212"/>
                </a:lnTo>
                <a:lnTo>
                  <a:pt x="593313" y="158977"/>
                </a:lnTo>
                <a:lnTo>
                  <a:pt x="732524" y="90326"/>
                </a:lnTo>
                <a:lnTo>
                  <a:pt x="879505" y="40433"/>
                </a:lnTo>
                <a:lnTo>
                  <a:pt x="1031741" y="10151"/>
                </a:lnTo>
                <a:lnTo>
                  <a:pt x="1186627" y="0"/>
                </a:lnTo>
                <a:lnTo>
                  <a:pt x="1341513" y="10151"/>
                </a:lnTo>
                <a:lnTo>
                  <a:pt x="1493748" y="40433"/>
                </a:lnTo>
                <a:lnTo>
                  <a:pt x="1640729" y="90326"/>
                </a:lnTo>
                <a:lnTo>
                  <a:pt x="1779940" y="158977"/>
                </a:lnTo>
                <a:lnTo>
                  <a:pt x="1908999" y="245212"/>
                </a:lnTo>
                <a:lnTo>
                  <a:pt x="2025699" y="347555"/>
                </a:lnTo>
                <a:lnTo>
                  <a:pt x="2128041" y="464254"/>
                </a:lnTo>
                <a:lnTo>
                  <a:pt x="2214276" y="593313"/>
                </a:lnTo>
                <a:lnTo>
                  <a:pt x="2282927" y="732524"/>
                </a:lnTo>
                <a:lnTo>
                  <a:pt x="2332820" y="879505"/>
                </a:lnTo>
                <a:lnTo>
                  <a:pt x="2363102" y="1031741"/>
                </a:lnTo>
                <a:lnTo>
                  <a:pt x="2373254" y="1186627"/>
                </a:lnTo>
              </a:path>
            </a:pathLst>
          </a:custGeom>
          <a:noFill/>
          <a:ln w="200813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Freeform 11"/>
          <p:cNvSpPr/>
          <p:nvPr/>
        </p:nvSpPr>
        <p:spPr>
          <a:xfrm>
            <a:off x="1392849" y="4247843"/>
            <a:ext cx="129616" cy="538546"/>
          </a:xfrm>
          <a:custGeom>
            <a:avLst/>
            <a:gdLst/>
            <a:ahLst/>
            <a:cxnLst/>
            <a:rect l="l" t="t" r="r" b="b"/>
            <a:pathLst>
              <a:path w="129616" h="538546">
                <a:moveTo>
                  <a:pt x="0" y="538546"/>
                </a:moveTo>
                <a:lnTo>
                  <a:pt x="242" y="515252"/>
                </a:lnTo>
                <a:lnTo>
                  <a:pt x="942" y="491968"/>
                </a:lnTo>
                <a:lnTo>
                  <a:pt x="2099" y="468702"/>
                </a:lnTo>
                <a:lnTo>
                  <a:pt x="3713" y="445463"/>
                </a:lnTo>
                <a:lnTo>
                  <a:pt x="5782" y="422261"/>
                </a:lnTo>
                <a:lnTo>
                  <a:pt x="8307" y="399103"/>
                </a:lnTo>
                <a:lnTo>
                  <a:pt x="11285" y="376000"/>
                </a:lnTo>
                <a:lnTo>
                  <a:pt x="14717" y="352959"/>
                </a:lnTo>
                <a:lnTo>
                  <a:pt x="18600" y="329991"/>
                </a:lnTo>
                <a:lnTo>
                  <a:pt x="22933" y="307102"/>
                </a:lnTo>
                <a:lnTo>
                  <a:pt x="27715" y="284304"/>
                </a:lnTo>
                <a:lnTo>
                  <a:pt x="32943" y="261603"/>
                </a:lnTo>
                <a:lnTo>
                  <a:pt x="38616" y="239010"/>
                </a:lnTo>
                <a:lnTo>
                  <a:pt x="44731" y="216532"/>
                </a:lnTo>
                <a:lnTo>
                  <a:pt x="51287" y="194179"/>
                </a:lnTo>
                <a:lnTo>
                  <a:pt x="58280" y="171959"/>
                </a:lnTo>
                <a:lnTo>
                  <a:pt x="65707" y="149880"/>
                </a:lnTo>
                <a:lnTo>
                  <a:pt x="73567" y="127951"/>
                </a:lnTo>
                <a:lnTo>
                  <a:pt x="81856" y="106181"/>
                </a:lnTo>
                <a:lnTo>
                  <a:pt x="90570" y="84578"/>
                </a:lnTo>
                <a:lnTo>
                  <a:pt x="99707" y="63150"/>
                </a:lnTo>
                <a:lnTo>
                  <a:pt x="109263" y="41905"/>
                </a:lnTo>
                <a:lnTo>
                  <a:pt x="119234" y="20853"/>
                </a:lnTo>
                <a:lnTo>
                  <a:pt x="129616" y="0"/>
                </a:lnTo>
              </a:path>
            </a:pathLst>
          </a:custGeom>
          <a:noFill/>
          <a:ln w="200813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1603703" y="4288918"/>
            <a:ext cx="975773" cy="497471"/>
          </a:xfrm>
          <a:prstGeom prst="line">
            <a:avLst/>
          </a:prstGeom>
          <a:ln w="45639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488197" y="4695110"/>
            <a:ext cx="182558" cy="182558"/>
          </a:xfrm>
          <a:prstGeom prst="ellipse">
            <a:avLst/>
          </a:prstGeom>
          <a:solidFill>
            <a:srgbClr val="26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1484128" y="4951604"/>
            <a:ext cx="382681" cy="21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475569"/>
                </a:solidFill>
                <a:latin typeface="Calibri"/>
              </a:rPr>
              <a:t>slow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2266" y="4951604"/>
            <a:ext cx="382681" cy="21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475569"/>
                </a:solidFill>
                <a:latin typeface="Calibri"/>
              </a:rPr>
              <a:t>fast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0395" y="5437208"/>
            <a:ext cx="1718163" cy="32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26456E"/>
                </a:solidFill>
                <a:latin typeface="Calibri"/>
              </a:rPr>
              <a:t>Hours –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8443" y="5763333"/>
            <a:ext cx="1722067" cy="21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dirty="0">
                <a:solidFill>
                  <a:srgbClr val="475569"/>
                </a:solidFill>
                <a:latin typeface="Calibri"/>
              </a:rPr>
              <a:t>end-to-end latency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175" y="6977085"/>
            <a:ext cx="3468602" cy="730232"/>
          </a:xfrm>
          <a:prstGeom prst="roundRect">
            <a:avLst>
              <a:gd name="adj" fmla="val 15000"/>
            </a:avLst>
          </a:prstGeom>
          <a:solidFill>
            <a:srgbClr val="0F766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1977031" y="7154166"/>
            <a:ext cx="292100" cy="5257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400" b="1">
                <a:solidFill>
                  <a:srgbClr val="0F766E"/>
                </a:solidFill>
                <a:latin typeface="Calibri"/>
              </a:rPr>
              <a:t>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673" y="7215323"/>
            <a:ext cx="956704" cy="21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Calibri"/>
              </a:rPr>
              <a:t>infra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673" y="7405640"/>
            <a:ext cx="977205" cy="1993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per insight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175" y="6064295"/>
            <a:ext cx="3468602" cy="547674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4" name="TextBox 23"/>
          <p:cNvSpPr txBox="1"/>
          <p:nvPr/>
        </p:nvSpPr>
        <p:spPr>
          <a:xfrm>
            <a:off x="2179711" y="6145989"/>
            <a:ext cx="799531" cy="1993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USE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576" y="6350911"/>
            <a:ext cx="3019801" cy="23367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Reports · Billing · Backfills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2730" y="2960809"/>
            <a:ext cx="4016276" cy="492906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7383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TextBox 26"/>
          <p:cNvSpPr txBox="1"/>
          <p:nvPr/>
        </p:nvSpPr>
        <p:spPr>
          <a:xfrm>
            <a:off x="5887017" y="2967875"/>
            <a:ext cx="2147703" cy="4381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200" b="1" dirty="0">
                <a:solidFill>
                  <a:srgbClr val="D97706"/>
                </a:solidFill>
                <a:latin typeface="Calibri"/>
              </a:rPr>
              <a:t>Micro-batch</a:t>
            </a:r>
          </a:p>
        </p:txBody>
      </p:sp>
      <p:sp>
        <p:nvSpPr>
          <p:cNvPr id="28" name="Freeform 27"/>
          <p:cNvSpPr/>
          <p:nvPr/>
        </p:nvSpPr>
        <p:spPr>
          <a:xfrm>
            <a:off x="5774241" y="3599762"/>
            <a:ext cx="2373254" cy="1186627"/>
          </a:xfrm>
          <a:custGeom>
            <a:avLst/>
            <a:gdLst/>
            <a:ahLst/>
            <a:cxnLst/>
            <a:rect l="l" t="t" r="r" b="b"/>
            <a:pathLst>
              <a:path w="2373254" h="1186627">
                <a:moveTo>
                  <a:pt x="0" y="1186627"/>
                </a:moveTo>
                <a:lnTo>
                  <a:pt x="10152" y="1031741"/>
                </a:lnTo>
                <a:lnTo>
                  <a:pt x="40433" y="879505"/>
                </a:lnTo>
                <a:lnTo>
                  <a:pt x="90327" y="732524"/>
                </a:lnTo>
                <a:lnTo>
                  <a:pt x="158978" y="593313"/>
                </a:lnTo>
                <a:lnTo>
                  <a:pt x="245212" y="464254"/>
                </a:lnTo>
                <a:lnTo>
                  <a:pt x="347555" y="347555"/>
                </a:lnTo>
                <a:lnTo>
                  <a:pt x="464254" y="245212"/>
                </a:lnTo>
                <a:lnTo>
                  <a:pt x="593313" y="158977"/>
                </a:lnTo>
                <a:lnTo>
                  <a:pt x="732524" y="90326"/>
                </a:lnTo>
                <a:lnTo>
                  <a:pt x="879505" y="40433"/>
                </a:lnTo>
                <a:lnTo>
                  <a:pt x="1031741" y="10151"/>
                </a:lnTo>
                <a:lnTo>
                  <a:pt x="1186627" y="0"/>
                </a:lnTo>
                <a:lnTo>
                  <a:pt x="1341513" y="10151"/>
                </a:lnTo>
                <a:lnTo>
                  <a:pt x="1493749" y="40433"/>
                </a:lnTo>
                <a:lnTo>
                  <a:pt x="1640730" y="90326"/>
                </a:lnTo>
                <a:lnTo>
                  <a:pt x="1779941" y="158977"/>
                </a:lnTo>
                <a:lnTo>
                  <a:pt x="1909000" y="245212"/>
                </a:lnTo>
                <a:lnTo>
                  <a:pt x="2025699" y="347555"/>
                </a:lnTo>
                <a:lnTo>
                  <a:pt x="2128042" y="464254"/>
                </a:lnTo>
                <a:lnTo>
                  <a:pt x="2214276" y="593313"/>
                </a:lnTo>
                <a:lnTo>
                  <a:pt x="2282927" y="732524"/>
                </a:lnTo>
                <a:lnTo>
                  <a:pt x="2332821" y="879505"/>
                </a:lnTo>
                <a:lnTo>
                  <a:pt x="2363102" y="1031741"/>
                </a:lnTo>
                <a:lnTo>
                  <a:pt x="2373254" y="1186627"/>
                </a:lnTo>
              </a:path>
            </a:pathLst>
          </a:custGeom>
          <a:noFill/>
          <a:ln w="200813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9" name="Freeform 28"/>
          <p:cNvSpPr/>
          <p:nvPr/>
        </p:nvSpPr>
        <p:spPr>
          <a:xfrm>
            <a:off x="5774241" y="3599907"/>
            <a:ext cx="1371923" cy="1186482"/>
          </a:xfrm>
          <a:custGeom>
            <a:avLst/>
            <a:gdLst/>
            <a:ahLst/>
            <a:cxnLst/>
            <a:rect l="l" t="t" r="r" b="b"/>
            <a:pathLst>
              <a:path w="1371923" h="1186482">
                <a:moveTo>
                  <a:pt x="0" y="1186482"/>
                </a:moveTo>
                <a:lnTo>
                  <a:pt x="3076" y="1101141"/>
                </a:lnTo>
                <a:lnTo>
                  <a:pt x="12282" y="1016242"/>
                </a:lnTo>
                <a:lnTo>
                  <a:pt x="27570" y="932225"/>
                </a:lnTo>
                <a:lnTo>
                  <a:pt x="48861" y="849525"/>
                </a:lnTo>
                <a:lnTo>
                  <a:pt x="76044" y="768570"/>
                </a:lnTo>
                <a:lnTo>
                  <a:pt x="108979" y="689781"/>
                </a:lnTo>
                <a:lnTo>
                  <a:pt x="147496" y="613563"/>
                </a:lnTo>
                <a:lnTo>
                  <a:pt x="191394" y="540314"/>
                </a:lnTo>
                <a:lnTo>
                  <a:pt x="240447" y="470411"/>
                </a:lnTo>
                <a:lnTo>
                  <a:pt x="294399" y="404217"/>
                </a:lnTo>
                <a:lnTo>
                  <a:pt x="352973" y="342074"/>
                </a:lnTo>
                <a:lnTo>
                  <a:pt x="415864" y="284305"/>
                </a:lnTo>
                <a:lnTo>
                  <a:pt x="482748" y="231209"/>
                </a:lnTo>
                <a:lnTo>
                  <a:pt x="553276" y="183060"/>
                </a:lnTo>
                <a:lnTo>
                  <a:pt x="627085" y="140109"/>
                </a:lnTo>
                <a:lnTo>
                  <a:pt x="703792" y="102577"/>
                </a:lnTo>
                <a:lnTo>
                  <a:pt x="782999" y="70659"/>
                </a:lnTo>
                <a:lnTo>
                  <a:pt x="864297" y="44520"/>
                </a:lnTo>
                <a:lnTo>
                  <a:pt x="947264" y="24295"/>
                </a:lnTo>
                <a:lnTo>
                  <a:pt x="1031470" y="10090"/>
                </a:lnTo>
                <a:lnTo>
                  <a:pt x="1116481" y="1978"/>
                </a:lnTo>
                <a:lnTo>
                  <a:pt x="1201854" y="0"/>
                </a:lnTo>
                <a:lnTo>
                  <a:pt x="1287149" y="4168"/>
                </a:lnTo>
                <a:lnTo>
                  <a:pt x="1371923" y="14459"/>
                </a:lnTo>
              </a:path>
            </a:pathLst>
          </a:custGeom>
          <a:noFill/>
          <a:ln w="200813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cxnSp>
        <p:nvCxnSpPr>
          <p:cNvPr id="30" name="Connector 29"/>
          <p:cNvCxnSpPr/>
          <p:nvPr/>
        </p:nvCxnSpPr>
        <p:spPr>
          <a:xfrm flipV="1">
            <a:off x="6960868" y="3704732"/>
            <a:ext cx="171605" cy="1081657"/>
          </a:xfrm>
          <a:prstGeom prst="line">
            <a:avLst/>
          </a:prstGeom>
          <a:ln w="45639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869589" y="4695110"/>
            <a:ext cx="182558" cy="182558"/>
          </a:xfrm>
          <a:prstGeom prst="ellipse">
            <a:avLst/>
          </a:prstGeom>
          <a:solidFill>
            <a:srgbClr val="26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2" name="TextBox 31"/>
          <p:cNvSpPr txBox="1"/>
          <p:nvPr/>
        </p:nvSpPr>
        <p:spPr>
          <a:xfrm>
            <a:off x="5865520" y="4951604"/>
            <a:ext cx="382681" cy="21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475569"/>
                </a:solidFill>
                <a:latin typeface="Calibri"/>
              </a:rPr>
              <a:t>slow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3658" y="4951604"/>
            <a:ext cx="382681" cy="21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475569"/>
                </a:solidFill>
                <a:latin typeface="Calibri"/>
              </a:rPr>
              <a:t>fast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43836" y="5437208"/>
            <a:ext cx="2434064" cy="32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26456E"/>
                </a:solidFill>
                <a:latin typeface="Calibri"/>
              </a:rPr>
              <a:t>Seconds – Minutes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835" y="5763333"/>
            <a:ext cx="1722067" cy="21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end-to-end latency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26567" y="6977085"/>
            <a:ext cx="3468602" cy="730232"/>
          </a:xfrm>
          <a:prstGeom prst="roundRect">
            <a:avLst>
              <a:gd name="adj" fmla="val 15000"/>
            </a:avLst>
          </a:prstGeom>
          <a:solidFill>
            <a:srgbClr val="D9770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7" name="TextBox 36"/>
          <p:cNvSpPr txBox="1"/>
          <p:nvPr/>
        </p:nvSpPr>
        <p:spPr>
          <a:xfrm>
            <a:off x="6270179" y="7154166"/>
            <a:ext cx="468589" cy="5257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400" b="1">
                <a:solidFill>
                  <a:srgbClr val="D97706"/>
                </a:solidFill>
                <a:latin typeface="Calibri"/>
              </a:rPr>
              <a:t>$$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9066" y="7215323"/>
            <a:ext cx="956704" cy="21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Calibri"/>
              </a:rPr>
              <a:t>infra 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89066" y="7405640"/>
            <a:ext cx="977205" cy="1993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per insight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26567" y="6064295"/>
            <a:ext cx="3468602" cy="547674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1" name="TextBox 40"/>
          <p:cNvSpPr txBox="1"/>
          <p:nvPr/>
        </p:nvSpPr>
        <p:spPr>
          <a:xfrm>
            <a:off x="6561103" y="6145989"/>
            <a:ext cx="799531" cy="1993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USE CASES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23688" y="6350911"/>
            <a:ext cx="3274361" cy="2237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Dashboards · Near-real-time KPIs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34122" y="2960809"/>
            <a:ext cx="4016276" cy="492906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7383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4" name="TextBox 43"/>
          <p:cNvSpPr txBox="1"/>
          <p:nvPr/>
        </p:nvSpPr>
        <p:spPr>
          <a:xfrm>
            <a:off x="10463654" y="2967875"/>
            <a:ext cx="1757212" cy="4381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200" b="1" dirty="0">
                <a:solidFill>
                  <a:srgbClr val="EA580C"/>
                </a:solidFill>
                <a:latin typeface="Calibri"/>
              </a:rPr>
              <a:t>Streaming</a:t>
            </a:r>
          </a:p>
        </p:txBody>
      </p:sp>
      <p:sp>
        <p:nvSpPr>
          <p:cNvPr id="45" name="Freeform 44"/>
          <p:cNvSpPr/>
          <p:nvPr/>
        </p:nvSpPr>
        <p:spPr>
          <a:xfrm>
            <a:off x="10155633" y="3599762"/>
            <a:ext cx="2373254" cy="1186627"/>
          </a:xfrm>
          <a:custGeom>
            <a:avLst/>
            <a:gdLst/>
            <a:ahLst/>
            <a:cxnLst/>
            <a:rect l="l" t="t" r="r" b="b"/>
            <a:pathLst>
              <a:path w="2373254" h="1186627">
                <a:moveTo>
                  <a:pt x="0" y="1186627"/>
                </a:moveTo>
                <a:lnTo>
                  <a:pt x="10152" y="1031741"/>
                </a:lnTo>
                <a:lnTo>
                  <a:pt x="40434" y="879505"/>
                </a:lnTo>
                <a:lnTo>
                  <a:pt x="90327" y="732524"/>
                </a:lnTo>
                <a:lnTo>
                  <a:pt x="158978" y="593313"/>
                </a:lnTo>
                <a:lnTo>
                  <a:pt x="245213" y="464254"/>
                </a:lnTo>
                <a:lnTo>
                  <a:pt x="347555" y="347555"/>
                </a:lnTo>
                <a:lnTo>
                  <a:pt x="464255" y="245212"/>
                </a:lnTo>
                <a:lnTo>
                  <a:pt x="593314" y="158977"/>
                </a:lnTo>
                <a:lnTo>
                  <a:pt x="732525" y="90326"/>
                </a:lnTo>
                <a:lnTo>
                  <a:pt x="879506" y="40433"/>
                </a:lnTo>
                <a:lnTo>
                  <a:pt x="1031741" y="10151"/>
                </a:lnTo>
                <a:lnTo>
                  <a:pt x="1186627" y="0"/>
                </a:lnTo>
                <a:lnTo>
                  <a:pt x="1341513" y="10151"/>
                </a:lnTo>
                <a:lnTo>
                  <a:pt x="1493749" y="40433"/>
                </a:lnTo>
                <a:lnTo>
                  <a:pt x="1640730" y="90326"/>
                </a:lnTo>
                <a:lnTo>
                  <a:pt x="1779941" y="158977"/>
                </a:lnTo>
                <a:lnTo>
                  <a:pt x="1909000" y="245212"/>
                </a:lnTo>
                <a:lnTo>
                  <a:pt x="2025699" y="347555"/>
                </a:lnTo>
                <a:lnTo>
                  <a:pt x="2128042" y="464254"/>
                </a:lnTo>
                <a:lnTo>
                  <a:pt x="2214277" y="593313"/>
                </a:lnTo>
                <a:lnTo>
                  <a:pt x="2282928" y="732524"/>
                </a:lnTo>
                <a:lnTo>
                  <a:pt x="2332821" y="879505"/>
                </a:lnTo>
                <a:lnTo>
                  <a:pt x="2363103" y="1031741"/>
                </a:lnTo>
                <a:lnTo>
                  <a:pt x="2373254" y="1186627"/>
                </a:lnTo>
              </a:path>
            </a:pathLst>
          </a:custGeom>
          <a:noFill/>
          <a:ln w="200813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6" name="Freeform 45"/>
          <p:cNvSpPr/>
          <p:nvPr/>
        </p:nvSpPr>
        <p:spPr>
          <a:xfrm>
            <a:off x="10155633" y="3600609"/>
            <a:ext cx="2335830" cy="1185780"/>
          </a:xfrm>
          <a:custGeom>
            <a:avLst/>
            <a:gdLst/>
            <a:ahLst/>
            <a:cxnLst/>
            <a:rect l="l" t="t" r="r" b="b"/>
            <a:pathLst>
              <a:path w="2335830" h="1185780">
                <a:moveTo>
                  <a:pt x="0" y="1185780"/>
                </a:moveTo>
                <a:lnTo>
                  <a:pt x="8687" y="1043286"/>
                </a:lnTo>
                <a:lnTo>
                  <a:pt x="34423" y="902868"/>
                </a:lnTo>
                <a:lnTo>
                  <a:pt x="76836" y="766555"/>
                </a:lnTo>
                <a:lnTo>
                  <a:pt x="135310" y="636323"/>
                </a:lnTo>
                <a:lnTo>
                  <a:pt x="209001" y="514055"/>
                </a:lnTo>
                <a:lnTo>
                  <a:pt x="296842" y="401521"/>
                </a:lnTo>
                <a:lnTo>
                  <a:pt x="397560" y="300350"/>
                </a:lnTo>
                <a:lnTo>
                  <a:pt x="509700" y="212007"/>
                </a:lnTo>
                <a:lnTo>
                  <a:pt x="631636" y="137769"/>
                </a:lnTo>
                <a:lnTo>
                  <a:pt x="761606" y="78712"/>
                </a:lnTo>
                <a:lnTo>
                  <a:pt x="897726" y="35690"/>
                </a:lnTo>
                <a:lnTo>
                  <a:pt x="1038029" y="9325"/>
                </a:lnTo>
                <a:lnTo>
                  <a:pt x="1180482" y="0"/>
                </a:lnTo>
                <a:lnTo>
                  <a:pt x="1323023" y="7849"/>
                </a:lnTo>
                <a:lnTo>
                  <a:pt x="1463591" y="32759"/>
                </a:lnTo>
                <a:lnTo>
                  <a:pt x="1600150" y="74369"/>
                </a:lnTo>
                <a:lnTo>
                  <a:pt x="1730724" y="132077"/>
                </a:lnTo>
                <a:lnTo>
                  <a:pt x="1853423" y="205048"/>
                </a:lnTo>
                <a:lnTo>
                  <a:pt x="1966472" y="292225"/>
                </a:lnTo>
                <a:lnTo>
                  <a:pt x="2068233" y="392347"/>
                </a:lnTo>
                <a:lnTo>
                  <a:pt x="2157234" y="503965"/>
                </a:lnTo>
                <a:lnTo>
                  <a:pt x="2232188" y="625463"/>
                </a:lnTo>
                <a:lnTo>
                  <a:pt x="2292008" y="755083"/>
                </a:lnTo>
                <a:lnTo>
                  <a:pt x="2335830" y="890948"/>
                </a:lnTo>
              </a:path>
            </a:pathLst>
          </a:custGeom>
          <a:noFill/>
          <a:ln w="200813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cxnSp>
        <p:nvCxnSpPr>
          <p:cNvPr id="47" name="Connector 46"/>
          <p:cNvCxnSpPr/>
          <p:nvPr/>
        </p:nvCxnSpPr>
        <p:spPr>
          <a:xfrm flipV="1">
            <a:off x="11342260" y="4514377"/>
            <a:ext cx="1060662" cy="272012"/>
          </a:xfrm>
          <a:prstGeom prst="line">
            <a:avLst/>
          </a:prstGeom>
          <a:ln w="45639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1250981" y="4695110"/>
            <a:ext cx="182558" cy="182558"/>
          </a:xfrm>
          <a:prstGeom prst="ellipse">
            <a:avLst/>
          </a:prstGeom>
          <a:solidFill>
            <a:srgbClr val="26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9" name="TextBox 48"/>
          <p:cNvSpPr txBox="1"/>
          <p:nvPr/>
        </p:nvSpPr>
        <p:spPr>
          <a:xfrm>
            <a:off x="10246912" y="4951604"/>
            <a:ext cx="382681" cy="21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475569"/>
                </a:solidFill>
                <a:latin typeface="Calibri"/>
              </a:rPr>
              <a:t>slow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255050" y="4951604"/>
            <a:ext cx="382681" cy="21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475569"/>
                </a:solidFill>
                <a:latin typeface="Calibri"/>
              </a:rPr>
              <a:t>fast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83179" y="5437208"/>
            <a:ext cx="1718163" cy="32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26456E"/>
                </a:solidFill>
                <a:latin typeface="Calibri"/>
              </a:rPr>
              <a:t>Milliseconds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81227" y="5763333"/>
            <a:ext cx="1722067" cy="21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end-to-end latency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07959" y="6977085"/>
            <a:ext cx="3468602" cy="730232"/>
          </a:xfrm>
          <a:prstGeom prst="roundRect">
            <a:avLst>
              <a:gd name="adj" fmla="val 15000"/>
            </a:avLst>
          </a:prstGeom>
          <a:solidFill>
            <a:srgbClr val="EA580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4" name="TextBox 53"/>
          <p:cNvSpPr txBox="1"/>
          <p:nvPr/>
        </p:nvSpPr>
        <p:spPr>
          <a:xfrm>
            <a:off x="10534423" y="7154166"/>
            <a:ext cx="702884" cy="5257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400" b="1">
                <a:solidFill>
                  <a:srgbClr val="EA580C"/>
                </a:solidFill>
                <a:latin typeface="Calibri"/>
              </a:rPr>
              <a:t>$$$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70458" y="7215323"/>
            <a:ext cx="956704" cy="21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Calibri"/>
              </a:rPr>
              <a:t>infra cost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70458" y="7405640"/>
            <a:ext cx="977205" cy="1993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per insight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07959" y="6064295"/>
            <a:ext cx="3468602" cy="547674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8" name="TextBox 57"/>
          <p:cNvSpPr txBox="1"/>
          <p:nvPr/>
        </p:nvSpPr>
        <p:spPr>
          <a:xfrm>
            <a:off x="10942495" y="6145989"/>
            <a:ext cx="799531" cy="1993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USE CASES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32360" y="6350911"/>
            <a:ext cx="3019801" cy="23367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Fraud · IoT · Personalization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8429" y="8266857"/>
            <a:ext cx="11024879" cy="32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 dirty="0">
                <a:solidFill>
                  <a:srgbClr val="115E59"/>
                </a:solidFill>
                <a:latin typeface="Calibri"/>
              </a:rPr>
              <a:t>Faster ≠ Better. Faster = More expensive. Match speed to the decision window.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578840" y="1714499"/>
            <a:ext cx="4183379" cy="655235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Streaming (&lt;1s) — most expensive per GB. For decisions humans can't wait for.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Micro-batch (1s–5min) — sweet spot for most ML serving. 10-30x cheaper than streaming.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Batch (hours–days) — cheapest. For analytics, training, regulatory reports.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Same workload, three speeds → costs can vary 100x.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3597890" y="7095827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 dirty="0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Picking the wrong speed is the single most expensive architecture mistake teams make.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2631" y="1434001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Cloud Service Map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AWS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|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Azure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|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GCP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8837" y="1803278"/>
            <a:ext cx="4083797" cy="6837802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26633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8837" y="1803278"/>
            <a:ext cx="4083797" cy="710225"/>
          </a:xfrm>
          <a:prstGeom prst="roundRect">
            <a:avLst>
              <a:gd name="adj" fmla="val 25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8837" y="2247169"/>
            <a:ext cx="4083797" cy="26633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06902" y="2050081"/>
            <a:ext cx="607669" cy="454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236" b="1">
                <a:solidFill>
                  <a:srgbClr val="FFFFFF"/>
                </a:solidFill>
                <a:latin typeface="Calibri"/>
              </a:rPr>
              <a:t>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5371" y="2739587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835171" y="2811498"/>
            <a:ext cx="558295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475569"/>
                </a:solidFill>
                <a:latin typeface="Calibri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71" y="2994381"/>
            <a:ext cx="1481193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Kinesis · DMS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5371" y="3566896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835171" y="3638807"/>
            <a:ext cx="651345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475569"/>
                </a:solidFill>
                <a:latin typeface="Calibri"/>
              </a:rP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71" y="3821691"/>
            <a:ext cx="292100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S3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5371" y="4394205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835171" y="4466117"/>
            <a:ext cx="930493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171" y="4649000"/>
            <a:ext cx="1139379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EMR · Glue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5371" y="5234581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835171" y="5306492"/>
            <a:ext cx="837443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475569"/>
                </a:solidFill>
                <a:latin typeface="Calibri"/>
              </a:rPr>
              <a:t>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171" y="5489375"/>
            <a:ext cx="1481193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Kinesis · MSK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5371" y="6047902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835171" y="6119813"/>
            <a:ext cx="837443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WAREHOUSE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171" y="6302696"/>
            <a:ext cx="911503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Redshift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5371" y="6862532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835171" y="6934443"/>
            <a:ext cx="1023542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ORCHESTRATE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171" y="7117327"/>
            <a:ext cx="1595131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MWAA · Step Fn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5371" y="7704916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835171" y="7776828"/>
            <a:ext cx="930493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BI / 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171" y="7959711"/>
            <a:ext cx="1139379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QuickSight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18969" y="1803278"/>
            <a:ext cx="4083797" cy="6837802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26633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918969" y="1803278"/>
            <a:ext cx="4083797" cy="710225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918969" y="2247169"/>
            <a:ext cx="4083797" cy="26633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54478" y="2050081"/>
            <a:ext cx="1012781" cy="454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236" b="1">
                <a:solidFill>
                  <a:srgbClr val="FFFFFF"/>
                </a:solidFill>
                <a:latin typeface="Calibri"/>
              </a:rPr>
              <a:t>Azure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5503" y="2739587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9" name="TextBox 38"/>
          <p:cNvSpPr txBox="1"/>
          <p:nvPr/>
        </p:nvSpPr>
        <p:spPr>
          <a:xfrm>
            <a:off x="5185304" y="2811498"/>
            <a:ext cx="558295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INGEST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5304" y="2994381"/>
            <a:ext cx="1709069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Event Hub · ADF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5503" y="3566896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2" name="TextBox 41"/>
          <p:cNvSpPr txBox="1"/>
          <p:nvPr/>
        </p:nvSpPr>
        <p:spPr>
          <a:xfrm>
            <a:off x="5185304" y="3638807"/>
            <a:ext cx="651345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STORAGE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85304" y="3821691"/>
            <a:ext cx="1025441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ADLS Gen2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5503" y="4394205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5" name="TextBox 44"/>
          <p:cNvSpPr txBox="1"/>
          <p:nvPr/>
        </p:nvSpPr>
        <p:spPr>
          <a:xfrm>
            <a:off x="5185304" y="4466117"/>
            <a:ext cx="930493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PROCESSING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85304" y="4649000"/>
            <a:ext cx="2278759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Synapse · Databricks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5503" y="5234581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8" name="TextBox 47"/>
          <p:cNvSpPr txBox="1"/>
          <p:nvPr/>
        </p:nvSpPr>
        <p:spPr>
          <a:xfrm>
            <a:off x="5185304" y="5306492"/>
            <a:ext cx="837443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STREAMING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5304" y="5489375"/>
            <a:ext cx="2050883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Event Hub · Stream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5503" y="6047902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1" name="TextBox 50"/>
          <p:cNvSpPr txBox="1"/>
          <p:nvPr/>
        </p:nvSpPr>
        <p:spPr>
          <a:xfrm>
            <a:off x="5185304" y="6119813"/>
            <a:ext cx="837443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WAREHOUSE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5304" y="6302696"/>
            <a:ext cx="797565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Synapse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5503" y="6862532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4" name="TextBox 53"/>
          <p:cNvSpPr txBox="1"/>
          <p:nvPr/>
        </p:nvSpPr>
        <p:spPr>
          <a:xfrm>
            <a:off x="5185304" y="6934443"/>
            <a:ext cx="1023542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ORCHESTRATE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5304" y="7117327"/>
            <a:ext cx="1367255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Data Factory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5503" y="7704916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7" name="TextBox 56"/>
          <p:cNvSpPr txBox="1"/>
          <p:nvPr/>
        </p:nvSpPr>
        <p:spPr>
          <a:xfrm>
            <a:off x="5185304" y="7776828"/>
            <a:ext cx="930493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BI / SERVE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85304" y="7959711"/>
            <a:ext cx="911503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Power BI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69102" y="1803278"/>
            <a:ext cx="4083797" cy="6837802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26633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269102" y="1803278"/>
            <a:ext cx="4083797" cy="710225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269102" y="2247169"/>
            <a:ext cx="4083797" cy="26633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007166" y="2050081"/>
            <a:ext cx="607669" cy="454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236" b="1">
                <a:solidFill>
                  <a:srgbClr val="FFFFFF"/>
                </a:solidFill>
                <a:latin typeface="Calibri"/>
              </a:rPr>
              <a:t>GCP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75635" y="2739587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4" name="TextBox 63"/>
          <p:cNvSpPr txBox="1"/>
          <p:nvPr/>
        </p:nvSpPr>
        <p:spPr>
          <a:xfrm>
            <a:off x="9535436" y="2811498"/>
            <a:ext cx="558295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INGEST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35436" y="2994381"/>
            <a:ext cx="2278759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Pub/Sub · DataStream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375635" y="3566896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7" name="TextBox 66"/>
          <p:cNvSpPr txBox="1"/>
          <p:nvPr/>
        </p:nvSpPr>
        <p:spPr>
          <a:xfrm>
            <a:off x="9535436" y="3638807"/>
            <a:ext cx="651345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STORAGE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35436" y="3821691"/>
            <a:ext cx="341813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GCS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375635" y="4394205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0" name="TextBox 69"/>
          <p:cNvSpPr txBox="1"/>
          <p:nvPr/>
        </p:nvSpPr>
        <p:spPr>
          <a:xfrm>
            <a:off x="9535436" y="4466117"/>
            <a:ext cx="930493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PROCESSING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35436" y="4649000"/>
            <a:ext cx="2164821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Dataproc · Dataflow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375635" y="5234581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3" name="TextBox 72"/>
          <p:cNvSpPr txBox="1"/>
          <p:nvPr/>
        </p:nvSpPr>
        <p:spPr>
          <a:xfrm>
            <a:off x="9535436" y="5306492"/>
            <a:ext cx="837443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STREAMING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35436" y="5489375"/>
            <a:ext cx="2050883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Pub/Sub · Dataflow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375635" y="6047902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6" name="TextBox 75"/>
          <p:cNvSpPr txBox="1"/>
          <p:nvPr/>
        </p:nvSpPr>
        <p:spPr>
          <a:xfrm>
            <a:off x="9535436" y="6119813"/>
            <a:ext cx="837443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WAREHOUSE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35436" y="6302696"/>
            <a:ext cx="911503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BigQuery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375635" y="6862532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9" name="TextBox 78"/>
          <p:cNvSpPr txBox="1"/>
          <p:nvPr/>
        </p:nvSpPr>
        <p:spPr>
          <a:xfrm>
            <a:off x="9535436" y="6934443"/>
            <a:ext cx="1023542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ORCHESTRATE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35436" y="7117327"/>
            <a:ext cx="911503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Composer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375635" y="7704916"/>
            <a:ext cx="3870730" cy="795137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2" name="TextBox 81"/>
          <p:cNvSpPr txBox="1"/>
          <p:nvPr/>
        </p:nvSpPr>
        <p:spPr>
          <a:xfrm>
            <a:off x="9535436" y="7776828"/>
            <a:ext cx="930493" cy="2088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BI / SERVE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35436" y="7959711"/>
            <a:ext cx="683627" cy="2556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Looker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70362" y="9105435"/>
            <a:ext cx="10381013" cy="2840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 dirty="0">
                <a:solidFill>
                  <a:srgbClr val="115E59"/>
                </a:solidFill>
                <a:latin typeface="Calibri"/>
              </a:rPr>
              <a:t>The architecture is identical across clouds. Cost discipline beats vendor loyalty.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3578840" y="1714499"/>
            <a:ext cx="4183379" cy="667969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Ingest: Kinesis vs Event Hubs vs Pub/Sub.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Process: EMR/Glue vs Synapse/Fabric vs Dataflow/Dataproc.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Warehouse: Redshift vs Synapse vs BigQuery.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ML serving: SageMaker vs Azure ML vs Vertex AI.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Same patterns, different brands. Pick by team skills, not feature checklist.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3578840" y="7272566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The three clouds are 95% feature-parity. Choose for ops familiarity.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548" y="1401089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50 GB/day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cost across 3 clouds × 3 speeds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59704" y="2114550"/>
            <a:ext cx="3007147" cy="406371"/>
          </a:xfrm>
          <a:prstGeom prst="roundRect">
            <a:avLst>
              <a:gd name="adj" fmla="val 24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4372047" y="2121767"/>
            <a:ext cx="382460" cy="2860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8125" y="2114550"/>
            <a:ext cx="3007147" cy="406371"/>
          </a:xfrm>
          <a:prstGeom prst="roundRect">
            <a:avLst>
              <a:gd name="adj" fmla="val 24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7332982" y="2121767"/>
            <a:ext cx="637434" cy="2860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Azure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6547" y="2114550"/>
            <a:ext cx="3007147" cy="406371"/>
          </a:xfrm>
          <a:prstGeom prst="roundRect">
            <a:avLst>
              <a:gd name="adj" fmla="val 24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10548891" y="2121767"/>
            <a:ext cx="382460" cy="2860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GCP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90396" y="2683469"/>
            <a:ext cx="1625485" cy="1056565"/>
          </a:xfrm>
          <a:prstGeom prst="roundRect">
            <a:avLst>
              <a:gd name="adj" fmla="val 923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1481602" y="2915816"/>
            <a:ext cx="1043073" cy="26007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Calibri"/>
              </a:rPr>
              <a:t>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273" y="3300747"/>
            <a:ext cx="843730" cy="189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FEF3C7"/>
                </a:solidFill>
                <a:latin typeface="Calibri"/>
              </a:rPr>
              <a:t>ms latency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59704" y="2683469"/>
            <a:ext cx="3007147" cy="1056565"/>
          </a:xfrm>
          <a:prstGeom prst="roundRect">
            <a:avLst>
              <a:gd name="adj" fmla="val 10769"/>
            </a:avLst>
          </a:prstGeom>
          <a:solidFill>
            <a:srgbClr val="FCD5B2"/>
          </a:solidFill>
          <a:ln w="16254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4053330" y="2802130"/>
            <a:ext cx="1019894" cy="5721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15" b="1">
                <a:solidFill>
                  <a:srgbClr val="26456E"/>
                </a:solidFill>
                <a:latin typeface="Calibri"/>
              </a:rPr>
              <a:t>$455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5050" y="3185744"/>
            <a:ext cx="8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USD /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3083" y="3453949"/>
            <a:ext cx="220038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26456E"/>
                </a:solidFill>
                <a:latin typeface="Calibri"/>
              </a:rPr>
              <a:t>Kinesis · Lambda · DynamoDB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8125" y="2683469"/>
            <a:ext cx="3007147" cy="1056565"/>
          </a:xfrm>
          <a:prstGeom prst="roundRect">
            <a:avLst>
              <a:gd name="adj" fmla="val 10769"/>
            </a:avLst>
          </a:prstGeom>
          <a:solidFill>
            <a:srgbClr val="FCC8A0"/>
          </a:solidFill>
          <a:ln w="16254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TextBox 22"/>
          <p:cNvSpPr txBox="1"/>
          <p:nvPr/>
        </p:nvSpPr>
        <p:spPr>
          <a:xfrm>
            <a:off x="7141752" y="2802130"/>
            <a:ext cx="1019894" cy="5721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15" b="1">
                <a:solidFill>
                  <a:srgbClr val="26456E"/>
                </a:solidFill>
                <a:latin typeface="Calibri"/>
              </a:rPr>
              <a:t>$660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3472" y="3185744"/>
            <a:ext cx="8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USD 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2326" y="3453949"/>
            <a:ext cx="2838747" cy="1514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26456E"/>
                </a:solidFill>
                <a:latin typeface="Calibri"/>
              </a:rPr>
              <a:t>Event Hubs · Stream Analytics · Cosmos 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6547" y="2683469"/>
            <a:ext cx="3007147" cy="1056565"/>
          </a:xfrm>
          <a:prstGeom prst="roundRect">
            <a:avLst>
              <a:gd name="adj" fmla="val 10769"/>
            </a:avLst>
          </a:prstGeom>
          <a:solidFill>
            <a:srgbClr val="FCCAA2"/>
          </a:solidFill>
          <a:ln w="16254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TextBox 26"/>
          <p:cNvSpPr txBox="1"/>
          <p:nvPr/>
        </p:nvSpPr>
        <p:spPr>
          <a:xfrm>
            <a:off x="10230174" y="2802130"/>
            <a:ext cx="1019894" cy="5721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15" b="1">
                <a:solidFill>
                  <a:srgbClr val="26456E"/>
                </a:solidFill>
                <a:latin typeface="Calibri"/>
              </a:rPr>
              <a:t>$630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91894" y="3185744"/>
            <a:ext cx="8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USD / 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8431" y="3453949"/>
            <a:ext cx="2363381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26456E"/>
                </a:solidFill>
                <a:latin typeface="Calibri"/>
              </a:rPr>
              <a:t>Pub/Sub · Dataflow · Bigtable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0396" y="3902583"/>
            <a:ext cx="1625485" cy="1056565"/>
          </a:xfrm>
          <a:prstGeom prst="roundRect">
            <a:avLst>
              <a:gd name="adj" fmla="val 923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1" name="TextBox 30"/>
          <p:cNvSpPr txBox="1"/>
          <p:nvPr/>
        </p:nvSpPr>
        <p:spPr>
          <a:xfrm>
            <a:off x="1365704" y="4134930"/>
            <a:ext cx="1274868" cy="26007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Calibri"/>
              </a:rPr>
              <a:t>Micro-batch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7833" y="4519861"/>
            <a:ext cx="590611" cy="189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FEF3C7"/>
                </a:solidFill>
                <a:latin typeface="Calibri"/>
              </a:rPr>
              <a:t>sec–min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59704" y="3902583"/>
            <a:ext cx="3007147" cy="1056565"/>
          </a:xfrm>
          <a:prstGeom prst="roundRect">
            <a:avLst>
              <a:gd name="adj" fmla="val 10769"/>
            </a:avLst>
          </a:prstGeom>
          <a:solidFill>
            <a:srgbClr val="FDE2C3"/>
          </a:solidFill>
          <a:ln w="16254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4" name="TextBox 33"/>
          <p:cNvSpPr txBox="1"/>
          <p:nvPr/>
        </p:nvSpPr>
        <p:spPr>
          <a:xfrm>
            <a:off x="4053330" y="4021244"/>
            <a:ext cx="1019894" cy="5721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15" b="1">
                <a:solidFill>
                  <a:srgbClr val="26456E"/>
                </a:solidFill>
                <a:latin typeface="Calibri"/>
              </a:rPr>
              <a:t>$275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5050" y="4404858"/>
            <a:ext cx="8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USD / 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2335" y="4673063"/>
            <a:ext cx="2281885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26456E"/>
                </a:solidFill>
                <a:latin typeface="Calibri"/>
              </a:rPr>
              <a:t>EMR Serverless · S3 · Athena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8125" y="3902583"/>
            <a:ext cx="3007147" cy="1056565"/>
          </a:xfrm>
          <a:prstGeom prst="roundRect">
            <a:avLst>
              <a:gd name="adj" fmla="val 10769"/>
            </a:avLst>
          </a:prstGeom>
          <a:solidFill>
            <a:srgbClr val="FDDEBE"/>
          </a:solidFill>
          <a:ln w="16254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8" name="TextBox 37"/>
          <p:cNvSpPr txBox="1"/>
          <p:nvPr/>
        </p:nvSpPr>
        <p:spPr>
          <a:xfrm>
            <a:off x="7141752" y="4021244"/>
            <a:ext cx="1019894" cy="5721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15" b="1">
                <a:solidFill>
                  <a:srgbClr val="26456E"/>
                </a:solidFill>
                <a:latin typeface="Calibri"/>
              </a:rPr>
              <a:t>$330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3472" y="4404858"/>
            <a:ext cx="8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USD / month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8513" y="4673063"/>
            <a:ext cx="2526372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26456E"/>
                </a:solidFill>
                <a:latin typeface="Calibri"/>
              </a:rPr>
              <a:t>Databricks · ADLS · Synapse SQL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6547" y="3902583"/>
            <a:ext cx="3007147" cy="1056565"/>
          </a:xfrm>
          <a:prstGeom prst="roundRect">
            <a:avLst>
              <a:gd name="adj" fmla="val 10769"/>
            </a:avLst>
          </a:prstGeom>
          <a:solidFill>
            <a:srgbClr val="FDDFBF"/>
          </a:solidFill>
          <a:ln w="16254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2" name="TextBox 41"/>
          <p:cNvSpPr txBox="1"/>
          <p:nvPr/>
        </p:nvSpPr>
        <p:spPr>
          <a:xfrm>
            <a:off x="10230174" y="4021244"/>
            <a:ext cx="1019894" cy="5721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15" b="1">
                <a:solidFill>
                  <a:srgbClr val="26456E"/>
                </a:solidFill>
                <a:latin typeface="Calibri"/>
              </a:rPr>
              <a:t>$310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91894" y="4404858"/>
            <a:ext cx="8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USD / month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21423" y="4673063"/>
            <a:ext cx="2037397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26456E"/>
                </a:solidFill>
                <a:latin typeface="Calibri"/>
              </a:rPr>
              <a:t>Dataflow · GCS · BigQuery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90396" y="5121697"/>
            <a:ext cx="1625485" cy="1056565"/>
          </a:xfrm>
          <a:prstGeom prst="roundRect">
            <a:avLst>
              <a:gd name="adj" fmla="val 923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6" name="TextBox 45"/>
          <p:cNvSpPr txBox="1"/>
          <p:nvPr/>
        </p:nvSpPr>
        <p:spPr>
          <a:xfrm>
            <a:off x="1713396" y="5354044"/>
            <a:ext cx="579485" cy="26007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Batch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65646" y="5738975"/>
            <a:ext cx="674984" cy="189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FEF3C7"/>
                </a:solidFill>
                <a:latin typeface="Calibri"/>
              </a:rPr>
              <a:t>hrs–days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59704" y="5121697"/>
            <a:ext cx="3007147" cy="1056565"/>
          </a:xfrm>
          <a:prstGeom prst="roundRect">
            <a:avLst>
              <a:gd name="adj" fmla="val 10769"/>
            </a:avLst>
          </a:prstGeom>
          <a:solidFill>
            <a:srgbClr val="FEECD0"/>
          </a:solidFill>
          <a:ln w="16254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9" name="TextBox 48"/>
          <p:cNvSpPr txBox="1"/>
          <p:nvPr/>
        </p:nvSpPr>
        <p:spPr>
          <a:xfrm>
            <a:off x="4053330" y="5240358"/>
            <a:ext cx="1019894" cy="5721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15" b="1">
                <a:solidFill>
                  <a:srgbClr val="26456E"/>
                </a:solidFill>
                <a:latin typeface="Calibri"/>
              </a:rPr>
              <a:t>$125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5050" y="5623972"/>
            <a:ext cx="8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USD / month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29814" y="5892177"/>
            <a:ext cx="1466926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26456E"/>
                </a:solidFill>
                <a:latin typeface="Calibri"/>
              </a:rPr>
              <a:t>Glue · S3 · Athena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8125" y="5121697"/>
            <a:ext cx="3007147" cy="1056565"/>
          </a:xfrm>
          <a:prstGeom prst="roundRect">
            <a:avLst>
              <a:gd name="adj" fmla="val 10769"/>
            </a:avLst>
          </a:prstGeom>
          <a:solidFill>
            <a:srgbClr val="FEEDD2"/>
          </a:solidFill>
          <a:ln w="16254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3" name="TextBox 52"/>
          <p:cNvSpPr txBox="1"/>
          <p:nvPr/>
        </p:nvSpPr>
        <p:spPr>
          <a:xfrm>
            <a:off x="7141752" y="5240358"/>
            <a:ext cx="1019894" cy="5721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15" b="1">
                <a:solidFill>
                  <a:srgbClr val="26456E"/>
                </a:solidFill>
                <a:latin typeface="Calibri"/>
              </a:rPr>
              <a:t>$110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03472" y="5623972"/>
            <a:ext cx="8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USD / month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92253" y="5892177"/>
            <a:ext cx="211889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26456E"/>
                </a:solidFill>
                <a:latin typeface="Calibri"/>
              </a:rPr>
              <a:t>ADF · ADLS · Synapse Spark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6547" y="5121697"/>
            <a:ext cx="3007147" cy="1056565"/>
          </a:xfrm>
          <a:prstGeom prst="roundRect">
            <a:avLst>
              <a:gd name="adj" fmla="val 10769"/>
            </a:avLst>
          </a:prstGeom>
          <a:solidFill>
            <a:srgbClr val="FEF1D7"/>
          </a:solidFill>
          <a:ln w="16254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7" name="TextBox 56"/>
          <p:cNvSpPr txBox="1"/>
          <p:nvPr/>
        </p:nvSpPr>
        <p:spPr>
          <a:xfrm>
            <a:off x="10357661" y="5240358"/>
            <a:ext cx="764920" cy="5721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15" b="1">
                <a:solidFill>
                  <a:srgbClr val="26456E"/>
                </a:solidFill>
                <a:latin typeface="Calibri"/>
              </a:rPr>
              <a:t>$45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91894" y="5623972"/>
            <a:ext cx="8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USD / month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21423" y="5892177"/>
            <a:ext cx="2037397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26456E"/>
                </a:solidFill>
                <a:latin typeface="Calibri"/>
              </a:rPr>
              <a:t>Composer · GCS · BigQuery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0396" y="6406643"/>
            <a:ext cx="4179712" cy="203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475569"/>
                </a:solidFill>
                <a:latin typeface="Calibri"/>
              </a:rPr>
              <a:t>Cell color = relative cost (lighter = cheaper)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55511" y="6464732"/>
            <a:ext cx="40637" cy="162548"/>
          </a:xfrm>
          <a:prstGeom prst="rect">
            <a:avLst/>
          </a:prstGeom>
          <a:solidFill>
            <a:srgbClr val="FF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2" name="Rectangle 61"/>
          <p:cNvSpPr/>
          <p:nvPr/>
        </p:nvSpPr>
        <p:spPr>
          <a:xfrm>
            <a:off x="4988021" y="6464732"/>
            <a:ext cx="40637" cy="162548"/>
          </a:xfrm>
          <a:prstGeom prst="rect">
            <a:avLst/>
          </a:prstGeom>
          <a:solidFill>
            <a:srgbClr val="FEF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3" name="Rectangle 62"/>
          <p:cNvSpPr/>
          <p:nvPr/>
        </p:nvSpPr>
        <p:spPr>
          <a:xfrm>
            <a:off x="5020530" y="6464732"/>
            <a:ext cx="40637" cy="162548"/>
          </a:xfrm>
          <a:prstGeom prst="rect">
            <a:avLst/>
          </a:prstGeom>
          <a:solidFill>
            <a:srgbClr val="FEF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4" name="Rectangle 63"/>
          <p:cNvSpPr/>
          <p:nvPr/>
        </p:nvSpPr>
        <p:spPr>
          <a:xfrm>
            <a:off x="5053040" y="6464732"/>
            <a:ext cx="40637" cy="162548"/>
          </a:xfrm>
          <a:prstGeom prst="rect">
            <a:avLst/>
          </a:prstGeom>
          <a:solidFill>
            <a:srgbClr val="FE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5" name="Rectangle 64"/>
          <p:cNvSpPr/>
          <p:nvPr/>
        </p:nvSpPr>
        <p:spPr>
          <a:xfrm>
            <a:off x="5085550" y="6464732"/>
            <a:ext cx="40637" cy="162548"/>
          </a:xfrm>
          <a:prstGeom prst="rect">
            <a:avLst/>
          </a:prstGeom>
          <a:solidFill>
            <a:srgbClr val="FEF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6" name="Rectangle 65"/>
          <p:cNvSpPr/>
          <p:nvPr/>
        </p:nvSpPr>
        <p:spPr>
          <a:xfrm>
            <a:off x="5118059" y="6464732"/>
            <a:ext cx="40637" cy="162548"/>
          </a:xfrm>
          <a:prstGeom prst="rect">
            <a:avLst/>
          </a:prstGeom>
          <a:solidFill>
            <a:srgbClr val="FEF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7" name="Rectangle 66"/>
          <p:cNvSpPr/>
          <p:nvPr/>
        </p:nvSpPr>
        <p:spPr>
          <a:xfrm>
            <a:off x="5150569" y="6464732"/>
            <a:ext cx="40637" cy="162548"/>
          </a:xfrm>
          <a:prstGeom prst="rect">
            <a:avLst/>
          </a:prstGeom>
          <a:solidFill>
            <a:srgbClr val="FE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8" name="Rectangle 67"/>
          <p:cNvSpPr/>
          <p:nvPr/>
        </p:nvSpPr>
        <p:spPr>
          <a:xfrm>
            <a:off x="5183079" y="6464732"/>
            <a:ext cx="40637" cy="162548"/>
          </a:xfrm>
          <a:prstGeom prst="rect">
            <a:avLst/>
          </a:prstGeom>
          <a:solidFill>
            <a:srgbClr val="FEE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9" name="Rectangle 68"/>
          <p:cNvSpPr/>
          <p:nvPr/>
        </p:nvSpPr>
        <p:spPr>
          <a:xfrm>
            <a:off x="5215589" y="6464732"/>
            <a:ext cx="40637" cy="162548"/>
          </a:xfrm>
          <a:prstGeom prst="rect">
            <a:avLst/>
          </a:prstGeom>
          <a:solidFill>
            <a:srgbClr val="FEE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0" name="Rectangle 69"/>
          <p:cNvSpPr/>
          <p:nvPr/>
        </p:nvSpPr>
        <p:spPr>
          <a:xfrm>
            <a:off x="5248098" y="6464732"/>
            <a:ext cx="40637" cy="162548"/>
          </a:xfrm>
          <a:prstGeom prst="rect">
            <a:avLst/>
          </a:prstGeom>
          <a:solidFill>
            <a:srgbClr val="FEE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1" name="Rectangle 70"/>
          <p:cNvSpPr/>
          <p:nvPr/>
        </p:nvSpPr>
        <p:spPr>
          <a:xfrm>
            <a:off x="5280608" y="6464732"/>
            <a:ext cx="40637" cy="162548"/>
          </a:xfrm>
          <a:prstGeom prst="rect">
            <a:avLst/>
          </a:prstGeom>
          <a:solidFill>
            <a:srgbClr val="FEE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2" name="Rectangle 71"/>
          <p:cNvSpPr/>
          <p:nvPr/>
        </p:nvSpPr>
        <p:spPr>
          <a:xfrm>
            <a:off x="5313118" y="6464732"/>
            <a:ext cx="40637" cy="162548"/>
          </a:xfrm>
          <a:prstGeom prst="rect">
            <a:avLst/>
          </a:prstGeom>
          <a:solidFill>
            <a:srgbClr val="FEE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3" name="Rectangle 72"/>
          <p:cNvSpPr/>
          <p:nvPr/>
        </p:nvSpPr>
        <p:spPr>
          <a:xfrm>
            <a:off x="5345627" y="6464732"/>
            <a:ext cx="40637" cy="162548"/>
          </a:xfrm>
          <a:prstGeom prst="rect">
            <a:avLst/>
          </a:prstGeom>
          <a:solidFill>
            <a:srgbClr val="FEE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4" name="Rectangle 73"/>
          <p:cNvSpPr/>
          <p:nvPr/>
        </p:nvSpPr>
        <p:spPr>
          <a:xfrm>
            <a:off x="5378137" y="6464732"/>
            <a:ext cx="40637" cy="162548"/>
          </a:xfrm>
          <a:prstGeom prst="rect">
            <a:avLst/>
          </a:prstGeom>
          <a:solidFill>
            <a:srgbClr val="FEE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5" name="Rectangle 74"/>
          <p:cNvSpPr/>
          <p:nvPr/>
        </p:nvSpPr>
        <p:spPr>
          <a:xfrm>
            <a:off x="5410647" y="6464732"/>
            <a:ext cx="40637" cy="162548"/>
          </a:xfrm>
          <a:prstGeom prst="rect">
            <a:avLst/>
          </a:prstGeom>
          <a:solidFill>
            <a:srgbClr val="FEE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6" name="Rectangle 75"/>
          <p:cNvSpPr/>
          <p:nvPr/>
        </p:nvSpPr>
        <p:spPr>
          <a:xfrm>
            <a:off x="5443156" y="6464732"/>
            <a:ext cx="40637" cy="162548"/>
          </a:xfrm>
          <a:prstGeom prst="rect">
            <a:avLst/>
          </a:prstGeom>
          <a:solidFill>
            <a:srgbClr val="FEE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7" name="Rectangle 76"/>
          <p:cNvSpPr/>
          <p:nvPr/>
        </p:nvSpPr>
        <p:spPr>
          <a:xfrm>
            <a:off x="5475666" y="6464732"/>
            <a:ext cx="40637" cy="162548"/>
          </a:xfrm>
          <a:prstGeom prst="rect">
            <a:avLst/>
          </a:prstGeom>
          <a:solidFill>
            <a:srgbClr val="FEE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8" name="Rectangle 77"/>
          <p:cNvSpPr/>
          <p:nvPr/>
        </p:nvSpPr>
        <p:spPr>
          <a:xfrm>
            <a:off x="5508176" y="6464732"/>
            <a:ext cx="40637" cy="162548"/>
          </a:xfrm>
          <a:prstGeom prst="rect">
            <a:avLst/>
          </a:prstGeom>
          <a:solidFill>
            <a:srgbClr val="FEE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9" name="Rectangle 78"/>
          <p:cNvSpPr/>
          <p:nvPr/>
        </p:nvSpPr>
        <p:spPr>
          <a:xfrm>
            <a:off x="5540686" y="6464732"/>
            <a:ext cx="40637" cy="162548"/>
          </a:xfrm>
          <a:prstGeom prst="rect">
            <a:avLst/>
          </a:prstGeom>
          <a:solidFill>
            <a:srgbClr val="FEE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0" name="Rectangle 79"/>
          <p:cNvSpPr/>
          <p:nvPr/>
        </p:nvSpPr>
        <p:spPr>
          <a:xfrm>
            <a:off x="5573195" y="6464732"/>
            <a:ext cx="40637" cy="162548"/>
          </a:xfrm>
          <a:prstGeom prst="rect">
            <a:avLst/>
          </a:prstGeom>
          <a:solidFill>
            <a:srgbClr val="FE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1" name="Rectangle 80"/>
          <p:cNvSpPr/>
          <p:nvPr/>
        </p:nvSpPr>
        <p:spPr>
          <a:xfrm>
            <a:off x="5605705" y="6464732"/>
            <a:ext cx="40637" cy="162548"/>
          </a:xfrm>
          <a:prstGeom prst="rect">
            <a:avLst/>
          </a:prstGeom>
          <a:solidFill>
            <a:srgbClr val="FE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2" name="Rectangle 81"/>
          <p:cNvSpPr/>
          <p:nvPr/>
        </p:nvSpPr>
        <p:spPr>
          <a:xfrm>
            <a:off x="5638215" y="6464732"/>
            <a:ext cx="40637" cy="162548"/>
          </a:xfrm>
          <a:prstGeom prst="rect">
            <a:avLst/>
          </a:prstGeom>
          <a:solidFill>
            <a:srgbClr val="FD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3" name="Rectangle 82"/>
          <p:cNvSpPr/>
          <p:nvPr/>
        </p:nvSpPr>
        <p:spPr>
          <a:xfrm>
            <a:off x="5670724" y="6464732"/>
            <a:ext cx="40637" cy="162548"/>
          </a:xfrm>
          <a:prstGeom prst="rect">
            <a:avLst/>
          </a:prstGeom>
          <a:solidFill>
            <a:srgbClr val="FDE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4" name="Rectangle 83"/>
          <p:cNvSpPr/>
          <p:nvPr/>
        </p:nvSpPr>
        <p:spPr>
          <a:xfrm>
            <a:off x="5703234" y="6464732"/>
            <a:ext cx="40637" cy="162548"/>
          </a:xfrm>
          <a:prstGeom prst="rect">
            <a:avLst/>
          </a:prstGeom>
          <a:solidFill>
            <a:srgbClr val="FD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5" name="Rectangle 84"/>
          <p:cNvSpPr/>
          <p:nvPr/>
        </p:nvSpPr>
        <p:spPr>
          <a:xfrm>
            <a:off x="5735744" y="6464732"/>
            <a:ext cx="40637" cy="162548"/>
          </a:xfrm>
          <a:prstGeom prst="rect">
            <a:avLst/>
          </a:prstGeom>
          <a:solidFill>
            <a:srgbClr val="FDE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6" name="Rectangle 85"/>
          <p:cNvSpPr/>
          <p:nvPr/>
        </p:nvSpPr>
        <p:spPr>
          <a:xfrm>
            <a:off x="5768253" y="6464732"/>
            <a:ext cx="40637" cy="162548"/>
          </a:xfrm>
          <a:prstGeom prst="rect">
            <a:avLst/>
          </a:prstGeom>
          <a:solidFill>
            <a:srgbClr val="FDE2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7" name="Rectangle 86"/>
          <p:cNvSpPr/>
          <p:nvPr/>
        </p:nvSpPr>
        <p:spPr>
          <a:xfrm>
            <a:off x="5800763" y="6464732"/>
            <a:ext cx="40637" cy="162548"/>
          </a:xfrm>
          <a:prstGeom prst="rect">
            <a:avLst/>
          </a:prstGeom>
          <a:solidFill>
            <a:srgbClr val="FDE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8" name="Rectangle 87"/>
          <p:cNvSpPr/>
          <p:nvPr/>
        </p:nvSpPr>
        <p:spPr>
          <a:xfrm>
            <a:off x="5833273" y="6464732"/>
            <a:ext cx="40637" cy="162548"/>
          </a:xfrm>
          <a:prstGeom prst="rect">
            <a:avLst/>
          </a:prstGeom>
          <a:solidFill>
            <a:srgbClr val="FD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9" name="Rectangle 88"/>
          <p:cNvSpPr/>
          <p:nvPr/>
        </p:nvSpPr>
        <p:spPr>
          <a:xfrm>
            <a:off x="5865783" y="6464732"/>
            <a:ext cx="40637" cy="162548"/>
          </a:xfrm>
          <a:prstGeom prst="rect">
            <a:avLst/>
          </a:prstGeom>
          <a:solidFill>
            <a:srgbClr val="FD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0" name="Rectangle 89"/>
          <p:cNvSpPr/>
          <p:nvPr/>
        </p:nvSpPr>
        <p:spPr>
          <a:xfrm>
            <a:off x="5898292" y="6464732"/>
            <a:ext cx="40637" cy="162548"/>
          </a:xfrm>
          <a:prstGeom prst="rect">
            <a:avLst/>
          </a:prstGeom>
          <a:solidFill>
            <a:srgbClr val="FDD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1" name="Rectangle 90"/>
          <p:cNvSpPr/>
          <p:nvPr/>
        </p:nvSpPr>
        <p:spPr>
          <a:xfrm>
            <a:off x="5930802" y="6464732"/>
            <a:ext cx="40637" cy="162548"/>
          </a:xfrm>
          <a:prstGeom prst="rect">
            <a:avLst/>
          </a:prstGeom>
          <a:solidFill>
            <a:srgbClr val="FDD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2" name="Rectangle 91"/>
          <p:cNvSpPr/>
          <p:nvPr/>
        </p:nvSpPr>
        <p:spPr>
          <a:xfrm>
            <a:off x="5963312" y="6464732"/>
            <a:ext cx="40637" cy="162548"/>
          </a:xfrm>
          <a:prstGeom prst="rect">
            <a:avLst/>
          </a:prstGeom>
          <a:solidFill>
            <a:srgbClr val="FDD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3" name="Rectangle 92"/>
          <p:cNvSpPr/>
          <p:nvPr/>
        </p:nvSpPr>
        <p:spPr>
          <a:xfrm>
            <a:off x="5995821" y="6464732"/>
            <a:ext cx="40637" cy="162548"/>
          </a:xfrm>
          <a:prstGeom prst="rect">
            <a:avLst/>
          </a:prstGeom>
          <a:solidFill>
            <a:srgbClr val="FDD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4" name="Rectangle 93"/>
          <p:cNvSpPr/>
          <p:nvPr/>
        </p:nvSpPr>
        <p:spPr>
          <a:xfrm>
            <a:off x="6028331" y="6464732"/>
            <a:ext cx="40637" cy="162548"/>
          </a:xfrm>
          <a:prstGeom prst="rect">
            <a:avLst/>
          </a:prstGeom>
          <a:solidFill>
            <a:srgbClr val="FDD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5" name="Rectangle 94"/>
          <p:cNvSpPr/>
          <p:nvPr/>
        </p:nvSpPr>
        <p:spPr>
          <a:xfrm>
            <a:off x="6060841" y="6464732"/>
            <a:ext cx="40637" cy="162548"/>
          </a:xfrm>
          <a:prstGeom prst="rect">
            <a:avLst/>
          </a:prstGeom>
          <a:solidFill>
            <a:srgbClr val="FDD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6" name="Rectangle 95"/>
          <p:cNvSpPr/>
          <p:nvPr/>
        </p:nvSpPr>
        <p:spPr>
          <a:xfrm>
            <a:off x="6093351" y="6464732"/>
            <a:ext cx="40637" cy="162548"/>
          </a:xfrm>
          <a:prstGeom prst="rect">
            <a:avLst/>
          </a:prstGeom>
          <a:solidFill>
            <a:srgbClr val="FDD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7" name="Rectangle 96"/>
          <p:cNvSpPr/>
          <p:nvPr/>
        </p:nvSpPr>
        <p:spPr>
          <a:xfrm>
            <a:off x="6125860" y="6464732"/>
            <a:ext cx="40637" cy="162548"/>
          </a:xfrm>
          <a:prstGeom prst="rect">
            <a:avLst/>
          </a:prstGeom>
          <a:solidFill>
            <a:srgbClr val="FDD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8" name="Rectangle 97"/>
          <p:cNvSpPr/>
          <p:nvPr/>
        </p:nvSpPr>
        <p:spPr>
          <a:xfrm>
            <a:off x="6158370" y="6464732"/>
            <a:ext cx="40637" cy="162548"/>
          </a:xfrm>
          <a:prstGeom prst="rect">
            <a:avLst/>
          </a:prstGeom>
          <a:solidFill>
            <a:srgbClr val="FDD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9" name="Rectangle 98"/>
          <p:cNvSpPr/>
          <p:nvPr/>
        </p:nvSpPr>
        <p:spPr>
          <a:xfrm>
            <a:off x="6190880" y="6464732"/>
            <a:ext cx="40637" cy="162548"/>
          </a:xfrm>
          <a:prstGeom prst="rect">
            <a:avLst/>
          </a:prstGeom>
          <a:solidFill>
            <a:srgbClr val="FDD8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0" name="Rectangle 99"/>
          <p:cNvSpPr/>
          <p:nvPr/>
        </p:nvSpPr>
        <p:spPr>
          <a:xfrm>
            <a:off x="6223389" y="6464732"/>
            <a:ext cx="40637" cy="162548"/>
          </a:xfrm>
          <a:prstGeom prst="rect">
            <a:avLst/>
          </a:prstGeom>
          <a:solidFill>
            <a:srgbClr val="FDD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1" name="Rectangle 100"/>
          <p:cNvSpPr/>
          <p:nvPr/>
        </p:nvSpPr>
        <p:spPr>
          <a:xfrm>
            <a:off x="6255899" y="6464732"/>
            <a:ext cx="40637" cy="162548"/>
          </a:xfrm>
          <a:prstGeom prst="rect">
            <a:avLst/>
          </a:prstGeom>
          <a:solidFill>
            <a:srgbClr val="FDD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2" name="Rectangle 101"/>
          <p:cNvSpPr/>
          <p:nvPr/>
        </p:nvSpPr>
        <p:spPr>
          <a:xfrm>
            <a:off x="6288409" y="6464732"/>
            <a:ext cx="40637" cy="162548"/>
          </a:xfrm>
          <a:prstGeom prst="rect">
            <a:avLst/>
          </a:prstGeom>
          <a:solidFill>
            <a:srgbClr val="FC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3" name="Rectangle 102"/>
          <p:cNvSpPr/>
          <p:nvPr/>
        </p:nvSpPr>
        <p:spPr>
          <a:xfrm>
            <a:off x="6320918" y="6464732"/>
            <a:ext cx="40637" cy="162548"/>
          </a:xfrm>
          <a:prstGeom prst="rect">
            <a:avLst/>
          </a:prstGeom>
          <a:solidFill>
            <a:srgbClr val="FC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4" name="Rectangle 103"/>
          <p:cNvSpPr/>
          <p:nvPr/>
        </p:nvSpPr>
        <p:spPr>
          <a:xfrm>
            <a:off x="6353428" y="6464732"/>
            <a:ext cx="40637" cy="162548"/>
          </a:xfrm>
          <a:prstGeom prst="rect">
            <a:avLst/>
          </a:prstGeom>
          <a:solidFill>
            <a:srgbClr val="FC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5" name="Rectangle 104"/>
          <p:cNvSpPr/>
          <p:nvPr/>
        </p:nvSpPr>
        <p:spPr>
          <a:xfrm>
            <a:off x="6385938" y="6464732"/>
            <a:ext cx="40637" cy="162548"/>
          </a:xfrm>
          <a:prstGeom prst="rect">
            <a:avLst/>
          </a:prstGeom>
          <a:solidFill>
            <a:srgbClr val="FC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6" name="Rectangle 105"/>
          <p:cNvSpPr/>
          <p:nvPr/>
        </p:nvSpPr>
        <p:spPr>
          <a:xfrm>
            <a:off x="6418448" y="6464732"/>
            <a:ext cx="40637" cy="162548"/>
          </a:xfrm>
          <a:prstGeom prst="rect">
            <a:avLst/>
          </a:prstGeom>
          <a:solidFill>
            <a:srgbClr val="FCD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7" name="Rectangle 106"/>
          <p:cNvSpPr/>
          <p:nvPr/>
        </p:nvSpPr>
        <p:spPr>
          <a:xfrm>
            <a:off x="6450957" y="6464732"/>
            <a:ext cx="40637" cy="162548"/>
          </a:xfrm>
          <a:prstGeom prst="rect">
            <a:avLst/>
          </a:prstGeom>
          <a:solidFill>
            <a:srgbClr val="FCD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8" name="Rectangle 107"/>
          <p:cNvSpPr/>
          <p:nvPr/>
        </p:nvSpPr>
        <p:spPr>
          <a:xfrm>
            <a:off x="6483467" y="6464732"/>
            <a:ext cx="40637" cy="162548"/>
          </a:xfrm>
          <a:prstGeom prst="rect">
            <a:avLst/>
          </a:prstGeom>
          <a:solidFill>
            <a:srgbClr val="FCD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9" name="Rectangle 108"/>
          <p:cNvSpPr/>
          <p:nvPr/>
        </p:nvSpPr>
        <p:spPr>
          <a:xfrm>
            <a:off x="6515977" y="6464732"/>
            <a:ext cx="40637" cy="162548"/>
          </a:xfrm>
          <a:prstGeom prst="rect">
            <a:avLst/>
          </a:prstGeom>
          <a:solidFill>
            <a:srgbClr val="FCD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0" name="Rectangle 109"/>
          <p:cNvSpPr/>
          <p:nvPr/>
        </p:nvSpPr>
        <p:spPr>
          <a:xfrm>
            <a:off x="6548486" y="6464732"/>
            <a:ext cx="40637" cy="162548"/>
          </a:xfrm>
          <a:prstGeom prst="rect">
            <a:avLst/>
          </a:prstGeom>
          <a:solidFill>
            <a:srgbClr val="FCD0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1" name="Rectangle 110"/>
          <p:cNvSpPr/>
          <p:nvPr/>
        </p:nvSpPr>
        <p:spPr>
          <a:xfrm>
            <a:off x="6580996" y="6464732"/>
            <a:ext cx="40637" cy="162548"/>
          </a:xfrm>
          <a:prstGeom prst="rect">
            <a:avLst/>
          </a:prstGeom>
          <a:solidFill>
            <a:srgbClr val="FCC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2" name="Rectangle 111"/>
          <p:cNvSpPr/>
          <p:nvPr/>
        </p:nvSpPr>
        <p:spPr>
          <a:xfrm>
            <a:off x="6613506" y="6464732"/>
            <a:ext cx="40637" cy="162548"/>
          </a:xfrm>
          <a:prstGeom prst="rect">
            <a:avLst/>
          </a:prstGeom>
          <a:solidFill>
            <a:srgbClr val="FCC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3" name="Rectangle 112"/>
          <p:cNvSpPr/>
          <p:nvPr/>
        </p:nvSpPr>
        <p:spPr>
          <a:xfrm>
            <a:off x="6646016" y="6464732"/>
            <a:ext cx="40637" cy="162548"/>
          </a:xfrm>
          <a:prstGeom prst="rect">
            <a:avLst/>
          </a:prstGeom>
          <a:solidFill>
            <a:srgbClr val="FCC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4" name="Rectangle 113"/>
          <p:cNvSpPr/>
          <p:nvPr/>
        </p:nvSpPr>
        <p:spPr>
          <a:xfrm>
            <a:off x="6678525" y="6464732"/>
            <a:ext cx="40637" cy="162548"/>
          </a:xfrm>
          <a:prstGeom prst="rect">
            <a:avLst/>
          </a:prstGeom>
          <a:solidFill>
            <a:srgbClr val="FCC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5" name="Rectangle 114"/>
          <p:cNvSpPr/>
          <p:nvPr/>
        </p:nvSpPr>
        <p:spPr>
          <a:xfrm>
            <a:off x="6711035" y="6464732"/>
            <a:ext cx="40637" cy="162548"/>
          </a:xfrm>
          <a:prstGeom prst="rect">
            <a:avLst/>
          </a:prstGeom>
          <a:solidFill>
            <a:srgbClr val="FCC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6" name="Rectangle 115"/>
          <p:cNvSpPr/>
          <p:nvPr/>
        </p:nvSpPr>
        <p:spPr>
          <a:xfrm>
            <a:off x="6743545" y="6464732"/>
            <a:ext cx="40637" cy="162548"/>
          </a:xfrm>
          <a:prstGeom prst="rect">
            <a:avLst/>
          </a:prstGeom>
          <a:solidFill>
            <a:srgbClr val="FCC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7" name="Rectangle 116"/>
          <p:cNvSpPr/>
          <p:nvPr/>
        </p:nvSpPr>
        <p:spPr>
          <a:xfrm>
            <a:off x="6776054" y="6464732"/>
            <a:ext cx="40637" cy="162548"/>
          </a:xfrm>
          <a:prstGeom prst="rect">
            <a:avLst/>
          </a:prstGeom>
          <a:solidFill>
            <a:srgbClr val="FCC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8" name="Rectangle 117"/>
          <p:cNvSpPr/>
          <p:nvPr/>
        </p:nvSpPr>
        <p:spPr>
          <a:xfrm>
            <a:off x="6808564" y="6464732"/>
            <a:ext cx="40637" cy="162548"/>
          </a:xfrm>
          <a:prstGeom prst="rect">
            <a:avLst/>
          </a:prstGeom>
          <a:solidFill>
            <a:srgbClr val="FC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9" name="Rectangle 118"/>
          <p:cNvSpPr/>
          <p:nvPr/>
        </p:nvSpPr>
        <p:spPr>
          <a:xfrm>
            <a:off x="6841074" y="6464732"/>
            <a:ext cx="40637" cy="162548"/>
          </a:xfrm>
          <a:prstGeom prst="rect">
            <a:avLst/>
          </a:prstGeom>
          <a:solidFill>
            <a:srgbClr val="FCC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0" name="Rectangle 119"/>
          <p:cNvSpPr/>
          <p:nvPr/>
        </p:nvSpPr>
        <p:spPr>
          <a:xfrm>
            <a:off x="6873583" y="6464732"/>
            <a:ext cx="40637" cy="162548"/>
          </a:xfrm>
          <a:prstGeom prst="rect">
            <a:avLst/>
          </a:prstGeom>
          <a:solidFill>
            <a:srgbClr val="F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1" name="TextBox 120"/>
          <p:cNvSpPr txBox="1"/>
          <p:nvPr/>
        </p:nvSpPr>
        <p:spPr>
          <a:xfrm>
            <a:off x="4955511" y="6674419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$0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80110" y="6674419"/>
            <a:ext cx="32598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475569"/>
                </a:solidFill>
                <a:latin typeface="Calibri"/>
              </a:rPr>
              <a:t>$700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190396" y="6950368"/>
            <a:ext cx="11540944" cy="568919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6254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4" name="TextBox 123"/>
          <p:cNvSpPr txBox="1"/>
          <p:nvPr/>
        </p:nvSpPr>
        <p:spPr>
          <a:xfrm>
            <a:off x="1513543" y="7056025"/>
            <a:ext cx="10894651" cy="1876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115E59"/>
                </a:solidFill>
                <a:latin typeface="Calibri"/>
              </a:rPr>
              <a:t>Streaming costs ~5× batch.  GCP wins batch (BigQuery).  AWS often wins streaming at scale.  Azure leads enterprise integration.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235976" y="7279337"/>
            <a:ext cx="9449785" cy="203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dirty="0">
                <a:solidFill>
                  <a:srgbClr val="475569"/>
                </a:solidFill>
                <a:latin typeface="Calibri"/>
              </a:rPr>
              <a:t>Spot, reserved, and serverless tiers can cut these numbers 30–60%. Always benchmark with your real data.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704587" y="7788306"/>
            <a:ext cx="4270576" cy="203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475569"/>
                </a:solidFill>
                <a:latin typeface="Calibri"/>
              </a:rPr>
              <a:t>Pricing approximate · public list rates 2025/26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3544550" y="2906779"/>
            <a:ext cx="4183379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Streaming: $8-15K/month across AWS · Azure · GCP.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Micro-batch: $1-3K/month — same workload, 1/5 the cost.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Batch: $300-800/month — same workload, 1/30 the cost.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Choice of cloud matters ~30%. Choice of speed matters ~3000%.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3578840" y="7235190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The speed decision is 100x more expensive than the cloud decision.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8" y="1513748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How to choose your processing speed</a:t>
            </a:r>
          </a:p>
        </p:txBody>
      </p:sp>
      <p:sp>
        <p:nvSpPr>
          <p:cNvPr id="9" name="Freeform 8"/>
          <p:cNvSpPr/>
          <p:nvPr/>
        </p:nvSpPr>
        <p:spPr>
          <a:xfrm>
            <a:off x="578253" y="2340669"/>
            <a:ext cx="11250711" cy="1100899"/>
          </a:xfrm>
          <a:custGeom>
            <a:avLst/>
            <a:gdLst/>
            <a:ahLst/>
            <a:cxnLst/>
            <a:rect l="l" t="t" r="r" b="b"/>
            <a:pathLst>
              <a:path w="12765230" h="834649">
                <a:moveTo>
                  <a:pt x="0" y="0"/>
                </a:moveTo>
                <a:lnTo>
                  <a:pt x="12765230" y="0"/>
                </a:lnTo>
                <a:lnTo>
                  <a:pt x="12176066" y="834649"/>
                </a:lnTo>
                <a:lnTo>
                  <a:pt x="589164" y="834649"/>
                </a:lnTo>
                <a:close/>
              </a:path>
            </a:pathLst>
          </a:custGeom>
          <a:solidFill>
            <a:srgbClr val="0F766E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1363805" y="2530183"/>
            <a:ext cx="6161089" cy="3456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Q1. Does the decision happen in seconds?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7907" y="2905776"/>
            <a:ext cx="2737484" cy="2670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b="1">
                <a:solidFill>
                  <a:srgbClr val="FEF9C3"/>
                </a:solidFill>
                <a:latin typeface="Calibri"/>
              </a:rPr>
              <a:t>If NO → Batch is enough</a:t>
            </a:r>
          </a:p>
        </p:txBody>
      </p:sp>
      <p:sp>
        <p:nvSpPr>
          <p:cNvPr id="12" name="Freeform 11"/>
          <p:cNvSpPr/>
          <p:nvPr/>
        </p:nvSpPr>
        <p:spPr>
          <a:xfrm>
            <a:off x="1167417" y="3509041"/>
            <a:ext cx="10212185" cy="1100900"/>
          </a:xfrm>
          <a:custGeom>
            <a:avLst/>
            <a:gdLst/>
            <a:ahLst/>
            <a:cxnLst/>
            <a:rect l="l" t="t" r="r" b="b"/>
            <a:pathLst>
              <a:path w="11586902" h="834650">
                <a:moveTo>
                  <a:pt x="0" y="0"/>
                </a:moveTo>
                <a:lnTo>
                  <a:pt x="11586902" y="0"/>
                </a:lnTo>
                <a:lnTo>
                  <a:pt x="10997737" y="834650"/>
                </a:lnTo>
                <a:lnTo>
                  <a:pt x="589165" y="834650"/>
                </a:lnTo>
                <a:close/>
              </a:path>
            </a:pathLst>
          </a:custGeom>
          <a:solidFill>
            <a:srgbClr val="D97706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1952970" y="3698556"/>
            <a:ext cx="5853035" cy="3456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Q2. Does the data change every minute?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4616" y="4074148"/>
            <a:ext cx="3451610" cy="2670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b="1" dirty="0">
                <a:solidFill>
                  <a:srgbClr val="FEF9C3"/>
                </a:solidFill>
                <a:latin typeface="Calibri"/>
              </a:rPr>
              <a:t>If NO → Micro-batch covers it</a:t>
            </a:r>
          </a:p>
        </p:txBody>
      </p:sp>
      <p:sp>
        <p:nvSpPr>
          <p:cNvPr id="15" name="Freeform 14"/>
          <p:cNvSpPr/>
          <p:nvPr/>
        </p:nvSpPr>
        <p:spPr>
          <a:xfrm>
            <a:off x="1756582" y="4677416"/>
            <a:ext cx="9173657" cy="1100900"/>
          </a:xfrm>
          <a:custGeom>
            <a:avLst/>
            <a:gdLst/>
            <a:ahLst/>
            <a:cxnLst/>
            <a:rect l="l" t="t" r="r" b="b"/>
            <a:pathLst>
              <a:path w="10408572" h="834650">
                <a:moveTo>
                  <a:pt x="0" y="0"/>
                </a:moveTo>
                <a:lnTo>
                  <a:pt x="10408572" y="0"/>
                </a:lnTo>
                <a:lnTo>
                  <a:pt x="9819408" y="834650"/>
                </a:lnTo>
                <a:lnTo>
                  <a:pt x="589164" y="834650"/>
                </a:lnTo>
                <a:close/>
              </a:path>
            </a:pathLst>
          </a:custGeom>
          <a:solidFill>
            <a:srgbClr val="EA580C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2542134" y="4866931"/>
            <a:ext cx="5390953" cy="3456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Q3. Is downtime cost &gt; $10K / hour?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1326" y="5242523"/>
            <a:ext cx="4165736" cy="2670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b="1">
                <a:solidFill>
                  <a:srgbClr val="FEF9C3"/>
                </a:solidFill>
                <a:latin typeface="Calibri"/>
              </a:rPr>
              <a:t>If NO → Don’t pay streaming premium</a:t>
            </a:r>
          </a:p>
        </p:txBody>
      </p:sp>
      <p:sp>
        <p:nvSpPr>
          <p:cNvPr id="18" name="Freeform 17"/>
          <p:cNvSpPr/>
          <p:nvPr/>
        </p:nvSpPr>
        <p:spPr>
          <a:xfrm>
            <a:off x="2345746" y="5859646"/>
            <a:ext cx="8135130" cy="1100900"/>
          </a:xfrm>
          <a:custGeom>
            <a:avLst/>
            <a:gdLst/>
            <a:ahLst/>
            <a:cxnLst/>
            <a:rect l="l" t="t" r="r" b="b"/>
            <a:pathLst>
              <a:path w="9230244" h="834650">
                <a:moveTo>
                  <a:pt x="0" y="0"/>
                </a:moveTo>
                <a:lnTo>
                  <a:pt x="9230244" y="0"/>
                </a:lnTo>
                <a:lnTo>
                  <a:pt x="8641079" y="834650"/>
                </a:lnTo>
                <a:lnTo>
                  <a:pt x="589165" y="834650"/>
                </a:lnTo>
                <a:close/>
              </a:path>
            </a:pathLst>
          </a:custGeom>
          <a:solidFill>
            <a:srgbClr val="3371A0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3131299" y="6049161"/>
            <a:ext cx="5699007" cy="3456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Q4. Is the ROI ≥ 150% over 12 months?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6077" y="6424753"/>
            <a:ext cx="4641820" cy="2670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b="1" dirty="0">
                <a:solidFill>
                  <a:srgbClr val="FEF9C3"/>
                </a:solidFill>
                <a:latin typeface="Calibri"/>
              </a:rPr>
              <a:t>If NO → </a:t>
            </a:r>
            <a:r>
              <a:rPr lang="en-GB" sz="1600" b="1" dirty="0">
                <a:solidFill>
                  <a:srgbClr val="FEF9C3"/>
                </a:solidFill>
                <a:latin typeface="Calibri"/>
              </a:rPr>
              <a:t>Park,</a:t>
            </a:r>
            <a:r>
              <a:rPr sz="1600" b="1" dirty="0">
                <a:solidFill>
                  <a:srgbClr val="FEF9C3"/>
                </a:solidFill>
                <a:latin typeface="Calibri"/>
              </a:rPr>
              <a:t> it; pick a better use case</a:t>
            </a:r>
          </a:p>
        </p:txBody>
      </p:sp>
      <p:sp>
        <p:nvSpPr>
          <p:cNvPr id="21" name="Freeform 20"/>
          <p:cNvSpPr/>
          <p:nvPr/>
        </p:nvSpPr>
        <p:spPr>
          <a:xfrm>
            <a:off x="2934911" y="7041875"/>
            <a:ext cx="7096602" cy="1100899"/>
          </a:xfrm>
          <a:custGeom>
            <a:avLst/>
            <a:gdLst/>
            <a:ahLst/>
            <a:cxnLst/>
            <a:rect l="l" t="t" r="r" b="b"/>
            <a:pathLst>
              <a:path w="8051914" h="834649">
                <a:moveTo>
                  <a:pt x="0" y="0"/>
                </a:moveTo>
                <a:lnTo>
                  <a:pt x="8051914" y="0"/>
                </a:lnTo>
                <a:lnTo>
                  <a:pt x="7462750" y="834649"/>
                </a:lnTo>
                <a:lnTo>
                  <a:pt x="589164" y="834649"/>
                </a:lnTo>
                <a:close/>
              </a:path>
            </a:pathLst>
          </a:custGeom>
          <a:solidFill>
            <a:srgbClr val="115E59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3720463" y="7231389"/>
            <a:ext cx="4774844" cy="3456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Q5. Does the team own ops 24×7?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7892" y="7606982"/>
            <a:ext cx="4760841" cy="2670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b="1">
                <a:solidFill>
                  <a:srgbClr val="FEF9C3"/>
                </a:solidFill>
                <a:latin typeface="Calibri"/>
              </a:rPr>
              <a:t>If NO → Start batch, evolve to streaming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5261" y="8234103"/>
            <a:ext cx="5192636" cy="1036140"/>
          </a:xfrm>
          <a:prstGeom prst="roundRect">
            <a:avLst>
              <a:gd name="adj" fmla="val 175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4100226" y="8646609"/>
            <a:ext cx="5561713" cy="3378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→ Right speed, right cost, right ROI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578840" y="1714499"/>
            <a:ext cx="4183379" cy="65924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Q1 — Does the human / system need the answer in &lt;1s? → Streaming.</a:t>
            </a:r>
          </a:p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Q2 — Is fresh-within-minutes enough? → Micro-batch.</a:t>
            </a:r>
          </a:p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Q3 — Is once-a-day OK? → Batch.</a:t>
            </a:r>
          </a:p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If you can't answer Q1-Q3 confidently, default to micro-batch. It rarely loses.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578840" y="7157259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Default to the slowest speed your use case tolerates.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2258" y="1462173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Speed-vs-ROI Formula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9947" y="2775269"/>
            <a:ext cx="2036854" cy="2222023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7775"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29947" y="2775269"/>
            <a:ext cx="2036854" cy="555505"/>
          </a:xfrm>
          <a:prstGeom prst="roundRect">
            <a:avLst>
              <a:gd name="adj" fmla="val 33333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29947" y="3145606"/>
            <a:ext cx="2036854" cy="185168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94850" y="2990990"/>
            <a:ext cx="1307049" cy="325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3" b="1">
                <a:solidFill>
                  <a:srgbClr val="FFFFFF"/>
                </a:solidFill>
                <a:latin typeface="Calibri"/>
              </a:rPr>
              <a:t>Net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1451" y="3480761"/>
            <a:ext cx="1293847" cy="41477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41" b="1">
                <a:solidFill>
                  <a:srgbClr val="26456E"/>
                </a:solidFill>
                <a:latin typeface="Calibri"/>
              </a:rPr>
              <a:t>Benefit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2324" y="3739997"/>
            <a:ext cx="292100" cy="41477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41" b="1">
                <a:solidFill>
                  <a:srgbClr val="115E59"/>
                </a:solidFill>
                <a:latin typeface="Calibri"/>
              </a:rPr>
              <a:t>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8704" y="3999233"/>
            <a:ext cx="739341" cy="41477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41" b="1">
                <a:solidFill>
                  <a:srgbClr val="26456E"/>
                </a:solidFill>
                <a:latin typeface="Calibri"/>
              </a:rPr>
              <a:t>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2324" y="4258470"/>
            <a:ext cx="292100" cy="41477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GB" sz="2041" b="1" dirty="0">
                <a:solidFill>
                  <a:srgbClr val="115E59"/>
                </a:solidFill>
                <a:latin typeface="Calibri"/>
              </a:rPr>
              <a:t>-</a:t>
            </a:r>
            <a:endParaRPr sz="2041" b="1" dirty="0">
              <a:solidFill>
                <a:srgbClr val="115E59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78704" y="4517706"/>
            <a:ext cx="739341" cy="41477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41" b="1">
                <a:solidFill>
                  <a:srgbClr val="26456E"/>
                </a:solidFill>
                <a:latin typeface="Calibri"/>
              </a:rPr>
              <a:t>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9381" y="3627045"/>
            <a:ext cx="528100" cy="11850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5832" b="1">
                <a:solidFill>
                  <a:srgbClr val="26456E"/>
                </a:solidFill>
                <a:latin typeface="Calibri"/>
              </a:rPr>
              <a:t>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00061" y="2775269"/>
            <a:ext cx="2036854" cy="2222023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77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600061" y="2775269"/>
            <a:ext cx="2036854" cy="555505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00061" y="3145606"/>
            <a:ext cx="2036854" cy="185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28033" y="2990990"/>
            <a:ext cx="580911" cy="325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3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0451" y="3599269"/>
            <a:ext cx="396075" cy="8888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374" b="1">
                <a:solidFill>
                  <a:srgbClr val="D97706"/>
                </a:solidFill>
                <a:latin typeface="Calibri"/>
              </a:rPr>
              <a:t>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4767" y="4501040"/>
            <a:ext cx="1267442" cy="2370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dirty="0">
                <a:solidFill>
                  <a:srgbClr val="475569"/>
                </a:solidFill>
                <a:latin typeface="Calibri"/>
              </a:rPr>
              <a:t>All-in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9495" y="3627045"/>
            <a:ext cx="528100" cy="11850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5832" b="1">
                <a:solidFill>
                  <a:srgbClr val="26456E"/>
                </a:solidFill>
                <a:latin typeface="Calibri"/>
              </a:rPr>
              <a:t>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0174" y="2775269"/>
            <a:ext cx="2036854" cy="2222023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7775">
            <a:solidFill>
              <a:srgbClr val="3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70174" y="2775269"/>
            <a:ext cx="2036854" cy="555505"/>
          </a:xfrm>
          <a:prstGeom prst="roundRect">
            <a:avLst>
              <a:gd name="adj" fmla="val 33333"/>
            </a:avLst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70174" y="3145606"/>
            <a:ext cx="2036854" cy="185168"/>
          </a:xfrm>
          <a:prstGeom prst="rect">
            <a:avLst/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0761" y="2990990"/>
            <a:ext cx="435683" cy="325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3" b="1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489" y="3599269"/>
            <a:ext cx="1188227" cy="8888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374" b="1">
                <a:solidFill>
                  <a:srgbClr val="3371A0"/>
                </a:solidFill>
                <a:latin typeface="Calibri"/>
              </a:rPr>
              <a:t>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4881" y="4501040"/>
            <a:ext cx="1267442" cy="2370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475569"/>
                </a:solidFill>
                <a:latin typeface="Calibri"/>
              </a:rPr>
              <a:t>express as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609" y="3627045"/>
            <a:ext cx="528100" cy="11850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5832" b="1">
                <a:solidFill>
                  <a:srgbClr val="26456E"/>
                </a:solidFill>
                <a:latin typeface="Calibri"/>
              </a:rPr>
              <a:t>=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40288" y="2775269"/>
            <a:ext cx="2036854" cy="2222023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77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340288" y="2775269"/>
            <a:ext cx="2036854" cy="555505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340288" y="3145606"/>
            <a:ext cx="2036854" cy="185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95647" y="2990990"/>
            <a:ext cx="726138" cy="325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3" b="1">
                <a:solidFill>
                  <a:srgbClr val="FFFFFF"/>
                </a:solidFill>
                <a:latin typeface="Calibri"/>
              </a:rPr>
              <a:t>ROI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60679" y="3599269"/>
            <a:ext cx="396075" cy="8888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374" b="1">
                <a:solidFill>
                  <a:srgbClr val="0F766E"/>
                </a:solidFill>
                <a:latin typeface="Calibri"/>
              </a:rPr>
              <a:t>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97321" y="4501040"/>
            <a:ext cx="1922790" cy="2336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475569"/>
                </a:solidFill>
                <a:latin typeface="Calibri"/>
              </a:rPr>
              <a:t>Decision threshold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2643" y="7049139"/>
            <a:ext cx="129618" cy="740674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6" y="7153759"/>
            <a:ext cx="1016594" cy="325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0F766E"/>
                </a:solidFill>
                <a:latin typeface="Calibri"/>
              </a:rPr>
              <a:t>Benefit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6" y="7489377"/>
            <a:ext cx="4713300" cy="25182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475569"/>
                </a:solidFill>
                <a:latin typeface="Calibri"/>
              </a:rPr>
              <a:t>Revenue gained · Cost saved · Risk avoided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16690" y="7049139"/>
            <a:ext cx="129618" cy="740674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94443" y="7153759"/>
            <a:ext cx="580911" cy="325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D97706"/>
                </a:solidFill>
                <a:latin typeface="Calibri"/>
              </a:rPr>
              <a:t>Cost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94443" y="7489377"/>
            <a:ext cx="4039972" cy="25182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475569"/>
                </a:solidFill>
                <a:latin typeface="Calibri"/>
              </a:rPr>
              <a:t>Cloud · Tools · People · Maintenance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60737" y="7049139"/>
            <a:ext cx="129618" cy="740674"/>
          </a:xfrm>
          <a:prstGeom prst="roundRect">
            <a:avLst>
              <a:gd name="adj" fmla="val 42857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38490" y="7153759"/>
            <a:ext cx="580911" cy="325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EA580C"/>
                </a:solidFill>
                <a:latin typeface="Calibri"/>
              </a:rPr>
              <a:t>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490" y="7489377"/>
            <a:ext cx="4152193" cy="25182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475569"/>
                </a:solidFill>
                <a:latin typeface="Calibri"/>
              </a:rPr>
              <a:t>Outages · Bad data · Compliance fines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59782" y="8264771"/>
            <a:ext cx="7987526" cy="325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 dirty="0">
                <a:solidFill>
                  <a:srgbClr val="115E59"/>
                </a:solidFill>
                <a:latin typeface="Calibri"/>
              </a:rPr>
              <a:t>If ROI &lt; 100%, you’re building a hobby </a:t>
            </a:r>
            <a:r>
              <a:rPr lang="en-GB" sz="2000" b="1" dirty="0">
                <a:solidFill>
                  <a:srgbClr val="115E59"/>
                </a:solidFill>
                <a:latin typeface="Calibri"/>
              </a:rPr>
              <a:t>-</a:t>
            </a:r>
            <a:r>
              <a:rPr sz="2000" b="1" dirty="0">
                <a:solidFill>
                  <a:srgbClr val="115E59"/>
                </a:solidFill>
                <a:latin typeface="Calibri"/>
              </a:rPr>
              <a:t> not a product.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578840" y="1714499"/>
            <a:ext cx="4183379" cy="67619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ROI = (Benefit − Cost − Probability × Impact of failure) / Cost.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Benefit and probability are the terms teams systematically over-estimate.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Cost includes engineer time, not just cloud bills. Most teams forget this.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Decision rule: ROI &gt; 3 = green light. 1–3 = pilot. &lt;1 = kill.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3578840" y="7338684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 dirty="0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Sponsors fund this formula, not technology choices.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57811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Four Lenses to Prove Data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6301" y="1820742"/>
            <a:ext cx="6162081" cy="286855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187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6301" y="1820742"/>
            <a:ext cx="148739" cy="2868555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8775" y="2096974"/>
            <a:ext cx="722450" cy="72245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3951" y="2332832"/>
            <a:ext cx="292100" cy="4759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342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4336" y="2170281"/>
            <a:ext cx="3151245" cy="4419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175" b="1">
                <a:solidFill>
                  <a:srgbClr val="26456E"/>
                </a:solidFill>
                <a:latin typeface="Calibri"/>
              </a:rPr>
              <a:t>Increase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4336" y="2593127"/>
            <a:ext cx="4707238" cy="270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>
                <a:solidFill>
                  <a:srgbClr val="475569"/>
                </a:solidFill>
                <a:latin typeface="Calibri"/>
              </a:rPr>
              <a:t>Personalization · Pricing · Cross-sell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030" y="3308141"/>
            <a:ext cx="5524624" cy="1062427"/>
          </a:xfrm>
          <a:prstGeom prst="roundRect">
            <a:avLst>
              <a:gd name="adj" fmla="val 14000"/>
            </a:avLst>
          </a:prstGeom>
          <a:solidFill>
            <a:srgbClr val="0F766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34166" y="3601371"/>
            <a:ext cx="3666353" cy="7479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680" b="1">
                <a:solidFill>
                  <a:srgbClr val="0F766E"/>
                </a:solidFill>
                <a:latin typeface="Calibri"/>
              </a:rPr>
              <a:t>+8–15% lift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827" y="4116649"/>
            <a:ext cx="2121030" cy="2379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71">
                <a:solidFill>
                  <a:srgbClr val="475569"/>
                </a:solidFill>
                <a:latin typeface="Calibri"/>
              </a:rPr>
              <a:t>typical impact range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3354" y="1820742"/>
            <a:ext cx="6162081" cy="286855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1872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73354" y="1820742"/>
            <a:ext cx="148739" cy="2868555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555828" y="2096974"/>
            <a:ext cx="722450" cy="7224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1003" y="2332832"/>
            <a:ext cx="292100" cy="4759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342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1388" y="2170281"/>
            <a:ext cx="2166481" cy="4419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175" b="1">
                <a:solidFill>
                  <a:srgbClr val="26456E"/>
                </a:solidFill>
                <a:latin typeface="Calibri"/>
              </a:rPr>
              <a:t>Reduce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1388" y="2593127"/>
            <a:ext cx="4707238" cy="2859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>
                <a:solidFill>
                  <a:srgbClr val="475569"/>
                </a:solidFill>
                <a:latin typeface="Calibri"/>
              </a:rPr>
              <a:t>Automation · Forecasting · Inventory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2082" y="3308141"/>
            <a:ext cx="5524624" cy="1062427"/>
          </a:xfrm>
          <a:prstGeom prst="roundRect">
            <a:avLst>
              <a:gd name="adj" fmla="val 14000"/>
            </a:avLst>
          </a:prstGeom>
          <a:solidFill>
            <a:srgbClr val="D9770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87913" y="3601371"/>
            <a:ext cx="4332962" cy="7479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680" b="1">
                <a:solidFill>
                  <a:srgbClr val="D97706"/>
                </a:solidFill>
                <a:latin typeface="Calibri"/>
              </a:rPr>
              <a:t>−10–25% spend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3879" y="4116649"/>
            <a:ext cx="2121030" cy="2379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71">
                <a:solidFill>
                  <a:srgbClr val="475569"/>
                </a:solidFill>
                <a:latin typeface="Calibri"/>
              </a:rPr>
              <a:t>typical impact range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6301" y="5008026"/>
            <a:ext cx="6162081" cy="286855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1872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86301" y="5008026"/>
            <a:ext cx="148739" cy="2868555"/>
          </a:xfrm>
          <a:prstGeom prst="roundRect">
            <a:avLst>
              <a:gd name="adj" fmla="val 42857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68775" y="5284257"/>
            <a:ext cx="722450" cy="72245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3951" y="5520116"/>
            <a:ext cx="292100" cy="4759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342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14336" y="5357564"/>
            <a:ext cx="2166481" cy="4419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175" b="1">
                <a:solidFill>
                  <a:srgbClr val="26456E"/>
                </a:solidFill>
                <a:latin typeface="Calibri"/>
              </a:rPr>
              <a:t>Reduce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14336" y="5780411"/>
            <a:ext cx="3817855" cy="3059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>
                <a:solidFill>
                  <a:srgbClr val="475569"/>
                </a:solidFill>
                <a:latin typeface="Calibri"/>
              </a:rPr>
              <a:t>Fraud · Compliance · Quality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030" y="6495425"/>
            <a:ext cx="5524624" cy="1062427"/>
          </a:xfrm>
          <a:prstGeom prst="roundRect">
            <a:avLst>
              <a:gd name="adj" fmla="val 14000"/>
            </a:avLst>
          </a:prstGeom>
          <a:solidFill>
            <a:srgbClr val="EA580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67513" y="6788655"/>
            <a:ext cx="3999658" cy="7479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680" b="1">
                <a:solidFill>
                  <a:srgbClr val="EA580C"/>
                </a:solidFill>
                <a:latin typeface="Calibri"/>
              </a:rPr>
              <a:t>−40–70% loss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827" y="7303932"/>
            <a:ext cx="2121030" cy="2379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71">
                <a:solidFill>
                  <a:srgbClr val="475569"/>
                </a:solidFill>
                <a:latin typeface="Calibri"/>
              </a:rPr>
              <a:t>typical impact range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73354" y="5008026"/>
            <a:ext cx="6162081" cy="286855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1872">
            <a:solidFill>
              <a:srgbClr val="3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173354" y="5008026"/>
            <a:ext cx="148739" cy="2868555"/>
          </a:xfrm>
          <a:prstGeom prst="roundRect">
            <a:avLst>
              <a:gd name="adj" fmla="val 42857"/>
            </a:avLst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555828" y="5284257"/>
            <a:ext cx="722450" cy="722450"/>
          </a:xfrm>
          <a:prstGeom prst="ellipse">
            <a:avLst/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1003" y="5520116"/>
            <a:ext cx="292100" cy="4759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342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1388" y="5357564"/>
            <a:ext cx="3939057" cy="4419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175" b="1">
                <a:solidFill>
                  <a:srgbClr val="26456E"/>
                </a:solidFill>
                <a:latin typeface="Calibri"/>
              </a:rPr>
              <a:t>Accelerate Decisions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1388" y="5780411"/>
            <a:ext cx="4363263" cy="3059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>
                <a:solidFill>
                  <a:srgbClr val="475569"/>
                </a:solidFill>
                <a:latin typeface="Calibri"/>
              </a:rPr>
              <a:t>Real-time KPIs · Self-service 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2082" y="6495425"/>
            <a:ext cx="5524624" cy="1062427"/>
          </a:xfrm>
          <a:prstGeom prst="roundRect">
            <a:avLst>
              <a:gd name="adj" fmla="val 14000"/>
            </a:avLst>
          </a:prstGeom>
          <a:solidFill>
            <a:srgbClr val="3371A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87870" y="6788655"/>
            <a:ext cx="3333048" cy="7479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680" b="1">
                <a:solidFill>
                  <a:srgbClr val="3371A0"/>
                </a:solidFill>
                <a:latin typeface="Calibri"/>
              </a:rPr>
              <a:t>10× faster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3879" y="7303932"/>
            <a:ext cx="2121030" cy="2379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71">
                <a:solidFill>
                  <a:srgbClr val="475569"/>
                </a:solidFill>
                <a:latin typeface="Calibri"/>
              </a:rPr>
              <a:t>typical impact range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8012" y="8315363"/>
            <a:ext cx="11165712" cy="37397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840" b="1">
                <a:solidFill>
                  <a:srgbClr val="115E59"/>
                </a:solidFill>
                <a:latin typeface="Calibri"/>
              </a:rPr>
              <a:t>No lens = no business case. Pick the lens before you pick the tech.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578840" y="1714500"/>
            <a:ext cx="4183379" cy="673064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Revenue — pipelines that drive sales (recommendations, pricing).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Cost — pipelines that cut spend (inventory, routing, fraud).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Risk — pipelines that prevent losses (compliance, churn).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Speed — pipelines that compress decision time (real-time analytics).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578840" y="7292340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Every project must name its lens before code is written. No lens, no funding.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79583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Sample ROI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– CHURN Prediction -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same use case at three speeds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923" y="2234559"/>
            <a:ext cx="8667660" cy="4160476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8667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6923" y="6395036"/>
            <a:ext cx="8667661" cy="0"/>
          </a:xfrm>
          <a:prstGeom prst="line">
            <a:avLst/>
          </a:prstGeom>
          <a:ln w="8667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0812" y="6335229"/>
            <a:ext cx="292100" cy="203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03">
                <a:solidFill>
                  <a:srgbClr val="475569"/>
                </a:solidFill>
                <a:latin typeface="Calibri"/>
              </a:rPr>
              <a:t>$0K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6923" y="5562941"/>
            <a:ext cx="8667661" cy="0"/>
          </a:xfrm>
          <a:prstGeom prst="line">
            <a:avLst/>
          </a:prstGeom>
          <a:ln w="8667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9526" y="5503134"/>
            <a:ext cx="363386" cy="203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03">
                <a:solidFill>
                  <a:srgbClr val="475569"/>
                </a:solidFill>
                <a:latin typeface="Calibri"/>
              </a:rPr>
              <a:t>$20K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6923" y="4730845"/>
            <a:ext cx="8667661" cy="0"/>
          </a:xfrm>
          <a:prstGeom prst="line">
            <a:avLst/>
          </a:prstGeom>
          <a:ln w="8667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79526" y="4671038"/>
            <a:ext cx="363386" cy="203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03">
                <a:solidFill>
                  <a:srgbClr val="475569"/>
                </a:solidFill>
                <a:latin typeface="Calibri"/>
              </a:rPr>
              <a:t>$40K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6923" y="3898750"/>
            <a:ext cx="8667661" cy="0"/>
          </a:xfrm>
          <a:prstGeom prst="line">
            <a:avLst/>
          </a:prstGeom>
          <a:ln w="8667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9526" y="3838943"/>
            <a:ext cx="363386" cy="203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03">
                <a:solidFill>
                  <a:srgbClr val="475569"/>
                </a:solidFill>
                <a:latin typeface="Calibri"/>
              </a:rPr>
              <a:t>$60K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6923" y="3066654"/>
            <a:ext cx="8667661" cy="0"/>
          </a:xfrm>
          <a:prstGeom prst="line">
            <a:avLst/>
          </a:prstGeom>
          <a:ln w="8667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526" y="3006848"/>
            <a:ext cx="363386" cy="203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03">
                <a:solidFill>
                  <a:srgbClr val="475569"/>
                </a:solidFill>
                <a:latin typeface="Calibri"/>
              </a:rPr>
              <a:t>$80K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6923" y="2234559"/>
            <a:ext cx="8667661" cy="0"/>
          </a:xfrm>
          <a:prstGeom prst="line">
            <a:avLst/>
          </a:prstGeom>
          <a:ln w="8667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8679" y="2174752"/>
            <a:ext cx="454233" cy="203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03">
                <a:solidFill>
                  <a:srgbClr val="475569"/>
                </a:solidFill>
                <a:latin typeface="Calibri"/>
              </a:rPr>
              <a:t>$100K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94753" y="5354917"/>
            <a:ext cx="433383" cy="1040119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31482" y="5207133"/>
            <a:ext cx="359925" cy="2019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93" b="1">
                <a:solidFill>
                  <a:srgbClr val="26456E"/>
                </a:solidFill>
                <a:latin typeface="Calibri"/>
              </a:rPr>
              <a:t>$25K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4812" y="6145407"/>
            <a:ext cx="433383" cy="249628"/>
          </a:xfrm>
          <a:prstGeom prst="roundRect">
            <a:avLst>
              <a:gd name="adj" fmla="val 13888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85454" y="5997624"/>
            <a:ext cx="292100" cy="2019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93" b="1">
                <a:solidFill>
                  <a:srgbClr val="26456E"/>
                </a:solidFill>
                <a:latin typeface="Calibri"/>
              </a:rPr>
              <a:t>$6K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34872" y="6103803"/>
            <a:ext cx="433383" cy="291233"/>
          </a:xfrm>
          <a:prstGeom prst="roundRect">
            <a:avLst>
              <a:gd name="adj" fmla="val 1190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05513" y="5956019"/>
            <a:ext cx="292100" cy="2019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93" b="1">
                <a:solidFill>
                  <a:srgbClr val="26456E"/>
                </a:solidFill>
                <a:latin typeface="Calibri"/>
              </a:rPr>
              <a:t>$7K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54931" y="5895779"/>
            <a:ext cx="433383" cy="499257"/>
          </a:xfrm>
          <a:prstGeom prst="roundRect">
            <a:avLst>
              <a:gd name="adj" fmla="val 8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91661" y="5747995"/>
            <a:ext cx="359925" cy="2019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93" b="1">
                <a:solidFill>
                  <a:srgbClr val="26456E"/>
                </a:solidFill>
                <a:latin typeface="Calibri"/>
              </a:rPr>
              <a:t>$12K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82532" y="6507716"/>
            <a:ext cx="618004" cy="2773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64" b="1">
                <a:solidFill>
                  <a:srgbClr val="0F766E"/>
                </a:solidFill>
                <a:latin typeface="Calibri"/>
              </a:rPr>
              <a:t>Batch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28136" y="1801176"/>
            <a:ext cx="1126795" cy="34670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997131" y="1896520"/>
            <a:ext cx="988806" cy="2773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64" b="1">
                <a:solidFill>
                  <a:srgbClr val="FFFFFF"/>
                </a:solidFill>
                <a:latin typeface="Calibri"/>
              </a:rPr>
              <a:t>ROI 200%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3973" y="3898750"/>
            <a:ext cx="433383" cy="2496286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20702" y="3750966"/>
            <a:ext cx="359925" cy="2019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93" b="1">
                <a:solidFill>
                  <a:srgbClr val="26456E"/>
                </a:solidFill>
                <a:latin typeface="Calibri"/>
              </a:rPr>
              <a:t>$60K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04032" y="5646150"/>
            <a:ext cx="433383" cy="748885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40762" y="5498367"/>
            <a:ext cx="359925" cy="2019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93" b="1">
                <a:solidFill>
                  <a:srgbClr val="26456E"/>
                </a:solidFill>
                <a:latin typeface="Calibri"/>
              </a:rPr>
              <a:t>$18K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24092" y="6228617"/>
            <a:ext cx="433383" cy="166419"/>
          </a:xfrm>
          <a:prstGeom prst="roundRect">
            <a:avLst>
              <a:gd name="adj" fmla="val 208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94733" y="6080833"/>
            <a:ext cx="292100" cy="2019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93" b="1">
                <a:solidFill>
                  <a:srgbClr val="26456E"/>
                </a:solidFill>
                <a:latin typeface="Calibri"/>
              </a:rPr>
              <a:t>$4K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4151" y="4814055"/>
            <a:ext cx="433383" cy="1580981"/>
          </a:xfrm>
          <a:prstGeom prst="roundRect">
            <a:avLst>
              <a:gd name="adj" fmla="val 8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80881" y="4666271"/>
            <a:ext cx="359925" cy="2019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93" b="1">
                <a:solidFill>
                  <a:srgbClr val="26456E"/>
                </a:solidFill>
                <a:latin typeface="Calibri"/>
              </a:rPr>
              <a:t>$38K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0950" y="6507716"/>
            <a:ext cx="1359609" cy="2773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64" b="1">
                <a:solidFill>
                  <a:srgbClr val="D97706"/>
                </a:solidFill>
                <a:latin typeface="Calibri"/>
              </a:rPr>
              <a:t>Micro-batch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17356" y="1801176"/>
            <a:ext cx="1126795" cy="34670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86351" y="1896520"/>
            <a:ext cx="988806" cy="2773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64" b="1">
                <a:solidFill>
                  <a:srgbClr val="FFFFFF"/>
                </a:solidFill>
                <a:latin typeface="Calibri"/>
              </a:rPr>
              <a:t>ROI 211%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73193" y="2650607"/>
            <a:ext cx="433383" cy="3744429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09922" y="2502823"/>
            <a:ext cx="359925" cy="2019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93" b="1">
                <a:solidFill>
                  <a:srgbClr val="26456E"/>
                </a:solidFill>
                <a:latin typeface="Calibri"/>
              </a:rPr>
              <a:t>$90K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93252" y="4647636"/>
            <a:ext cx="433383" cy="1747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829982" y="4499852"/>
            <a:ext cx="359925" cy="2019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93" b="1">
                <a:solidFill>
                  <a:srgbClr val="26456E"/>
                </a:solidFill>
                <a:latin typeface="Calibri"/>
              </a:rPr>
              <a:t>$42K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13312" y="6270222"/>
            <a:ext cx="433383" cy="124814"/>
          </a:xfrm>
          <a:prstGeom prst="roundRect">
            <a:avLst>
              <a:gd name="adj" fmla="val 27777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83953" y="6122438"/>
            <a:ext cx="292100" cy="2019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93" b="1">
                <a:solidFill>
                  <a:srgbClr val="26456E"/>
                </a:solidFill>
                <a:latin typeface="Calibri"/>
              </a:rPr>
              <a:t>$3K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33372" y="4522821"/>
            <a:ext cx="433383" cy="1872214"/>
          </a:xfrm>
          <a:prstGeom prst="roundRect">
            <a:avLst>
              <a:gd name="adj" fmla="val 8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70101" y="4375038"/>
            <a:ext cx="359925" cy="2019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93" b="1">
                <a:solidFill>
                  <a:srgbClr val="26456E"/>
                </a:solidFill>
                <a:latin typeface="Calibri"/>
              </a:rPr>
              <a:t>$45K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13771" y="6507716"/>
            <a:ext cx="1112407" cy="2773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64" b="1">
                <a:solidFill>
                  <a:srgbClr val="EA580C"/>
                </a:solidFill>
                <a:latin typeface="Calibri"/>
              </a:rPr>
              <a:t>Streaming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06576" y="1801176"/>
            <a:ext cx="1126795" cy="34670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75571" y="1896520"/>
            <a:ext cx="988806" cy="2773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64" b="1">
                <a:solidFill>
                  <a:srgbClr val="FFFFFF"/>
                </a:solidFill>
                <a:latin typeface="Calibri"/>
              </a:rPr>
              <a:t>ROI 107%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34643" y="2173885"/>
            <a:ext cx="741605" cy="2773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64" b="1">
                <a:solidFill>
                  <a:srgbClr val="26456E"/>
                </a:solidFill>
                <a:latin typeface="Calibri"/>
              </a:rPr>
              <a:t>Legend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34643" y="2494589"/>
            <a:ext cx="190688" cy="190688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12008" y="2517992"/>
            <a:ext cx="778685" cy="249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28">
                <a:solidFill>
                  <a:srgbClr val="26456E"/>
                </a:solidFill>
                <a:latin typeface="Calibri"/>
              </a:rPr>
              <a:t>Benefit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34643" y="2875966"/>
            <a:ext cx="190688" cy="190688"/>
          </a:xfrm>
          <a:prstGeom prst="roundRect">
            <a:avLst>
              <a:gd name="adj" fmla="val 22727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12008" y="2899369"/>
            <a:ext cx="444963" cy="249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28">
                <a:solidFill>
                  <a:srgbClr val="26456E"/>
                </a:solidFill>
                <a:latin typeface="Calibri"/>
              </a:rPr>
              <a:t>Cost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234643" y="3257343"/>
            <a:ext cx="190688" cy="190688"/>
          </a:xfrm>
          <a:prstGeom prst="roundRect">
            <a:avLst>
              <a:gd name="adj" fmla="val 22727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512008" y="3280746"/>
            <a:ext cx="444963" cy="249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28">
                <a:solidFill>
                  <a:srgbClr val="26456E"/>
                </a:solidFill>
                <a:latin typeface="Calibri"/>
              </a:rPr>
              <a:t>Risk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234643" y="3638720"/>
            <a:ext cx="190688" cy="190688"/>
          </a:xfrm>
          <a:prstGeom prst="roundRect">
            <a:avLst>
              <a:gd name="adj" fmla="val 22727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512008" y="3662123"/>
            <a:ext cx="333722" cy="249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28">
                <a:solidFill>
                  <a:srgbClr val="26456E"/>
                </a:solidFill>
                <a:latin typeface="Calibri"/>
              </a:rPr>
              <a:t>Net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061290" y="4141444"/>
            <a:ext cx="3293710" cy="1560178"/>
          </a:xfrm>
          <a:prstGeom prst="roundRect">
            <a:avLst>
              <a:gd name="adj" fmla="val 7777"/>
            </a:avLst>
          </a:prstGeom>
          <a:solidFill>
            <a:srgbClr val="ECFDF5"/>
          </a:solidFill>
          <a:ln w="1733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234643" y="4297462"/>
            <a:ext cx="865205" cy="2773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64" b="1">
                <a:solidFill>
                  <a:srgbClr val="0F766E"/>
                </a:solidFill>
                <a:latin typeface="Calibri"/>
              </a:rPr>
              <a:t>Insight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34643" y="4622933"/>
            <a:ext cx="3066573" cy="2312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dirty="0">
                <a:solidFill>
                  <a:srgbClr val="26456E"/>
                </a:solidFill>
                <a:latin typeface="Calibri"/>
              </a:rPr>
              <a:t>• Streaming wins on Net Value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34643" y="4900298"/>
            <a:ext cx="2836639" cy="23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dirty="0">
                <a:solidFill>
                  <a:srgbClr val="26456E"/>
                </a:solidFill>
                <a:latin typeface="Calibri"/>
              </a:rPr>
              <a:t>• Micro-batch wins on ROI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34643" y="5177663"/>
            <a:ext cx="3066572" cy="1972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dirty="0">
                <a:solidFill>
                  <a:srgbClr val="26456E"/>
                </a:solidFill>
                <a:latin typeface="Calibri"/>
              </a:rPr>
              <a:t>• Batch is the cheapest no-brainer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4613" y="7446423"/>
            <a:ext cx="11692638" cy="3051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1" b="1">
                <a:solidFill>
                  <a:srgbClr val="115E59"/>
                </a:solidFill>
                <a:latin typeface="Calibri"/>
              </a:rPr>
              <a:t>Highest dollar value ≠ highest return. Choose the speed that fits the decision window.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3578840" y="1714500"/>
            <a:ext cx="4183379" cy="66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Churn prediction at a regional bank: batch ROI ≈ 4x.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Same use case at micro-batch ≈ 6x (catches more reversible churn signals).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Same use case at streaming ≈ 2x (cost rises faster than benefit).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Micro-batch wins. Streaming would have been the 'impressive' but wrong choice.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3578840" y="7265563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Faster is not always better. The ROI curve has a peak — find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897" y="1411773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Speed vs ROI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the sweet-spot curve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0594" y="2696448"/>
            <a:ext cx="10540225" cy="446619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3561556" y="7457415"/>
            <a:ext cx="6878301" cy="2858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26456E"/>
                </a:solidFill>
                <a:latin typeface="Calibri"/>
              </a:rPr>
              <a:t>Latency  →  faster (left = days, right = milliseconds)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-231719" y="4777696"/>
            <a:ext cx="3057022" cy="2858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 dirty="0">
                <a:solidFill>
                  <a:srgbClr val="26456E"/>
                </a:solidFill>
                <a:latin typeface="Calibri"/>
              </a:rPr>
              <a:t>Dollars (Benefit · Cost)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98566" y="6894674"/>
            <a:ext cx="10004281" cy="0"/>
          </a:xfrm>
          <a:prstGeom prst="line">
            <a:avLst/>
          </a:prstGeom>
          <a:ln w="8932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17142" y="6840633"/>
            <a:ext cx="292100" cy="1950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50">
                <a:solidFill>
                  <a:srgbClr val="475569"/>
                </a:solidFill>
                <a:latin typeface="Calibri"/>
              </a:rPr>
              <a:t>$0K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98566" y="6108623"/>
            <a:ext cx="10004281" cy="0"/>
          </a:xfrm>
          <a:prstGeom prst="line">
            <a:avLst/>
          </a:prstGeom>
          <a:ln w="8932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61506" y="6054582"/>
            <a:ext cx="347736" cy="1950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50">
                <a:solidFill>
                  <a:srgbClr val="475569"/>
                </a:solidFill>
                <a:latin typeface="Calibri"/>
              </a:rPr>
              <a:t>$20K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98566" y="5322572"/>
            <a:ext cx="10004281" cy="0"/>
          </a:xfrm>
          <a:prstGeom prst="line">
            <a:avLst/>
          </a:prstGeom>
          <a:ln w="8932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61506" y="5268531"/>
            <a:ext cx="347736" cy="1950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50">
                <a:solidFill>
                  <a:srgbClr val="475569"/>
                </a:solidFill>
                <a:latin typeface="Calibri"/>
              </a:rPr>
              <a:t>$40K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98566" y="4536522"/>
            <a:ext cx="10004281" cy="0"/>
          </a:xfrm>
          <a:prstGeom prst="line">
            <a:avLst/>
          </a:prstGeom>
          <a:ln w="8932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61506" y="4482481"/>
            <a:ext cx="347736" cy="1950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50">
                <a:solidFill>
                  <a:srgbClr val="475569"/>
                </a:solidFill>
                <a:latin typeface="Calibri"/>
              </a:rPr>
              <a:t>$60K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98566" y="3750471"/>
            <a:ext cx="10004281" cy="0"/>
          </a:xfrm>
          <a:prstGeom prst="line">
            <a:avLst/>
          </a:prstGeom>
          <a:ln w="8932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61506" y="3696430"/>
            <a:ext cx="347736" cy="1950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50">
                <a:solidFill>
                  <a:srgbClr val="475569"/>
                </a:solidFill>
                <a:latin typeface="Calibri"/>
              </a:rPr>
              <a:t>$80K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98566" y="2964420"/>
            <a:ext cx="10004281" cy="0"/>
          </a:xfrm>
          <a:prstGeom prst="line">
            <a:avLst/>
          </a:prstGeom>
          <a:ln w="8932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74572" y="2910379"/>
            <a:ext cx="434670" cy="1950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50">
                <a:solidFill>
                  <a:srgbClr val="475569"/>
                </a:solidFill>
                <a:latin typeface="Calibri"/>
              </a:rPr>
              <a:t>$100K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15554" y="7011688"/>
            <a:ext cx="301967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>
                <a:solidFill>
                  <a:srgbClr val="475569"/>
                </a:solidFill>
                <a:latin typeface="Calibri"/>
              </a:rPr>
              <a:t>Daily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9342" y="7011688"/>
            <a:ext cx="561727" cy="21008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Hourly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3010" y="7011688"/>
            <a:ext cx="561727" cy="21008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15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3487" y="7011688"/>
            <a:ext cx="468106" cy="21008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1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5158" y="7011688"/>
            <a:ext cx="292100" cy="21008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Sec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85016" y="7011688"/>
            <a:ext cx="299720" cy="164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>
                <a:solidFill>
                  <a:srgbClr val="475569"/>
                </a:solidFill>
                <a:latin typeface="Calibri"/>
              </a:rPr>
              <a:t>ms</a:t>
            </a:r>
          </a:p>
        </p:txBody>
      </p:sp>
      <p:sp>
        <p:nvSpPr>
          <p:cNvPr id="30" name="Freeform 29"/>
          <p:cNvSpPr/>
          <p:nvPr/>
        </p:nvSpPr>
        <p:spPr>
          <a:xfrm>
            <a:off x="2266537" y="3160933"/>
            <a:ext cx="9468339" cy="3537228"/>
          </a:xfrm>
          <a:custGeom>
            <a:avLst/>
            <a:gdLst/>
            <a:ahLst/>
            <a:cxnLst/>
            <a:rect l="l" t="t" r="r" b="b"/>
            <a:pathLst>
              <a:path w="9468339" h="3537228">
                <a:moveTo>
                  <a:pt x="0" y="3340715"/>
                </a:moveTo>
                <a:lnTo>
                  <a:pt x="1893668" y="2751177"/>
                </a:lnTo>
                <a:lnTo>
                  <a:pt x="3787336" y="1965127"/>
                </a:lnTo>
                <a:lnTo>
                  <a:pt x="5681003" y="982563"/>
                </a:lnTo>
                <a:lnTo>
                  <a:pt x="7574671" y="275118"/>
                </a:lnTo>
                <a:lnTo>
                  <a:pt x="9468339" y="0"/>
                </a:lnTo>
                <a:lnTo>
                  <a:pt x="9468339" y="196513"/>
                </a:lnTo>
                <a:lnTo>
                  <a:pt x="7574671" y="1375589"/>
                </a:lnTo>
                <a:lnTo>
                  <a:pt x="5681003" y="2476060"/>
                </a:lnTo>
                <a:lnTo>
                  <a:pt x="3787336" y="3026295"/>
                </a:lnTo>
                <a:lnTo>
                  <a:pt x="1893668" y="3340715"/>
                </a:lnTo>
                <a:lnTo>
                  <a:pt x="0" y="3537228"/>
                </a:lnTo>
                <a:close/>
              </a:path>
            </a:pathLst>
          </a:custGeom>
          <a:solidFill>
            <a:srgbClr val="0F766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Freeform 30"/>
          <p:cNvSpPr/>
          <p:nvPr/>
        </p:nvSpPr>
        <p:spPr>
          <a:xfrm>
            <a:off x="2266537" y="3160933"/>
            <a:ext cx="9468339" cy="3340715"/>
          </a:xfrm>
          <a:custGeom>
            <a:avLst/>
            <a:gdLst/>
            <a:ahLst/>
            <a:cxnLst/>
            <a:rect l="l" t="t" r="r" b="b"/>
            <a:pathLst>
              <a:path w="9468339" h="3340715">
                <a:moveTo>
                  <a:pt x="0" y="3340715"/>
                </a:moveTo>
                <a:lnTo>
                  <a:pt x="1893668" y="2751177"/>
                </a:lnTo>
                <a:lnTo>
                  <a:pt x="3787336" y="1965127"/>
                </a:lnTo>
                <a:lnTo>
                  <a:pt x="5681003" y="982563"/>
                </a:lnTo>
                <a:lnTo>
                  <a:pt x="7574671" y="275118"/>
                </a:lnTo>
                <a:lnTo>
                  <a:pt x="9468339" y="0"/>
                </a:lnTo>
              </a:path>
            </a:pathLst>
          </a:custGeom>
          <a:noFill/>
          <a:ln w="44661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Freeform 31"/>
          <p:cNvSpPr/>
          <p:nvPr/>
        </p:nvSpPr>
        <p:spPr>
          <a:xfrm>
            <a:off x="2266537" y="3357446"/>
            <a:ext cx="9468339" cy="3340715"/>
          </a:xfrm>
          <a:custGeom>
            <a:avLst/>
            <a:gdLst/>
            <a:ahLst/>
            <a:cxnLst/>
            <a:rect l="l" t="t" r="r" b="b"/>
            <a:pathLst>
              <a:path w="9468339" h="3340715">
                <a:moveTo>
                  <a:pt x="0" y="3340715"/>
                </a:moveTo>
                <a:lnTo>
                  <a:pt x="1893668" y="3144202"/>
                </a:lnTo>
                <a:lnTo>
                  <a:pt x="3787336" y="2829782"/>
                </a:lnTo>
                <a:lnTo>
                  <a:pt x="5681003" y="2279547"/>
                </a:lnTo>
                <a:lnTo>
                  <a:pt x="7574671" y="1179076"/>
                </a:lnTo>
                <a:lnTo>
                  <a:pt x="9468339" y="0"/>
                </a:lnTo>
              </a:path>
            </a:pathLst>
          </a:custGeom>
          <a:noFill/>
          <a:ln w="44661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Freeform 32"/>
          <p:cNvSpPr/>
          <p:nvPr/>
        </p:nvSpPr>
        <p:spPr>
          <a:xfrm>
            <a:off x="2266537" y="5401177"/>
            <a:ext cx="9468339" cy="1296984"/>
          </a:xfrm>
          <a:custGeom>
            <a:avLst/>
            <a:gdLst/>
            <a:ahLst/>
            <a:cxnLst/>
            <a:rect l="l" t="t" r="r" b="b"/>
            <a:pathLst>
              <a:path w="9468339" h="1296984">
                <a:moveTo>
                  <a:pt x="0" y="1296984"/>
                </a:moveTo>
                <a:lnTo>
                  <a:pt x="1893668" y="903959"/>
                </a:lnTo>
                <a:lnTo>
                  <a:pt x="3787336" y="432328"/>
                </a:lnTo>
                <a:lnTo>
                  <a:pt x="5681003" y="0"/>
                </a:lnTo>
                <a:lnTo>
                  <a:pt x="7574671" y="393026"/>
                </a:lnTo>
                <a:lnTo>
                  <a:pt x="9468339" y="1296984"/>
                </a:lnTo>
              </a:path>
            </a:pathLst>
          </a:custGeom>
          <a:noFill/>
          <a:ln w="44661"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Oval 33"/>
          <p:cNvSpPr/>
          <p:nvPr/>
        </p:nvSpPr>
        <p:spPr>
          <a:xfrm>
            <a:off x="2204011" y="6439122"/>
            <a:ext cx="125053" cy="125053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Oval 34"/>
          <p:cNvSpPr/>
          <p:nvPr/>
        </p:nvSpPr>
        <p:spPr>
          <a:xfrm>
            <a:off x="2204011" y="6635634"/>
            <a:ext cx="125053" cy="125053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Oval 35"/>
          <p:cNvSpPr/>
          <p:nvPr/>
        </p:nvSpPr>
        <p:spPr>
          <a:xfrm>
            <a:off x="2204011" y="6635634"/>
            <a:ext cx="125053" cy="125053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Oval 36"/>
          <p:cNvSpPr/>
          <p:nvPr/>
        </p:nvSpPr>
        <p:spPr>
          <a:xfrm>
            <a:off x="4097678" y="5849584"/>
            <a:ext cx="125053" cy="125053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Oval 37"/>
          <p:cNvSpPr/>
          <p:nvPr/>
        </p:nvSpPr>
        <p:spPr>
          <a:xfrm>
            <a:off x="4097678" y="6439122"/>
            <a:ext cx="125053" cy="125053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Oval 38"/>
          <p:cNvSpPr/>
          <p:nvPr/>
        </p:nvSpPr>
        <p:spPr>
          <a:xfrm>
            <a:off x="4097678" y="6242609"/>
            <a:ext cx="125053" cy="125053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Oval 39"/>
          <p:cNvSpPr/>
          <p:nvPr/>
        </p:nvSpPr>
        <p:spPr>
          <a:xfrm>
            <a:off x="5991346" y="5063533"/>
            <a:ext cx="125053" cy="125053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Oval 40"/>
          <p:cNvSpPr/>
          <p:nvPr/>
        </p:nvSpPr>
        <p:spPr>
          <a:xfrm>
            <a:off x="5991346" y="6124701"/>
            <a:ext cx="125053" cy="125053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Oval 41"/>
          <p:cNvSpPr/>
          <p:nvPr/>
        </p:nvSpPr>
        <p:spPr>
          <a:xfrm>
            <a:off x="5991346" y="5770979"/>
            <a:ext cx="125053" cy="125053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Oval 42"/>
          <p:cNvSpPr/>
          <p:nvPr/>
        </p:nvSpPr>
        <p:spPr>
          <a:xfrm>
            <a:off x="7885014" y="4080970"/>
            <a:ext cx="125053" cy="125053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Oval 43"/>
          <p:cNvSpPr/>
          <p:nvPr/>
        </p:nvSpPr>
        <p:spPr>
          <a:xfrm>
            <a:off x="7885014" y="5574466"/>
            <a:ext cx="125053" cy="125053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Oval 44"/>
          <p:cNvSpPr/>
          <p:nvPr/>
        </p:nvSpPr>
        <p:spPr>
          <a:xfrm>
            <a:off x="7885014" y="5338651"/>
            <a:ext cx="125053" cy="125053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Oval 45"/>
          <p:cNvSpPr/>
          <p:nvPr/>
        </p:nvSpPr>
        <p:spPr>
          <a:xfrm>
            <a:off x="9778681" y="3373524"/>
            <a:ext cx="125053" cy="125053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Oval 46"/>
          <p:cNvSpPr/>
          <p:nvPr/>
        </p:nvSpPr>
        <p:spPr>
          <a:xfrm>
            <a:off x="9778681" y="4473995"/>
            <a:ext cx="125053" cy="125053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Oval 47"/>
          <p:cNvSpPr/>
          <p:nvPr/>
        </p:nvSpPr>
        <p:spPr>
          <a:xfrm>
            <a:off x="9778681" y="5731676"/>
            <a:ext cx="125053" cy="125053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Oval 48"/>
          <p:cNvSpPr/>
          <p:nvPr/>
        </p:nvSpPr>
        <p:spPr>
          <a:xfrm>
            <a:off x="11672349" y="3098406"/>
            <a:ext cx="125053" cy="125053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Oval 49"/>
          <p:cNvSpPr/>
          <p:nvPr/>
        </p:nvSpPr>
        <p:spPr>
          <a:xfrm>
            <a:off x="11672349" y="3294919"/>
            <a:ext cx="125053" cy="125053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Oval 50"/>
          <p:cNvSpPr/>
          <p:nvPr/>
        </p:nvSpPr>
        <p:spPr>
          <a:xfrm>
            <a:off x="11672349" y="6635634"/>
            <a:ext cx="125053" cy="125053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cxnSp>
        <p:nvCxnSpPr>
          <p:cNvPr id="52" name="Connector 51"/>
          <p:cNvCxnSpPr/>
          <p:nvPr/>
        </p:nvCxnSpPr>
        <p:spPr>
          <a:xfrm>
            <a:off x="7947540" y="2785772"/>
            <a:ext cx="0" cy="4108902"/>
          </a:xfrm>
          <a:prstGeom prst="line">
            <a:avLst/>
          </a:prstGeom>
          <a:ln w="17864">
            <a:solidFill>
              <a:srgbClr val="EA58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964977" y="2785772"/>
            <a:ext cx="1965126" cy="375160"/>
          </a:xfrm>
          <a:prstGeom prst="roundRect">
            <a:avLst>
              <a:gd name="adj" fmla="val 23809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4" name="TextBox 53"/>
          <p:cNvSpPr txBox="1"/>
          <p:nvPr/>
        </p:nvSpPr>
        <p:spPr>
          <a:xfrm>
            <a:off x="7374349" y="2899214"/>
            <a:ext cx="1146383" cy="2572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SWEET SPOT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41208" y="2767908"/>
            <a:ext cx="2143774" cy="1071887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cxnSp>
        <p:nvCxnSpPr>
          <p:cNvPr id="56" name="Connector 55"/>
          <p:cNvCxnSpPr/>
          <p:nvPr/>
        </p:nvCxnSpPr>
        <p:spPr>
          <a:xfrm>
            <a:off x="9948397" y="2964420"/>
            <a:ext cx="267971" cy="0"/>
          </a:xfrm>
          <a:prstGeom prst="line">
            <a:avLst/>
          </a:prstGeom>
          <a:ln w="44661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305692" y="2887602"/>
            <a:ext cx="1120908" cy="2286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26456E"/>
                </a:solidFill>
                <a:latin typeface="Calibri"/>
              </a:rPr>
              <a:t>Benefit ($)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948397" y="3250257"/>
            <a:ext cx="267971" cy="0"/>
          </a:xfrm>
          <a:prstGeom prst="line">
            <a:avLst/>
          </a:prstGeom>
          <a:ln w="44661">
            <a:solidFill>
              <a:srgbClr val="D9770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305692" y="3173438"/>
            <a:ext cx="815206" cy="2286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26456E"/>
                </a:solidFill>
                <a:latin typeface="Calibri"/>
              </a:rPr>
              <a:t>Cost ($)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948397" y="3536094"/>
            <a:ext cx="267971" cy="0"/>
          </a:xfrm>
          <a:prstGeom prst="line">
            <a:avLst/>
          </a:prstGeom>
          <a:ln w="44661">
            <a:solidFill>
              <a:srgbClr val="115E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0305692" y="3459275"/>
            <a:ext cx="917106" cy="2286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26456E"/>
                </a:solidFill>
                <a:latin typeface="Calibri"/>
              </a:rPr>
              <a:t>Net Value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0638" y="7734212"/>
            <a:ext cx="13170672" cy="3144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115E59"/>
                </a:solidFill>
                <a:latin typeface="Calibri"/>
              </a:rPr>
              <a:t>Push speed only until the orange line catches the teal line. Beyond that, you’re burning cash.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3578840" y="1714499"/>
            <a:ext cx="4183379" cy="654618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58840" y="2274500"/>
            <a:ext cx="3823379" cy="2839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ROI rises sharply from daily to hourly to minute-level freshness.</a:t>
            </a:r>
          </a:p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ROI flattens between minute-level and second-level for most use cases.</a:t>
            </a:r>
          </a:p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Below 1 second, cost grows exponentially while incremental value flattens.</a:t>
            </a:r>
          </a:p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The sweet spot for 80% of enterprise workloads is </a:t>
            </a:r>
            <a:r>
              <a:rPr lang="en-GB" sz="1800" dirty="0">
                <a:solidFill>
                  <a:srgbClr val="26456E"/>
                </a:solidFill>
                <a:latin typeface="Calibri"/>
              </a:rPr>
              <a:t>1–5-minute</a:t>
            </a:r>
            <a:r>
              <a:rPr sz="1800" dirty="0">
                <a:solidFill>
                  <a:srgbClr val="26456E"/>
                </a:solidFill>
                <a:latin typeface="Calibri"/>
              </a:rPr>
              <a:t> micro-batch.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3578840" y="7137811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 dirty="0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Most ROI lives in the micro-batch zone, not in the streaming hype zone.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390" y="1474800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ROI Showdown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annual value vs cloud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89191" y="1825024"/>
            <a:ext cx="10131445" cy="4973618"/>
          </a:xfrm>
          <a:prstGeom prst="roundRect">
            <a:avLst>
              <a:gd name="adj" fmla="val 185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cxnSp>
        <p:nvCxnSpPr>
          <p:cNvPr id="10" name="Connector 9"/>
          <p:cNvCxnSpPr/>
          <p:nvPr/>
        </p:nvCxnSpPr>
        <p:spPr>
          <a:xfrm>
            <a:off x="2573399" y="1917128"/>
            <a:ext cx="0" cy="4605203"/>
          </a:xfrm>
          <a:prstGeom prst="line">
            <a:avLst/>
          </a:prstGeom>
          <a:ln w="92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27349" y="6604764"/>
            <a:ext cx="292100" cy="2011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$1K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26005" y="1917128"/>
            <a:ext cx="0" cy="4605203"/>
          </a:xfrm>
          <a:prstGeom prst="line">
            <a:avLst/>
          </a:prstGeom>
          <a:ln w="92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46726" y="6604764"/>
            <a:ext cx="358559" cy="2011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$10K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78611" y="1917128"/>
            <a:ext cx="0" cy="4605203"/>
          </a:xfrm>
          <a:prstGeom prst="line">
            <a:avLst/>
          </a:prstGeom>
          <a:ln w="92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54512" y="6604764"/>
            <a:ext cx="448199" cy="2011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$100K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31217" y="1917128"/>
            <a:ext cx="0" cy="4605203"/>
          </a:xfrm>
          <a:prstGeom prst="line">
            <a:avLst/>
          </a:prstGeom>
          <a:ln w="92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85167" y="6604764"/>
            <a:ext cx="292100" cy="2011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$1M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83823" y="1917128"/>
            <a:ext cx="0" cy="4605203"/>
          </a:xfrm>
          <a:prstGeom prst="line">
            <a:avLst/>
          </a:prstGeom>
          <a:ln w="92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04544" y="6604764"/>
            <a:ext cx="358559" cy="2011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$10M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336429" y="1917128"/>
            <a:ext cx="0" cy="4605203"/>
          </a:xfrm>
          <a:prstGeom prst="line">
            <a:avLst/>
          </a:prstGeom>
          <a:ln w="92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112330" y="6604764"/>
            <a:ext cx="448199" cy="2011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$100M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73399" y="2009232"/>
            <a:ext cx="8742053" cy="460520"/>
          </a:xfrm>
          <a:prstGeom prst="roundRect">
            <a:avLst>
              <a:gd name="adj" fmla="val 12000"/>
            </a:avLst>
          </a:prstGeom>
          <a:solidFill>
            <a:srgbClr val="EA580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Rounded Rectangle 22"/>
          <p:cNvSpPr/>
          <p:nvPr/>
        </p:nvSpPr>
        <p:spPr>
          <a:xfrm>
            <a:off x="2573399" y="2009232"/>
            <a:ext cx="3505288" cy="460520"/>
          </a:xfrm>
          <a:prstGeom prst="roundRect">
            <a:avLst>
              <a:gd name="adj" fmla="val 12000"/>
            </a:avLst>
          </a:prstGeom>
          <a:solidFill>
            <a:srgbClr val="26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513402" y="2111468"/>
            <a:ext cx="1737633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b="1">
                <a:solidFill>
                  <a:srgbClr val="26456E"/>
                </a:solidFill>
                <a:latin typeface="Calibri"/>
              </a:rPr>
              <a:t>Self-Driving Fleet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7572" y="2300742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EA580C"/>
                </a:solidFill>
                <a:latin typeface="Calibri"/>
              </a:rPr>
              <a:t>Streaming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9136" y="2175941"/>
            <a:ext cx="579211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$30.0M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9962" y="2199427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$62K cost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73399" y="2653961"/>
            <a:ext cx="6920168" cy="460520"/>
          </a:xfrm>
          <a:prstGeom prst="roundRect">
            <a:avLst>
              <a:gd name="adj" fmla="val 12000"/>
            </a:avLst>
          </a:prstGeom>
          <a:solidFill>
            <a:srgbClr val="EA580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Rounded Rectangle 28"/>
          <p:cNvSpPr/>
          <p:nvPr/>
        </p:nvSpPr>
        <p:spPr>
          <a:xfrm>
            <a:off x="2573399" y="2653961"/>
            <a:ext cx="4425975" cy="460520"/>
          </a:xfrm>
          <a:prstGeom prst="roundRect">
            <a:avLst>
              <a:gd name="adj" fmla="val 12000"/>
            </a:avLst>
          </a:prstGeom>
          <a:solidFill>
            <a:srgbClr val="26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320332" y="2756196"/>
            <a:ext cx="1930703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66" b="1">
                <a:solidFill>
                  <a:srgbClr val="26456E"/>
                </a:solidFill>
                <a:latin typeface="Calibri"/>
              </a:rPr>
              <a:t>Card Fraud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572" y="2945470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EA580C"/>
                </a:solidFill>
                <a:latin typeface="Calibri"/>
              </a:rPr>
              <a:t>Streaming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67251" y="2820669"/>
            <a:ext cx="482675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$3.5M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9155" y="2844156"/>
            <a:ext cx="81495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$185K cost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73399" y="3298689"/>
            <a:ext cx="5613861" cy="460520"/>
          </a:xfrm>
          <a:prstGeom prst="roundRect">
            <a:avLst>
              <a:gd name="adj" fmla="val 12000"/>
            </a:avLst>
          </a:prstGeom>
          <a:solidFill>
            <a:srgbClr val="EA580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Rounded Rectangle 34"/>
          <p:cNvSpPr/>
          <p:nvPr/>
        </p:nvSpPr>
        <p:spPr>
          <a:xfrm>
            <a:off x="2573399" y="3298689"/>
            <a:ext cx="3881128" cy="460520"/>
          </a:xfrm>
          <a:prstGeom prst="roundRect">
            <a:avLst>
              <a:gd name="adj" fmla="val 12000"/>
            </a:avLst>
          </a:prstGeom>
          <a:solidFill>
            <a:srgbClr val="26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6" name="TextBox 35"/>
          <p:cNvSpPr txBox="1"/>
          <p:nvPr/>
        </p:nvSpPr>
        <p:spPr>
          <a:xfrm>
            <a:off x="899543" y="3400925"/>
            <a:ext cx="1351492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b="1" dirty="0">
                <a:solidFill>
                  <a:srgbClr val="26456E"/>
                </a:solidFill>
                <a:latin typeface="Calibri"/>
              </a:rPr>
              <a:t>ICU Monitoring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7572" y="3590199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EA580C"/>
                </a:solidFill>
                <a:latin typeface="Calibri"/>
              </a:rPr>
              <a:t>Streaming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0944" y="3465398"/>
            <a:ext cx="482675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$750K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5803" y="3488884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$97K cost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73399" y="3943418"/>
            <a:ext cx="7621196" cy="460520"/>
          </a:xfrm>
          <a:prstGeom prst="roundRect">
            <a:avLst>
              <a:gd name="adj" fmla="val 12000"/>
            </a:avLst>
          </a:prstGeom>
          <a:solidFill>
            <a:srgbClr val="D9770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Rounded Rectangle 40"/>
          <p:cNvSpPr/>
          <p:nvPr/>
        </p:nvSpPr>
        <p:spPr>
          <a:xfrm>
            <a:off x="2573399" y="3943418"/>
            <a:ext cx="2965059" cy="460520"/>
          </a:xfrm>
          <a:prstGeom prst="roundRect">
            <a:avLst>
              <a:gd name="adj" fmla="val 12000"/>
            </a:avLst>
          </a:prstGeom>
          <a:solidFill>
            <a:srgbClr val="26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2" name="TextBox 41"/>
          <p:cNvSpPr txBox="1"/>
          <p:nvPr/>
        </p:nvSpPr>
        <p:spPr>
          <a:xfrm>
            <a:off x="223797" y="4045653"/>
            <a:ext cx="2027238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b="1" dirty="0">
                <a:solidFill>
                  <a:srgbClr val="26456E"/>
                </a:solidFill>
                <a:latin typeface="Calibri"/>
              </a:rPr>
              <a:t>E-com Personalization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4581" y="4234927"/>
            <a:ext cx="8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D97706"/>
                </a:solidFill>
                <a:latin typeface="Calibri"/>
              </a:rPr>
              <a:t>Micro-batch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68279" y="4110126"/>
            <a:ext cx="482675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Calibri"/>
              </a:rPr>
              <a:t>$8.0M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49733" y="4133612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$33K cost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73399" y="4588146"/>
            <a:ext cx="6789447" cy="460520"/>
          </a:xfrm>
          <a:prstGeom prst="roundRect">
            <a:avLst>
              <a:gd name="adj" fmla="val 12000"/>
            </a:avLst>
          </a:prstGeom>
          <a:solidFill>
            <a:srgbClr val="D9770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7" name="Rounded Rectangle 46"/>
          <p:cNvSpPr/>
          <p:nvPr/>
        </p:nvSpPr>
        <p:spPr>
          <a:xfrm>
            <a:off x="2573399" y="4588146"/>
            <a:ext cx="3066651" cy="460520"/>
          </a:xfrm>
          <a:prstGeom prst="roundRect">
            <a:avLst>
              <a:gd name="adj" fmla="val 12000"/>
            </a:avLst>
          </a:prstGeom>
          <a:solidFill>
            <a:srgbClr val="26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8" name="TextBox 47"/>
          <p:cNvSpPr txBox="1"/>
          <p:nvPr/>
        </p:nvSpPr>
        <p:spPr>
          <a:xfrm>
            <a:off x="416867" y="4690381"/>
            <a:ext cx="1834168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b="1">
                <a:solidFill>
                  <a:srgbClr val="26456E"/>
                </a:solidFill>
                <a:latin typeface="Calibri"/>
              </a:rPr>
              <a:t>Inventory Rebalance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54581" y="4879655"/>
            <a:ext cx="8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D97706"/>
                </a:solidFill>
                <a:latin typeface="Calibri"/>
              </a:rPr>
              <a:t>Micro-batch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36530" y="4754854"/>
            <a:ext cx="482675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Calibri"/>
              </a:rPr>
              <a:t>$3.0M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51325" y="4778341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$37K cost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73399" y="5232874"/>
            <a:ext cx="6356264" cy="460520"/>
          </a:xfrm>
          <a:prstGeom prst="roundRect">
            <a:avLst>
              <a:gd name="adj" fmla="val 12000"/>
            </a:avLst>
          </a:prstGeom>
          <a:solidFill>
            <a:srgbClr val="0F766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3" name="Rounded Rectangle 52"/>
          <p:cNvSpPr/>
          <p:nvPr/>
        </p:nvSpPr>
        <p:spPr>
          <a:xfrm>
            <a:off x="2573399" y="5232874"/>
            <a:ext cx="2451052" cy="460520"/>
          </a:xfrm>
          <a:prstGeom prst="roundRect">
            <a:avLst>
              <a:gd name="adj" fmla="val 12000"/>
            </a:avLst>
          </a:prstGeom>
          <a:solidFill>
            <a:srgbClr val="26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4" name="TextBox 53"/>
          <p:cNvSpPr txBox="1"/>
          <p:nvPr/>
        </p:nvSpPr>
        <p:spPr>
          <a:xfrm>
            <a:off x="899543" y="5335110"/>
            <a:ext cx="1351492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b="1">
                <a:solidFill>
                  <a:srgbClr val="26456E"/>
                </a:solidFill>
                <a:latin typeface="Calibri"/>
              </a:rPr>
              <a:t>Customer Churn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43556" y="5524384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0F766E"/>
                </a:solidFill>
                <a:latin typeface="Calibri"/>
              </a:rPr>
              <a:t>Batch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3347" y="5399583"/>
            <a:ext cx="482675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$1.8M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35726" y="5423069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$18K cost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73399" y="5877603"/>
            <a:ext cx="5857817" cy="460520"/>
          </a:xfrm>
          <a:prstGeom prst="roundRect">
            <a:avLst>
              <a:gd name="adj" fmla="val 12000"/>
            </a:avLst>
          </a:prstGeom>
          <a:solidFill>
            <a:srgbClr val="0F766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9" name="Rounded Rectangle 58"/>
          <p:cNvSpPr/>
          <p:nvPr/>
        </p:nvSpPr>
        <p:spPr>
          <a:xfrm>
            <a:off x="2573399" y="5877603"/>
            <a:ext cx="2107215" cy="460520"/>
          </a:xfrm>
          <a:prstGeom prst="roundRect">
            <a:avLst>
              <a:gd name="adj" fmla="val 12000"/>
            </a:avLst>
          </a:prstGeom>
          <a:solidFill>
            <a:srgbClr val="26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0" name="TextBox 59"/>
          <p:cNvSpPr txBox="1"/>
          <p:nvPr/>
        </p:nvSpPr>
        <p:spPr>
          <a:xfrm>
            <a:off x="223797" y="5979838"/>
            <a:ext cx="2027238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b="1">
                <a:solidFill>
                  <a:srgbClr val="26456E"/>
                </a:solidFill>
                <a:latin typeface="Calibri"/>
              </a:rPr>
              <a:t>Marketing Attribution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43556" y="6169112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dirty="0">
                <a:solidFill>
                  <a:srgbClr val="0F766E"/>
                </a:solidFill>
                <a:latin typeface="Calibri"/>
              </a:rPr>
              <a:t>Batch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4900" y="6044311"/>
            <a:ext cx="482675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$1.0M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91890" y="6067798"/>
            <a:ext cx="73346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$12K cost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46991" y="1806604"/>
            <a:ext cx="2578913" cy="7368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5" name="Rectangle 64"/>
          <p:cNvSpPr/>
          <p:nvPr/>
        </p:nvSpPr>
        <p:spPr>
          <a:xfrm>
            <a:off x="9757515" y="2009232"/>
            <a:ext cx="202628" cy="110524"/>
          </a:xfrm>
          <a:prstGeom prst="rect">
            <a:avLst/>
          </a:prstGeom>
          <a:solidFill>
            <a:srgbClr val="26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6" name="TextBox 65"/>
          <p:cNvSpPr txBox="1"/>
          <p:nvPr/>
        </p:nvSpPr>
        <p:spPr>
          <a:xfrm>
            <a:off x="10033828" y="2008772"/>
            <a:ext cx="2143412" cy="1875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>
                <a:solidFill>
                  <a:srgbClr val="26456E"/>
                </a:solidFill>
                <a:latin typeface="Calibri"/>
              </a:rPr>
              <a:t>Cloud + run cost (annual)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57515" y="2230282"/>
            <a:ext cx="202628" cy="110524"/>
          </a:xfrm>
          <a:prstGeom prst="rect">
            <a:avLst/>
          </a:prstGeom>
          <a:solidFill>
            <a:srgbClr val="0F766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8" name="TextBox 67"/>
          <p:cNvSpPr txBox="1"/>
          <p:nvPr/>
        </p:nvSpPr>
        <p:spPr>
          <a:xfrm>
            <a:off x="10033828" y="2229822"/>
            <a:ext cx="2061715" cy="2011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>
                <a:solidFill>
                  <a:srgbClr val="26456E"/>
                </a:solidFill>
                <a:latin typeface="Calibri"/>
              </a:rPr>
              <a:t>Business value (annual)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89191" y="7074955"/>
            <a:ext cx="10131445" cy="736832"/>
          </a:xfrm>
          <a:prstGeom prst="roundRect">
            <a:avLst>
              <a:gd name="adj" fmla="val 17500"/>
            </a:avLst>
          </a:prstGeom>
          <a:solidFill>
            <a:srgbClr val="ECFDF5"/>
          </a:solidFill>
          <a:ln w="1842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0" name="TextBox 69"/>
          <p:cNvSpPr txBox="1"/>
          <p:nvPr/>
        </p:nvSpPr>
        <p:spPr>
          <a:xfrm>
            <a:off x="2672872" y="7213111"/>
            <a:ext cx="9564085" cy="2520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115E59"/>
                </a:solidFill>
                <a:latin typeface="Calibri"/>
              </a:rPr>
              <a:t>Every use case clears 600% ROI. The dark bar is barely visible — that is the point.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72872" y="7499555"/>
            <a:ext cx="9564084" cy="2156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>
                <a:solidFill>
                  <a:srgbClr val="475569"/>
                </a:solidFill>
                <a:latin typeface="Calibri"/>
              </a:rPr>
              <a:t>Cloud cost is rounding error vs. business value — IF you pick the right speed and a real outcome.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12420" y="8489067"/>
            <a:ext cx="4537153" cy="2166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dirty="0">
                <a:solidFill>
                  <a:srgbClr val="475569"/>
                </a:solidFill>
                <a:latin typeface="Calibri"/>
              </a:rPr>
              <a:t>Pricing approximate · public list rates 2025/26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3578840" y="1714500"/>
            <a:ext cx="4183379" cy="66313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Fraud streaming: $3B value vs $5M cost → 600x ROI.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E-commerce micro-batch: $50M vs $1M → 50x ROI.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Churn batch: $20M vs $200K → 100x ROI.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ICU streaming: priceless. Literally.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3578840" y="7218534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Cloud cost is a rounding error against business value — when the speed is right.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344400" y="0"/>
            <a:ext cx="5943142" cy="10287000"/>
          </a:xfrm>
          <a:prstGeom prst="rect">
            <a:avLst/>
          </a:prstGeom>
          <a:solidFill>
            <a:srgbClr val="14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0" y="1920239"/>
            <a:ext cx="5897879" cy="61722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sz="36000" b="1" i="0">
                <a:solidFill>
                  <a:srgbClr val="2A4A73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54380"/>
            <a:ext cx="1097280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DATA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316736"/>
            <a:ext cx="16047719" cy="8000"/>
          </a:xfrm>
          <a:prstGeom prst="rect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291839"/>
            <a:ext cx="10972800" cy="6858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100" b="1" i="0">
                <a:solidFill>
                  <a:srgbClr val="B45309"/>
                </a:solidFill>
                <a:latin typeface="Calibri"/>
              </a:rPr>
              <a:t>PART 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183379"/>
            <a:ext cx="2194560" cy="8229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526279"/>
            <a:ext cx="10972800" cy="329183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8100" b="1" i="0">
                <a:solidFill>
                  <a:srgbClr val="FFFFFF"/>
                </a:solidFill>
                <a:latin typeface="Calibri"/>
              </a:rPr>
              <a:t>Real-World Use Cases &amp; Cloud Cost Analysis</a:t>
            </a:r>
          </a:p>
        </p:txBody>
      </p:sp>
      <p:pic>
        <p:nvPicPr>
          <p:cNvPr id="12" name="Picture 11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99" y="1410070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The Use Case Universe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where each speed wins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4934" y="2628089"/>
            <a:ext cx="12270332" cy="5184647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96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Rectangle 10"/>
          <p:cNvSpPr/>
          <p:nvPr/>
        </p:nvSpPr>
        <p:spPr>
          <a:xfrm>
            <a:off x="1084934" y="2628089"/>
            <a:ext cx="4087230" cy="5184647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Rectangle 11"/>
          <p:cNvSpPr/>
          <p:nvPr/>
        </p:nvSpPr>
        <p:spPr>
          <a:xfrm>
            <a:off x="5172165" y="2628089"/>
            <a:ext cx="4087230" cy="5184647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Rectangle 12"/>
          <p:cNvSpPr/>
          <p:nvPr/>
        </p:nvSpPr>
        <p:spPr>
          <a:xfrm>
            <a:off x="9259395" y="2628089"/>
            <a:ext cx="4095871" cy="5184647"/>
          </a:xfrm>
          <a:prstGeom prst="rect">
            <a:avLst/>
          </a:prstGeom>
          <a:solidFill>
            <a:srgbClr val="FFF7ED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1946845" y="7580292"/>
            <a:ext cx="2354768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BATCH  ·  hours-days  ·  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0667" y="7580292"/>
            <a:ext cx="344158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Calibri"/>
              </a:rPr>
              <a:t>MICRO-BATCH  ·  seconds-minutes  ·  $$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7675" y="7580292"/>
            <a:ext cx="3079312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Calibri"/>
              </a:rPr>
              <a:t>STREAMING  ·  milliseconds  ·  $$$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72165" y="2973733"/>
            <a:ext cx="0" cy="4752593"/>
          </a:xfrm>
          <a:prstGeom prst="line">
            <a:avLst/>
          </a:prstGeom>
          <a:ln w="12961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59395" y="2973733"/>
            <a:ext cx="0" cy="4752593"/>
          </a:xfrm>
          <a:prstGeom prst="line">
            <a:avLst/>
          </a:prstGeom>
          <a:ln w="12961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4250" y="3238582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Calibri"/>
              </a:rPr>
              <a:t>$30M+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746" y="4102690"/>
            <a:ext cx="32598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Calibri"/>
              </a:rPr>
              <a:t>$10M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629" y="4966798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Calibri"/>
              </a:rPr>
              <a:t>$3M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629" y="5830906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Calibri"/>
              </a:rPr>
              <a:t>$1M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250" y="6695013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Calibri"/>
              </a:rPr>
              <a:t>$300K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84934" y="3284811"/>
            <a:ext cx="12270333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84934" y="4148919"/>
            <a:ext cx="12270333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84934" y="5013027"/>
            <a:ext cx="12270333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84934" y="5877135"/>
            <a:ext cx="12270333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84934" y="6741243"/>
            <a:ext cx="12270333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087299" y="5272260"/>
            <a:ext cx="760414" cy="760414"/>
          </a:xfrm>
          <a:prstGeom prst="ellipse">
            <a:avLst/>
          </a:prstGeom>
          <a:solidFill>
            <a:srgbClr val="0F766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0" name="TextBox 29"/>
          <p:cNvSpPr txBox="1"/>
          <p:nvPr/>
        </p:nvSpPr>
        <p:spPr>
          <a:xfrm>
            <a:off x="2243244" y="5591548"/>
            <a:ext cx="448527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CHURN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87872" y="6082793"/>
            <a:ext cx="115927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115E59"/>
                </a:solidFill>
                <a:latin typeface="Calibri"/>
              </a:rPr>
              <a:t>Customer Churn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7036" y="6228395"/>
            <a:ext cx="1140942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$1.8M retained</a:t>
            </a:r>
          </a:p>
        </p:txBody>
      </p:sp>
      <p:sp>
        <p:nvSpPr>
          <p:cNvPr id="33" name="Oval 32"/>
          <p:cNvSpPr/>
          <p:nvPr/>
        </p:nvSpPr>
        <p:spPr>
          <a:xfrm>
            <a:off x="3625411" y="5687032"/>
            <a:ext cx="622157" cy="622157"/>
          </a:xfrm>
          <a:prstGeom prst="ellipse">
            <a:avLst/>
          </a:prstGeom>
          <a:solidFill>
            <a:srgbClr val="0F766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4" name="TextBox 33"/>
          <p:cNvSpPr txBox="1"/>
          <p:nvPr/>
        </p:nvSpPr>
        <p:spPr>
          <a:xfrm>
            <a:off x="3770880" y="5935895"/>
            <a:ext cx="33122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ATTR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7038" y="6376590"/>
            <a:ext cx="1738905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115E59"/>
                </a:solidFill>
                <a:latin typeface="Calibri"/>
              </a:rPr>
              <a:t>Marketing Attribution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25271" y="6522192"/>
            <a:ext cx="122243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$1M reallocated</a:t>
            </a:r>
          </a:p>
        </p:txBody>
      </p:sp>
      <p:sp>
        <p:nvSpPr>
          <p:cNvPr id="37" name="Oval 36"/>
          <p:cNvSpPr/>
          <p:nvPr/>
        </p:nvSpPr>
        <p:spPr>
          <a:xfrm>
            <a:off x="2640328" y="4442716"/>
            <a:ext cx="864107" cy="864107"/>
          </a:xfrm>
          <a:prstGeom prst="ellipse">
            <a:avLst/>
          </a:prstGeom>
          <a:solidFill>
            <a:srgbClr val="0F766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8" name="TextBox 37"/>
          <p:cNvSpPr txBox="1"/>
          <p:nvPr/>
        </p:nvSpPr>
        <p:spPr>
          <a:xfrm>
            <a:off x="2803266" y="4672064"/>
            <a:ext cx="538232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DEMAND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6399" y="4914951"/>
            <a:ext cx="651967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FORECAST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6242" y="5283210"/>
            <a:ext cx="1548422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dirty="0">
                <a:solidFill>
                  <a:srgbClr val="475569"/>
                </a:solidFill>
                <a:latin typeface="Calibri"/>
              </a:rPr>
              <a:t>$3M inventory saved</a:t>
            </a:r>
          </a:p>
        </p:txBody>
      </p:sp>
      <p:sp>
        <p:nvSpPr>
          <p:cNvPr id="41" name="Oval 40"/>
          <p:cNvSpPr/>
          <p:nvPr/>
        </p:nvSpPr>
        <p:spPr>
          <a:xfrm>
            <a:off x="5872092" y="3872405"/>
            <a:ext cx="967800" cy="967800"/>
          </a:xfrm>
          <a:prstGeom prst="ellipse">
            <a:avLst/>
          </a:prstGeom>
          <a:solidFill>
            <a:srgbClr val="D9770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2" name="TextBox 41"/>
          <p:cNvSpPr txBox="1"/>
          <p:nvPr/>
        </p:nvSpPr>
        <p:spPr>
          <a:xfrm>
            <a:off x="6086876" y="4153599"/>
            <a:ext cx="538232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E-COMM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70757" y="4396486"/>
            <a:ext cx="570471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PERSON.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04025" y="4880387"/>
            <a:ext cx="130393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dirty="0">
                <a:solidFill>
                  <a:srgbClr val="475569"/>
                </a:solidFill>
                <a:latin typeface="Calibri"/>
              </a:rPr>
              <a:t>$8M revenue lift</a:t>
            </a:r>
          </a:p>
        </p:txBody>
      </p:sp>
      <p:sp>
        <p:nvSpPr>
          <p:cNvPr id="45" name="Oval 44"/>
          <p:cNvSpPr/>
          <p:nvPr/>
        </p:nvSpPr>
        <p:spPr>
          <a:xfrm>
            <a:off x="7479333" y="5134002"/>
            <a:ext cx="691286" cy="691286"/>
          </a:xfrm>
          <a:prstGeom prst="ellipse">
            <a:avLst/>
          </a:prstGeom>
          <a:solidFill>
            <a:srgbClr val="D9770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6" name="TextBox 45"/>
          <p:cNvSpPr txBox="1"/>
          <p:nvPr/>
        </p:nvSpPr>
        <p:spPr>
          <a:xfrm>
            <a:off x="7617964" y="5426071"/>
            <a:ext cx="414025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8329" y="5840843"/>
            <a:ext cx="1573295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92400E"/>
                </a:solidFill>
                <a:latin typeface="Calibri"/>
              </a:rPr>
              <a:t>Inventory Rebalance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13757" y="5986445"/>
            <a:ext cx="122243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$2M working cap</a:t>
            </a:r>
          </a:p>
        </p:txBody>
      </p:sp>
      <p:sp>
        <p:nvSpPr>
          <p:cNvPr id="49" name="Oval 48"/>
          <p:cNvSpPr/>
          <p:nvPr/>
        </p:nvSpPr>
        <p:spPr>
          <a:xfrm>
            <a:off x="8205183" y="4218048"/>
            <a:ext cx="794979" cy="794979"/>
          </a:xfrm>
          <a:prstGeom prst="ellipse">
            <a:avLst/>
          </a:prstGeom>
          <a:solidFill>
            <a:srgbClr val="D9770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0" name="TextBox 49"/>
          <p:cNvSpPr txBox="1"/>
          <p:nvPr/>
        </p:nvSpPr>
        <p:spPr>
          <a:xfrm>
            <a:off x="8333557" y="4545977"/>
            <a:ext cx="538232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 BID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9328" y="5028581"/>
            <a:ext cx="102669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92400E"/>
                </a:solidFill>
                <a:latin typeface="Calibri"/>
              </a:rPr>
              <a:t>Real-time Bidding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6574" y="5174183"/>
            <a:ext cx="1012199" cy="14757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dirty="0">
                <a:solidFill>
                  <a:srgbClr val="475569"/>
                </a:solidFill>
                <a:latin typeface="Calibri"/>
              </a:rPr>
              <a:t>+18% CTR uplift</a:t>
            </a:r>
          </a:p>
        </p:txBody>
      </p:sp>
      <p:sp>
        <p:nvSpPr>
          <p:cNvPr id="53" name="Oval 52"/>
          <p:cNvSpPr/>
          <p:nvPr/>
        </p:nvSpPr>
        <p:spPr>
          <a:xfrm>
            <a:off x="9846988" y="2749065"/>
            <a:ext cx="1140622" cy="1140622"/>
          </a:xfrm>
          <a:prstGeom prst="ellipse">
            <a:avLst/>
          </a:prstGeom>
          <a:solidFill>
            <a:srgbClr val="EA580C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4" name="TextBox 53"/>
          <p:cNvSpPr txBox="1"/>
          <p:nvPr/>
        </p:nvSpPr>
        <p:spPr>
          <a:xfrm>
            <a:off x="10190880" y="3092043"/>
            <a:ext cx="45284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SELF-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0312" y="3337522"/>
            <a:ext cx="633976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DRIVING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54860" y="3922523"/>
            <a:ext cx="132488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9A3412"/>
                </a:solidFill>
                <a:latin typeface="Calibri"/>
              </a:rPr>
              <a:t>Autonomous fleet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65333" y="4068125"/>
            <a:ext cx="130393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dirty="0">
                <a:solidFill>
                  <a:srgbClr val="475569"/>
                </a:solidFill>
                <a:latin typeface="Calibri"/>
              </a:rPr>
              <a:t>$30M+ saved / yr</a:t>
            </a:r>
          </a:p>
        </p:txBody>
      </p:sp>
      <p:sp>
        <p:nvSpPr>
          <p:cNvPr id="58" name="Oval 57"/>
          <p:cNvSpPr/>
          <p:nvPr/>
        </p:nvSpPr>
        <p:spPr>
          <a:xfrm>
            <a:off x="11713462" y="4529127"/>
            <a:ext cx="864107" cy="864107"/>
          </a:xfrm>
          <a:prstGeom prst="ellipse">
            <a:avLst/>
          </a:prstGeom>
          <a:solidFill>
            <a:srgbClr val="EA580C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9" name="TextBox 58"/>
          <p:cNvSpPr txBox="1"/>
          <p:nvPr/>
        </p:nvSpPr>
        <p:spPr>
          <a:xfrm>
            <a:off x="11966106" y="4758475"/>
            <a:ext cx="358821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41777" y="5001362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FRAUD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24479" y="5443353"/>
            <a:ext cx="1242075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9A3412"/>
                </a:solidFill>
                <a:latin typeface="Calibri"/>
              </a:rPr>
              <a:t>Fraud Detection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12053" y="5588955"/>
            <a:ext cx="1466926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dirty="0">
                <a:solidFill>
                  <a:srgbClr val="475569"/>
                </a:solidFill>
                <a:latin typeface="Calibri"/>
              </a:rPr>
              <a:t>$3.5M loss avoided</a:t>
            </a:r>
          </a:p>
        </p:txBody>
      </p:sp>
      <p:sp>
        <p:nvSpPr>
          <p:cNvPr id="63" name="Oval 62"/>
          <p:cNvSpPr/>
          <p:nvPr/>
        </p:nvSpPr>
        <p:spPr>
          <a:xfrm>
            <a:off x="10296325" y="4321741"/>
            <a:ext cx="760414" cy="760414"/>
          </a:xfrm>
          <a:prstGeom prst="ellipse">
            <a:avLst/>
          </a:prstGeom>
          <a:solidFill>
            <a:srgbClr val="EA580C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4" name="TextBox 63"/>
          <p:cNvSpPr txBox="1"/>
          <p:nvPr/>
        </p:nvSpPr>
        <p:spPr>
          <a:xfrm>
            <a:off x="10530482" y="4648374"/>
            <a:ext cx="29210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ICU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31287" y="5114992"/>
            <a:ext cx="149049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9A3412"/>
                </a:solidFill>
                <a:latin typeface="Calibri"/>
              </a:rPr>
              <a:t>Patient Monitoring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02321" y="5260594"/>
            <a:ext cx="1548422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dirty="0">
                <a:solidFill>
                  <a:srgbClr val="475569"/>
                </a:solidFill>
                <a:latin typeface="Calibri"/>
              </a:rPr>
              <a:t>15 lives saved / yr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66496" y="7940625"/>
            <a:ext cx="6707208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 dirty="0">
                <a:solidFill>
                  <a:srgbClr val="94A3B8"/>
                </a:solidFill>
                <a:latin typeface="Calibri"/>
              </a:rPr>
              <a:t>required freshness  ·  slower (cheaper) ----&gt; faster (richer signal, higher cost)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86495" y="8357125"/>
            <a:ext cx="8748747" cy="276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115E59"/>
                </a:solidFill>
                <a:latin typeface="Calibri"/>
              </a:rPr>
              <a:t>Same engineering toolbox -&gt; three speeds -&gt; nine industries pay for it.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3578840" y="1714499"/>
            <a:ext cx="4183379" cy="62261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Streaming wins where decisions land in &lt;1s (fraud, fleet, safety).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Micro-batch wins where freshness matters but seconds do not (ads, dispatch).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Batch wins where the answer is needed daily, not minute-by-minute (forecasts, reports).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Same value-chain, three speeds, very different cloud bills.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3572844" y="6816427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Find your use case on this map before picking technology.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482" y="1509189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09728"/>
            <a:ext cx="1687068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Card Fraud Detection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sub-100ms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291" y="2647192"/>
            <a:ext cx="434726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100 MILLISECOND DECISION BUDGET · ONE CARD SWIPE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469" y="2879637"/>
            <a:ext cx="12788797" cy="241950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282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cxnSp>
        <p:nvCxnSpPr>
          <p:cNvPr id="11" name="Connector 10"/>
          <p:cNvCxnSpPr/>
          <p:nvPr/>
        </p:nvCxnSpPr>
        <p:spPr>
          <a:xfrm>
            <a:off x="1084934" y="3225280"/>
            <a:ext cx="11924690" cy="0"/>
          </a:xfrm>
          <a:prstGeom prst="line">
            <a:avLst/>
          </a:prstGeom>
          <a:ln w="8641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84934" y="3173433"/>
            <a:ext cx="0" cy="103693"/>
          </a:xfrm>
          <a:prstGeom prst="line">
            <a:avLst/>
          </a:prstGeom>
          <a:ln w="8641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77403" y="3173433"/>
            <a:ext cx="0" cy="103693"/>
          </a:xfrm>
          <a:prstGeom prst="line">
            <a:avLst/>
          </a:prstGeom>
          <a:ln w="8641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69872" y="3173433"/>
            <a:ext cx="0" cy="103693"/>
          </a:xfrm>
          <a:prstGeom prst="line">
            <a:avLst/>
          </a:prstGeom>
          <a:ln w="8641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2341" y="3173433"/>
            <a:ext cx="0" cy="103693"/>
          </a:xfrm>
          <a:prstGeom prst="line">
            <a:avLst/>
          </a:prstGeom>
          <a:ln w="8641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54810" y="3173433"/>
            <a:ext cx="0" cy="103693"/>
          </a:xfrm>
          <a:prstGeom prst="line">
            <a:avLst/>
          </a:prstGeom>
          <a:ln w="8641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7279" y="3173433"/>
            <a:ext cx="0" cy="103693"/>
          </a:xfrm>
          <a:prstGeom prst="line">
            <a:avLst/>
          </a:prstGeom>
          <a:ln w="8641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39748" y="3173433"/>
            <a:ext cx="0" cy="103693"/>
          </a:xfrm>
          <a:prstGeom prst="line">
            <a:avLst/>
          </a:prstGeom>
          <a:ln w="8641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32217" y="3173433"/>
            <a:ext cx="0" cy="103693"/>
          </a:xfrm>
          <a:prstGeom prst="line">
            <a:avLst/>
          </a:prstGeom>
          <a:ln w="8641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624686" y="3173433"/>
            <a:ext cx="0" cy="103693"/>
          </a:xfrm>
          <a:prstGeom prst="line">
            <a:avLst/>
          </a:prstGeom>
          <a:ln w="8641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17155" y="3173433"/>
            <a:ext cx="0" cy="103693"/>
          </a:xfrm>
          <a:prstGeom prst="line">
            <a:avLst/>
          </a:prstGeom>
          <a:ln w="8641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009624" y="3173433"/>
            <a:ext cx="0" cy="103693"/>
          </a:xfrm>
          <a:prstGeom prst="line">
            <a:avLst/>
          </a:prstGeom>
          <a:ln w="8641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35074" y="3040793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1353" y="3040793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3822" y="3040793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6291" y="3040793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Calibri"/>
              </a:rPr>
              <a:t>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08760" y="3040793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Calibri"/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1229" y="3040793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Calibri"/>
              </a:rPr>
              <a:t>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3698" y="3040793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Calibri"/>
              </a:rPr>
              <a:t>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6167" y="3040793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Calibri"/>
              </a:rPr>
              <a:t>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8636" y="3040793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Calibri"/>
              </a:rPr>
              <a:t>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71105" y="3040793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Calibri"/>
              </a:rPr>
              <a:t>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5885" y="3040793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Calibri"/>
              </a:rPr>
              <a:t>100ms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84934" y="3484512"/>
            <a:ext cx="596234" cy="345643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1241322" y="3612400"/>
            <a:ext cx="29210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952" y="3878977"/>
            <a:ext cx="634841" cy="1388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26456E"/>
                </a:solidFill>
                <a:latin typeface="Calibri"/>
              </a:rPr>
              <a:t>CARD SWIPE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265" y="4015939"/>
            <a:ext cx="671903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dirty="0">
                <a:solidFill>
                  <a:srgbClr val="475569"/>
                </a:solidFill>
                <a:latin typeface="Calibri"/>
              </a:rPr>
              <a:t>terminal -&gt; </a:t>
            </a:r>
            <a:br>
              <a:rPr lang="en-GB" sz="1000" dirty="0">
                <a:solidFill>
                  <a:srgbClr val="475569"/>
                </a:solidFill>
                <a:latin typeface="Calibri"/>
              </a:rPr>
            </a:br>
            <a:r>
              <a:rPr sz="1000" dirty="0">
                <a:solidFill>
                  <a:srgbClr val="475569"/>
                </a:solidFill>
                <a:latin typeface="Calibri"/>
              </a:rPr>
              <a:t>gateway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81169" y="3484512"/>
            <a:ext cx="1192468" cy="345643"/>
          </a:xfrm>
          <a:prstGeom prst="roundRect">
            <a:avLst>
              <a:gd name="adj" fmla="val 15000"/>
            </a:avLst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2111793" y="3612400"/>
            <a:ext cx="33122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47680" y="3878977"/>
            <a:ext cx="1059446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 dirty="0">
                <a:solidFill>
                  <a:srgbClr val="26456E"/>
                </a:solidFill>
                <a:latin typeface="Calibri"/>
              </a:rPr>
              <a:t>FEATURE STORE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9358" y="4015939"/>
            <a:ext cx="11106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dirty="0">
                <a:solidFill>
                  <a:srgbClr val="475569"/>
                </a:solidFill>
                <a:latin typeface="Calibri"/>
              </a:rPr>
              <a:t>500+ features </a:t>
            </a:r>
            <a:br>
              <a:rPr lang="en-GB" sz="1100" dirty="0">
                <a:solidFill>
                  <a:srgbClr val="475569"/>
                </a:solidFill>
                <a:latin typeface="Calibri"/>
              </a:rPr>
            </a:br>
            <a:r>
              <a:rPr sz="1100" dirty="0">
                <a:solidFill>
                  <a:srgbClr val="475569"/>
                </a:solidFill>
                <a:latin typeface="Calibri"/>
              </a:rPr>
              <a:t>/ card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73637" y="3484512"/>
            <a:ext cx="2981172" cy="345643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TextBox 42"/>
          <p:cNvSpPr txBox="1"/>
          <p:nvPr/>
        </p:nvSpPr>
        <p:spPr>
          <a:xfrm>
            <a:off x="4180493" y="3605055"/>
            <a:ext cx="358821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25ms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7936" y="3878977"/>
            <a:ext cx="130393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26456E"/>
                </a:solidFill>
                <a:latin typeface="Calibri"/>
              </a:rPr>
              <a:t>ML MODEL SCORING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2701" y="4015939"/>
            <a:ext cx="1874405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gradient-boost ensemble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54810" y="3484512"/>
            <a:ext cx="1788703" cy="345643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7" name="TextBox 46"/>
          <p:cNvSpPr txBox="1"/>
          <p:nvPr/>
        </p:nvSpPr>
        <p:spPr>
          <a:xfrm>
            <a:off x="6579231" y="3612400"/>
            <a:ext cx="33122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15ms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2874" y="3878977"/>
            <a:ext cx="130393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26456E"/>
                </a:solidFill>
                <a:latin typeface="Calibri"/>
              </a:rPr>
              <a:t>RULES / VELOCITY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3622" y="4015939"/>
            <a:ext cx="122243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policy overlays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43513" y="3484512"/>
            <a:ext cx="1192468" cy="345643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TextBox 50"/>
          <p:cNvSpPr txBox="1"/>
          <p:nvPr/>
        </p:nvSpPr>
        <p:spPr>
          <a:xfrm>
            <a:off x="8074138" y="3612400"/>
            <a:ext cx="33122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13765" y="3878977"/>
            <a:ext cx="651967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26456E"/>
                </a:solidFill>
                <a:latin typeface="Calibri"/>
              </a:rPr>
              <a:t>DECISION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02546" y="4015939"/>
            <a:ext cx="1874405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approve / deny / review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35982" y="3484512"/>
            <a:ext cx="2384937" cy="345643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5" name="TextBox 54"/>
          <p:cNvSpPr txBox="1"/>
          <p:nvPr/>
        </p:nvSpPr>
        <p:spPr>
          <a:xfrm>
            <a:off x="9849041" y="3605055"/>
            <a:ext cx="358821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9476" y="3878977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26456E"/>
                </a:solidFill>
                <a:latin typeface="Calibri"/>
              </a:rPr>
              <a:t>RESPONSE OUT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54240" y="4015939"/>
            <a:ext cx="1548422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gateway -&gt; terminal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220920" y="3484512"/>
            <a:ext cx="1788703" cy="345643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9" name="TextBox 58"/>
          <p:cNvSpPr txBox="1"/>
          <p:nvPr/>
        </p:nvSpPr>
        <p:spPr>
          <a:xfrm>
            <a:off x="11945341" y="3612400"/>
            <a:ext cx="33122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0F766E"/>
                </a:solidFill>
                <a:latin typeface="Calibri"/>
              </a:rPr>
              <a:t>15ms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784968" y="3878977"/>
            <a:ext cx="651967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0F766E"/>
                </a:solidFill>
                <a:latin typeface="Calibri"/>
              </a:rPr>
              <a:t>HEADROOM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03472" y="4015939"/>
            <a:ext cx="81495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SLA buffer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3009624" y="3398101"/>
            <a:ext cx="0" cy="993724"/>
          </a:xfrm>
          <a:prstGeom prst="line">
            <a:avLst/>
          </a:prstGeom>
          <a:ln w="17282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167710" y="4253136"/>
            <a:ext cx="807349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 b="1">
                <a:solidFill>
                  <a:srgbClr val="0F766E"/>
                </a:solidFill>
                <a:latin typeface="Calibri"/>
              </a:rPr>
              <a:t>100ms SLA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84934" y="4478236"/>
            <a:ext cx="11924689" cy="674004"/>
          </a:xfrm>
          <a:prstGeom prst="roundRect">
            <a:avLst>
              <a:gd name="adj" fmla="val 15384"/>
            </a:avLst>
          </a:prstGeom>
          <a:solidFill>
            <a:srgbClr val="FEF3C7"/>
          </a:solidFill>
          <a:ln w="17282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5" name="TextBox 64"/>
          <p:cNvSpPr txBox="1"/>
          <p:nvPr/>
        </p:nvSpPr>
        <p:spPr>
          <a:xfrm>
            <a:off x="3997540" y="4575880"/>
            <a:ext cx="6099478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92400E"/>
                </a:solidFill>
                <a:latin typeface="Calibri"/>
              </a:rPr>
              <a:t>7 SERVICES.  100 MILLISECONDS.  ZERO RETRIES.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30187" y="4893872"/>
            <a:ext cx="10234185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475569"/>
                </a:solidFill>
                <a:latin typeface="Calibri"/>
              </a:rPr>
              <a:t>Batch would mean disputing fraud charges for weeks. Streaming pays for itself on the first $1M of blocked losses.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2880" y="5471960"/>
            <a:ext cx="3050301" cy="146898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923">
            <a:solidFill>
              <a:srgbClr val="3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8" name="Rounded Rectangle 67"/>
          <p:cNvSpPr/>
          <p:nvPr/>
        </p:nvSpPr>
        <p:spPr>
          <a:xfrm>
            <a:off x="652880" y="5471960"/>
            <a:ext cx="3050301" cy="397489"/>
          </a:xfrm>
          <a:prstGeom prst="roundRect">
            <a:avLst>
              <a:gd name="adj" fmla="val 30434"/>
            </a:avLst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9" name="Rectangle 68"/>
          <p:cNvSpPr/>
          <p:nvPr/>
        </p:nvSpPr>
        <p:spPr>
          <a:xfrm>
            <a:off x="652880" y="5748475"/>
            <a:ext cx="3050301" cy="120975"/>
          </a:xfrm>
          <a:prstGeom prst="rect">
            <a:avLst/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0" name="TextBox 69"/>
          <p:cNvSpPr txBox="1"/>
          <p:nvPr/>
        </p:nvSpPr>
        <p:spPr>
          <a:xfrm>
            <a:off x="1896461" y="5616266"/>
            <a:ext cx="554498" cy="248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72769" y="6033631"/>
            <a:ext cx="1601883" cy="276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26456E"/>
                </a:solidFill>
                <a:latin typeface="Calibri"/>
              </a:rPr>
              <a:t>$10B txn / yr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9265" y="6329588"/>
            <a:ext cx="2328891" cy="2177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~2,500 swipes / sec peak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9265" y="6571538"/>
            <a:ext cx="2328891" cy="2177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500+ features / decision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41438" y="5471960"/>
            <a:ext cx="3050301" cy="146898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923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5" name="Rounded Rectangle 74"/>
          <p:cNvSpPr/>
          <p:nvPr/>
        </p:nvSpPr>
        <p:spPr>
          <a:xfrm>
            <a:off x="3841438" y="5471960"/>
            <a:ext cx="3050301" cy="397489"/>
          </a:xfrm>
          <a:prstGeom prst="roundRect">
            <a:avLst>
              <a:gd name="adj" fmla="val 30434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6" name="Rectangle 75"/>
          <p:cNvSpPr/>
          <p:nvPr/>
        </p:nvSpPr>
        <p:spPr>
          <a:xfrm>
            <a:off x="3841438" y="5748475"/>
            <a:ext cx="3050301" cy="1209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7" name="TextBox 76"/>
          <p:cNvSpPr txBox="1"/>
          <p:nvPr/>
        </p:nvSpPr>
        <p:spPr>
          <a:xfrm>
            <a:off x="4807770" y="5616266"/>
            <a:ext cx="1108996" cy="248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CLOUD COST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78959" y="6063010"/>
            <a:ext cx="1966619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26456E"/>
                </a:solidFill>
                <a:latin typeface="Calibri"/>
              </a:rPr>
              <a:t>AWS    ~$12,800 /mo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78959" y="6287678"/>
            <a:ext cx="1966619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26456E"/>
                </a:solidFill>
                <a:latin typeface="Calibri"/>
              </a:rPr>
              <a:t>Azure  ~$13,900 /mo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78959" y="6512346"/>
            <a:ext cx="1966619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26456E"/>
                </a:solidFill>
                <a:latin typeface="Calibri"/>
              </a:rPr>
              <a:t>GCP    ~$11,500 /mo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029997" y="5471960"/>
            <a:ext cx="3050301" cy="146898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923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2" name="Rounded Rectangle 81"/>
          <p:cNvSpPr/>
          <p:nvPr/>
        </p:nvSpPr>
        <p:spPr>
          <a:xfrm>
            <a:off x="7029997" y="5471960"/>
            <a:ext cx="3050301" cy="397489"/>
          </a:xfrm>
          <a:prstGeom prst="roundRect">
            <a:avLst>
              <a:gd name="adj" fmla="val 30434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3" name="Rectangle 82"/>
          <p:cNvSpPr/>
          <p:nvPr/>
        </p:nvSpPr>
        <p:spPr>
          <a:xfrm>
            <a:off x="7029997" y="5748475"/>
            <a:ext cx="3050301" cy="12097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4" name="TextBox 83"/>
          <p:cNvSpPr txBox="1"/>
          <p:nvPr/>
        </p:nvSpPr>
        <p:spPr>
          <a:xfrm>
            <a:off x="7774530" y="5616266"/>
            <a:ext cx="1552594" cy="248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LOSS PREVENTED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34719" y="5990425"/>
            <a:ext cx="1232217" cy="55302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600" b="1">
                <a:solidFill>
                  <a:srgbClr val="0F766E"/>
                </a:solidFill>
                <a:latin typeface="Calibri"/>
              </a:rPr>
              <a:t>$3.5M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28159" y="6475190"/>
            <a:ext cx="2445336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vs ~$5M baseline fraud loss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218555" y="5471960"/>
            <a:ext cx="3050301" cy="146898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923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8" name="Rounded Rectangle 87"/>
          <p:cNvSpPr/>
          <p:nvPr/>
        </p:nvSpPr>
        <p:spPr>
          <a:xfrm>
            <a:off x="10218555" y="5471960"/>
            <a:ext cx="3050301" cy="397489"/>
          </a:xfrm>
          <a:prstGeom prst="roundRect">
            <a:avLst>
              <a:gd name="adj" fmla="val 30434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9" name="Rectangle 88"/>
          <p:cNvSpPr/>
          <p:nvPr/>
        </p:nvSpPr>
        <p:spPr>
          <a:xfrm>
            <a:off x="10218555" y="5748475"/>
            <a:ext cx="3050301" cy="12097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0" name="TextBox 89"/>
          <p:cNvSpPr txBox="1"/>
          <p:nvPr/>
        </p:nvSpPr>
        <p:spPr>
          <a:xfrm>
            <a:off x="11573036" y="5616266"/>
            <a:ext cx="332698" cy="248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ROI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46498" y="5990425"/>
            <a:ext cx="985774" cy="55302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600" b="1">
                <a:solidFill>
                  <a:srgbClr val="0F766E"/>
                </a:solidFill>
                <a:latin typeface="Calibri"/>
              </a:rPr>
              <a:t>~23x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97853" y="6475190"/>
            <a:ext cx="208306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on $150K/yr cloud spend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47630" y="8479920"/>
            <a:ext cx="5907637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2000" dirty="0">
                <a:solidFill>
                  <a:srgbClr val="475569"/>
                </a:solidFill>
                <a:latin typeface="Calibri"/>
              </a:rPr>
              <a:t>Pricing approximate · public list rates 2025/26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3578840" y="1714499"/>
            <a:ext cx="4183379" cy="66792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Authorize: Card swipe → feature store → model → decision in &lt;100ms end-to-end.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Stripe, AmEx, Visa: billions of features per decision.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30% lower fraud rate on $1T volume = ~$3B prevented losses.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Streaming pays here. Batch would mean charging back disputes for weeks.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3578840" y="7228221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Fraud is the single most profitable streaming use case in finance.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1" y="1415455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ICU Patient Monitoring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seconds save lives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712" y="1800680"/>
            <a:ext cx="12754784" cy="3447239"/>
          </a:xfrm>
          <a:prstGeom prst="roundRect">
            <a:avLst>
              <a:gd name="adj" fmla="val 3500"/>
            </a:avLst>
          </a:prstGeom>
          <a:solidFill>
            <a:srgbClr val="0B1220"/>
          </a:solidFill>
          <a:ln w="17236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Rounded Rectangle 9"/>
          <p:cNvSpPr/>
          <p:nvPr/>
        </p:nvSpPr>
        <p:spPr>
          <a:xfrm>
            <a:off x="600712" y="1800680"/>
            <a:ext cx="12754784" cy="310251"/>
          </a:xfrm>
          <a:prstGeom prst="roundRect">
            <a:avLst>
              <a:gd name="adj" fmla="val 38888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Rectangle 10"/>
          <p:cNvSpPr/>
          <p:nvPr/>
        </p:nvSpPr>
        <p:spPr>
          <a:xfrm>
            <a:off x="600712" y="2041987"/>
            <a:ext cx="12754784" cy="6894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Oval 11"/>
          <p:cNvSpPr/>
          <p:nvPr/>
        </p:nvSpPr>
        <p:spPr>
          <a:xfrm>
            <a:off x="764456" y="1912716"/>
            <a:ext cx="86180" cy="861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Oval 12"/>
          <p:cNvSpPr/>
          <p:nvPr/>
        </p:nvSpPr>
        <p:spPr>
          <a:xfrm>
            <a:off x="902345" y="1912716"/>
            <a:ext cx="86180" cy="861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Oval 13"/>
          <p:cNvSpPr/>
          <p:nvPr/>
        </p:nvSpPr>
        <p:spPr>
          <a:xfrm>
            <a:off x="1040235" y="1912716"/>
            <a:ext cx="86180" cy="861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1307396" y="1904959"/>
            <a:ext cx="2438832" cy="2026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BED 12 · LIVE FEED · 100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92667" y="1904959"/>
            <a:ext cx="2890468" cy="2026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SpO2 96%  ·  BP 118/72  ·  HR 78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3074" y="2490128"/>
            <a:ext cx="12410061" cy="0"/>
          </a:xfrm>
          <a:prstGeom prst="line">
            <a:avLst/>
          </a:prstGeom>
          <a:ln w="8618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3074" y="3179576"/>
            <a:ext cx="12410061" cy="0"/>
          </a:xfrm>
          <a:prstGeom prst="line">
            <a:avLst/>
          </a:prstGeom>
          <a:ln w="8618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3074" y="3869024"/>
            <a:ext cx="12410061" cy="0"/>
          </a:xfrm>
          <a:prstGeom prst="line">
            <a:avLst/>
          </a:prstGeom>
          <a:ln w="8618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3074" y="4558472"/>
            <a:ext cx="12410061" cy="0"/>
          </a:xfrm>
          <a:prstGeom prst="line">
            <a:avLst/>
          </a:prstGeom>
          <a:ln w="8618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07246" y="2317766"/>
            <a:ext cx="0" cy="2585430"/>
          </a:xfrm>
          <a:prstGeom prst="line">
            <a:avLst/>
          </a:prstGeom>
          <a:ln w="8618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75589" y="2317766"/>
            <a:ext cx="0" cy="2585430"/>
          </a:xfrm>
          <a:prstGeom prst="line">
            <a:avLst/>
          </a:prstGeom>
          <a:ln w="8618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43932" y="2317766"/>
            <a:ext cx="0" cy="2585430"/>
          </a:xfrm>
          <a:prstGeom prst="line">
            <a:avLst/>
          </a:prstGeom>
          <a:ln w="8618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12276" y="2317766"/>
            <a:ext cx="0" cy="2585430"/>
          </a:xfrm>
          <a:prstGeom prst="line">
            <a:avLst/>
          </a:prstGeom>
          <a:ln w="8618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80619" y="2317766"/>
            <a:ext cx="0" cy="2585430"/>
          </a:xfrm>
          <a:prstGeom prst="line">
            <a:avLst/>
          </a:prstGeom>
          <a:ln w="8618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148963" y="2317766"/>
            <a:ext cx="0" cy="2585430"/>
          </a:xfrm>
          <a:prstGeom prst="line">
            <a:avLst/>
          </a:prstGeom>
          <a:ln w="8618">
            <a:solidFill>
              <a:srgbClr val="264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42077" y="4970417"/>
            <a:ext cx="330339" cy="18532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T+0h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0420" y="4970417"/>
            <a:ext cx="330339" cy="18532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T+2h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8763" y="4970417"/>
            <a:ext cx="330339" cy="18532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T+4h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7107" y="4970417"/>
            <a:ext cx="330339" cy="18532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T+6h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5450" y="4970417"/>
            <a:ext cx="330339" cy="18532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T+8h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42501" y="4970417"/>
            <a:ext cx="412924" cy="18532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T+10h</a:t>
            </a:r>
          </a:p>
        </p:txBody>
      </p:sp>
      <p:sp>
        <p:nvSpPr>
          <p:cNvPr id="33" name="Freeform 32"/>
          <p:cNvSpPr/>
          <p:nvPr/>
        </p:nvSpPr>
        <p:spPr>
          <a:xfrm>
            <a:off x="773074" y="3489828"/>
            <a:ext cx="12410061" cy="1137589"/>
          </a:xfrm>
          <a:custGeom>
            <a:avLst/>
            <a:gdLst/>
            <a:ahLst/>
            <a:cxnLst/>
            <a:rect l="l" t="t" r="r" b="b"/>
            <a:pathLst>
              <a:path w="12410061" h="1137589">
                <a:moveTo>
                  <a:pt x="0" y="379196"/>
                </a:moveTo>
                <a:lnTo>
                  <a:pt x="258543" y="379196"/>
                </a:lnTo>
                <a:lnTo>
                  <a:pt x="327488" y="206834"/>
                </a:lnTo>
                <a:lnTo>
                  <a:pt x="361960" y="34472"/>
                </a:lnTo>
                <a:lnTo>
                  <a:pt x="396432" y="723920"/>
                </a:lnTo>
                <a:lnTo>
                  <a:pt x="430905" y="34472"/>
                </a:lnTo>
                <a:lnTo>
                  <a:pt x="465377" y="379196"/>
                </a:lnTo>
                <a:lnTo>
                  <a:pt x="689448" y="379196"/>
                </a:lnTo>
                <a:lnTo>
                  <a:pt x="947991" y="379196"/>
                </a:lnTo>
                <a:lnTo>
                  <a:pt x="1034172" y="379196"/>
                </a:lnTo>
                <a:lnTo>
                  <a:pt x="1206534" y="379196"/>
                </a:lnTo>
                <a:lnTo>
                  <a:pt x="1292714" y="206834"/>
                </a:lnTo>
                <a:lnTo>
                  <a:pt x="1327187" y="34472"/>
                </a:lnTo>
                <a:lnTo>
                  <a:pt x="1361659" y="723920"/>
                </a:lnTo>
                <a:lnTo>
                  <a:pt x="1396132" y="34472"/>
                </a:lnTo>
                <a:lnTo>
                  <a:pt x="1430604" y="379196"/>
                </a:lnTo>
                <a:lnTo>
                  <a:pt x="1637438" y="379196"/>
                </a:lnTo>
                <a:lnTo>
                  <a:pt x="1895981" y="379196"/>
                </a:lnTo>
                <a:lnTo>
                  <a:pt x="2068343" y="379196"/>
                </a:lnTo>
                <a:lnTo>
                  <a:pt x="2240705" y="379196"/>
                </a:lnTo>
                <a:lnTo>
                  <a:pt x="2326886" y="206834"/>
                </a:lnTo>
                <a:lnTo>
                  <a:pt x="2361359" y="34472"/>
                </a:lnTo>
                <a:lnTo>
                  <a:pt x="2395831" y="723920"/>
                </a:lnTo>
                <a:lnTo>
                  <a:pt x="2430303" y="34472"/>
                </a:lnTo>
                <a:lnTo>
                  <a:pt x="2464776" y="379196"/>
                </a:lnTo>
                <a:lnTo>
                  <a:pt x="2671610" y="379196"/>
                </a:lnTo>
                <a:lnTo>
                  <a:pt x="2930153" y="379196"/>
                </a:lnTo>
                <a:lnTo>
                  <a:pt x="3102515" y="379196"/>
                </a:lnTo>
                <a:lnTo>
                  <a:pt x="3274877" y="379196"/>
                </a:lnTo>
                <a:lnTo>
                  <a:pt x="3361058" y="206834"/>
                </a:lnTo>
                <a:lnTo>
                  <a:pt x="3395530" y="17236"/>
                </a:lnTo>
                <a:lnTo>
                  <a:pt x="3430003" y="741156"/>
                </a:lnTo>
                <a:lnTo>
                  <a:pt x="3464475" y="0"/>
                </a:lnTo>
                <a:lnTo>
                  <a:pt x="3498948" y="379196"/>
                </a:lnTo>
                <a:lnTo>
                  <a:pt x="3705782" y="379196"/>
                </a:lnTo>
                <a:lnTo>
                  <a:pt x="3964325" y="379196"/>
                </a:lnTo>
                <a:lnTo>
                  <a:pt x="4136687" y="379196"/>
                </a:lnTo>
                <a:lnTo>
                  <a:pt x="4309049" y="379196"/>
                </a:lnTo>
                <a:lnTo>
                  <a:pt x="4395230" y="224070"/>
                </a:lnTo>
                <a:lnTo>
                  <a:pt x="4429702" y="86181"/>
                </a:lnTo>
                <a:lnTo>
                  <a:pt x="4464174" y="654975"/>
                </a:lnTo>
                <a:lnTo>
                  <a:pt x="4498647" y="103417"/>
                </a:lnTo>
                <a:lnTo>
                  <a:pt x="4533119" y="379196"/>
                </a:lnTo>
                <a:lnTo>
                  <a:pt x="4739954" y="379196"/>
                </a:lnTo>
                <a:lnTo>
                  <a:pt x="4998497" y="379196"/>
                </a:lnTo>
                <a:lnTo>
                  <a:pt x="5170858" y="379196"/>
                </a:lnTo>
                <a:lnTo>
                  <a:pt x="5343220" y="396432"/>
                </a:lnTo>
                <a:lnTo>
                  <a:pt x="5446638" y="189598"/>
                </a:lnTo>
                <a:lnTo>
                  <a:pt x="5481110" y="103417"/>
                </a:lnTo>
                <a:lnTo>
                  <a:pt x="5515582" y="620503"/>
                </a:lnTo>
                <a:lnTo>
                  <a:pt x="5550055" y="155125"/>
                </a:lnTo>
                <a:lnTo>
                  <a:pt x="5584527" y="396432"/>
                </a:lnTo>
                <a:lnTo>
                  <a:pt x="5774125" y="413668"/>
                </a:lnTo>
                <a:lnTo>
                  <a:pt x="6032668" y="422286"/>
                </a:lnTo>
                <a:lnTo>
                  <a:pt x="6205030" y="422286"/>
                </a:lnTo>
                <a:lnTo>
                  <a:pt x="6377392" y="448141"/>
                </a:lnTo>
                <a:lnTo>
                  <a:pt x="6480809" y="206834"/>
                </a:lnTo>
                <a:lnTo>
                  <a:pt x="6515282" y="137889"/>
                </a:lnTo>
                <a:lnTo>
                  <a:pt x="6549754" y="568794"/>
                </a:lnTo>
                <a:lnTo>
                  <a:pt x="6584226" y="189598"/>
                </a:lnTo>
                <a:lnTo>
                  <a:pt x="6618699" y="448141"/>
                </a:lnTo>
                <a:lnTo>
                  <a:pt x="6808297" y="465377"/>
                </a:lnTo>
                <a:lnTo>
                  <a:pt x="7066840" y="482613"/>
                </a:lnTo>
                <a:lnTo>
                  <a:pt x="7239202" y="482613"/>
                </a:lnTo>
                <a:lnTo>
                  <a:pt x="7411564" y="499849"/>
                </a:lnTo>
                <a:lnTo>
                  <a:pt x="7514981" y="224070"/>
                </a:lnTo>
                <a:lnTo>
                  <a:pt x="7549453" y="189598"/>
                </a:lnTo>
                <a:lnTo>
                  <a:pt x="7583926" y="534322"/>
                </a:lnTo>
                <a:lnTo>
                  <a:pt x="7618398" y="224070"/>
                </a:lnTo>
                <a:lnTo>
                  <a:pt x="7652871" y="499849"/>
                </a:lnTo>
                <a:lnTo>
                  <a:pt x="7842469" y="517085"/>
                </a:lnTo>
                <a:lnTo>
                  <a:pt x="8101012" y="534322"/>
                </a:lnTo>
                <a:lnTo>
                  <a:pt x="8273374" y="551558"/>
                </a:lnTo>
                <a:lnTo>
                  <a:pt x="8445736" y="551558"/>
                </a:lnTo>
                <a:lnTo>
                  <a:pt x="8549153" y="275779"/>
                </a:lnTo>
                <a:lnTo>
                  <a:pt x="8583625" y="258543"/>
                </a:lnTo>
                <a:lnTo>
                  <a:pt x="8618098" y="482613"/>
                </a:lnTo>
                <a:lnTo>
                  <a:pt x="8652570" y="275779"/>
                </a:lnTo>
                <a:lnTo>
                  <a:pt x="8687042" y="551558"/>
                </a:lnTo>
                <a:lnTo>
                  <a:pt x="8876640" y="568794"/>
                </a:lnTo>
                <a:lnTo>
                  <a:pt x="9135183" y="586030"/>
                </a:lnTo>
                <a:lnTo>
                  <a:pt x="9307545" y="586030"/>
                </a:lnTo>
                <a:lnTo>
                  <a:pt x="9479907" y="620503"/>
                </a:lnTo>
                <a:lnTo>
                  <a:pt x="9617797" y="361960"/>
                </a:lnTo>
                <a:lnTo>
                  <a:pt x="9652269" y="361960"/>
                </a:lnTo>
                <a:lnTo>
                  <a:pt x="9686742" y="482613"/>
                </a:lnTo>
                <a:lnTo>
                  <a:pt x="9721214" y="379196"/>
                </a:lnTo>
                <a:lnTo>
                  <a:pt x="9755686" y="637739"/>
                </a:lnTo>
                <a:lnTo>
                  <a:pt x="9945285" y="672211"/>
                </a:lnTo>
                <a:lnTo>
                  <a:pt x="10186591" y="706684"/>
                </a:lnTo>
                <a:lnTo>
                  <a:pt x="10341717" y="723920"/>
                </a:lnTo>
                <a:lnTo>
                  <a:pt x="10514079" y="758392"/>
                </a:lnTo>
                <a:lnTo>
                  <a:pt x="10651969" y="551558"/>
                </a:lnTo>
                <a:lnTo>
                  <a:pt x="10686441" y="620503"/>
                </a:lnTo>
                <a:lnTo>
                  <a:pt x="10720913" y="551558"/>
                </a:lnTo>
                <a:lnTo>
                  <a:pt x="10755386" y="620503"/>
                </a:lnTo>
                <a:lnTo>
                  <a:pt x="10789858" y="792865"/>
                </a:lnTo>
                <a:lnTo>
                  <a:pt x="10996693" y="810101"/>
                </a:lnTo>
                <a:lnTo>
                  <a:pt x="11237999" y="844573"/>
                </a:lnTo>
                <a:lnTo>
                  <a:pt x="11375889" y="879046"/>
                </a:lnTo>
                <a:lnTo>
                  <a:pt x="11548251" y="930754"/>
                </a:lnTo>
                <a:lnTo>
                  <a:pt x="11720613" y="999699"/>
                </a:lnTo>
                <a:lnTo>
                  <a:pt x="11892975" y="1068644"/>
                </a:lnTo>
                <a:lnTo>
                  <a:pt x="12065337" y="1120352"/>
                </a:lnTo>
                <a:lnTo>
                  <a:pt x="12237699" y="1137589"/>
                </a:lnTo>
                <a:lnTo>
                  <a:pt x="12410061" y="1137589"/>
                </a:lnTo>
              </a:path>
            </a:pathLst>
          </a:custGeom>
          <a:noFill/>
          <a:ln w="20683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cxnSp>
        <p:nvCxnSpPr>
          <p:cNvPr id="34" name="Connector 33"/>
          <p:cNvCxnSpPr/>
          <p:nvPr/>
        </p:nvCxnSpPr>
        <p:spPr>
          <a:xfrm>
            <a:off x="3875589" y="2317766"/>
            <a:ext cx="0" cy="2585430"/>
          </a:xfrm>
          <a:prstGeom prst="line">
            <a:avLst/>
          </a:prstGeom>
          <a:ln w="17236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789408" y="2231585"/>
            <a:ext cx="172361" cy="172361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6" name="TextBox 35"/>
          <p:cNvSpPr txBox="1"/>
          <p:nvPr/>
        </p:nvSpPr>
        <p:spPr>
          <a:xfrm>
            <a:off x="2249701" y="2146266"/>
            <a:ext cx="3251777" cy="2026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 dirty="0">
                <a:solidFill>
                  <a:srgbClr val="0F766E"/>
                </a:solidFill>
                <a:latin typeface="Calibri"/>
              </a:rPr>
              <a:t>STREAMING ALERT  ·  Sepsis risk 0.82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080619" y="2317766"/>
            <a:ext cx="0" cy="2585430"/>
          </a:xfrm>
          <a:prstGeom prst="line">
            <a:avLst/>
          </a:prstGeom>
          <a:ln w="17236">
            <a:solidFill>
              <a:srgbClr val="EA58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994438" y="2231585"/>
            <a:ext cx="172361" cy="172361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9" name="TextBox 38"/>
          <p:cNvSpPr txBox="1"/>
          <p:nvPr/>
        </p:nvSpPr>
        <p:spPr>
          <a:xfrm>
            <a:off x="8228913" y="2146266"/>
            <a:ext cx="3703412" cy="2026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EA580C"/>
                </a:solidFill>
                <a:latin typeface="Calibri"/>
              </a:rPr>
              <a:t>NIGHTLY CHART REVIEW  ·  patient critical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75589" y="4773924"/>
            <a:ext cx="6205030" cy="172361"/>
          </a:xfrm>
          <a:prstGeom prst="rect">
            <a:avLst/>
          </a:prstGeom>
          <a:solidFill>
            <a:srgbClr val="FBBF24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/>
          <p:cNvSpPr txBox="1"/>
          <p:nvPr/>
        </p:nvSpPr>
        <p:spPr>
          <a:xfrm>
            <a:off x="5126398" y="4763318"/>
            <a:ext cx="3703412" cy="2026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 dirty="0">
                <a:solidFill>
                  <a:srgbClr val="26456E"/>
                </a:solidFill>
                <a:latin typeface="Calibri"/>
              </a:rPr>
              <a:t>6 HOURS EARLIER -&gt; 15-25% lower mortality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501" y="2434111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Calibri"/>
              </a:rPr>
              <a:t>120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501" y="3123558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Calibri"/>
              </a:rPr>
              <a:t>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501" y="3813006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Calibri"/>
              </a:rPr>
              <a:t>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501" y="4502454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Calibri"/>
              </a:rPr>
              <a:t>30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6893" y="5592643"/>
            <a:ext cx="3042188" cy="1465076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854">
            <a:solidFill>
              <a:srgbClr val="3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7" name="Rounded Rectangle 46"/>
          <p:cNvSpPr/>
          <p:nvPr/>
        </p:nvSpPr>
        <p:spPr>
          <a:xfrm>
            <a:off x="686893" y="5592643"/>
            <a:ext cx="3042188" cy="396432"/>
          </a:xfrm>
          <a:prstGeom prst="roundRect">
            <a:avLst>
              <a:gd name="adj" fmla="val 30434"/>
            </a:avLst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8" name="Rectangle 47"/>
          <p:cNvSpPr/>
          <p:nvPr/>
        </p:nvSpPr>
        <p:spPr>
          <a:xfrm>
            <a:off x="686893" y="5868423"/>
            <a:ext cx="3042188" cy="120653"/>
          </a:xfrm>
          <a:prstGeom prst="rect">
            <a:avLst/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9" name="TextBox 48"/>
          <p:cNvSpPr txBox="1"/>
          <p:nvPr/>
        </p:nvSpPr>
        <p:spPr>
          <a:xfrm>
            <a:off x="1927167" y="5736566"/>
            <a:ext cx="553023" cy="2482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9079" y="6152820"/>
            <a:ext cx="2089199" cy="2757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26456E"/>
                </a:solidFill>
                <a:latin typeface="Calibri"/>
              </a:rPr>
              <a:t>200 beds · 20 ICU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9109" y="6447990"/>
            <a:ext cx="2129139" cy="217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>
                <a:solidFill>
                  <a:srgbClr val="475569"/>
                </a:solidFill>
                <a:latin typeface="Calibri"/>
              </a:rPr>
              <a:t>8 sensors/bed · 100 Hz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29446" y="6689296"/>
            <a:ext cx="1548465" cy="217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>
                <a:solidFill>
                  <a:srgbClr val="475569"/>
                </a:solidFill>
                <a:latin typeface="Calibri"/>
              </a:rPr>
              <a:t>50 GB/day · 24x7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66971" y="5592643"/>
            <a:ext cx="3042188" cy="1465076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854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4" name="Rounded Rectangle 53"/>
          <p:cNvSpPr/>
          <p:nvPr/>
        </p:nvSpPr>
        <p:spPr>
          <a:xfrm>
            <a:off x="3866971" y="5592643"/>
            <a:ext cx="3042188" cy="396432"/>
          </a:xfrm>
          <a:prstGeom prst="roundRect">
            <a:avLst>
              <a:gd name="adj" fmla="val 30434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5" name="Rectangle 54"/>
          <p:cNvSpPr/>
          <p:nvPr/>
        </p:nvSpPr>
        <p:spPr>
          <a:xfrm>
            <a:off x="3866971" y="5868423"/>
            <a:ext cx="3042188" cy="12065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6" name="TextBox 55"/>
          <p:cNvSpPr txBox="1"/>
          <p:nvPr/>
        </p:nvSpPr>
        <p:spPr>
          <a:xfrm>
            <a:off x="4830733" y="5736566"/>
            <a:ext cx="1106046" cy="2482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CLOUD COST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54677" y="6182121"/>
            <a:ext cx="1858158" cy="2316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26456E"/>
                </a:solidFill>
                <a:latin typeface="Calibri"/>
              </a:rPr>
              <a:t>AWS    ~$8,100 /mo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54677" y="6406192"/>
            <a:ext cx="1858158" cy="2316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26456E"/>
                </a:solidFill>
                <a:latin typeface="Calibri"/>
              </a:rPr>
              <a:t>Azure  ~$8,900 /mo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54677" y="6630262"/>
            <a:ext cx="1858158" cy="2316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>
                <a:solidFill>
                  <a:srgbClr val="26456E"/>
                </a:solidFill>
                <a:latin typeface="Calibri"/>
              </a:rPr>
              <a:t>GCP    ~$7,800 /mo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047049" y="5592643"/>
            <a:ext cx="3042188" cy="1465076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854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1" name="Rounded Rectangle 60"/>
          <p:cNvSpPr/>
          <p:nvPr/>
        </p:nvSpPr>
        <p:spPr>
          <a:xfrm>
            <a:off x="7047049" y="5592643"/>
            <a:ext cx="3042188" cy="396432"/>
          </a:xfrm>
          <a:prstGeom prst="roundRect">
            <a:avLst>
              <a:gd name="adj" fmla="val 30434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2" name="Rectangle 61"/>
          <p:cNvSpPr/>
          <p:nvPr/>
        </p:nvSpPr>
        <p:spPr>
          <a:xfrm>
            <a:off x="7047049" y="5868423"/>
            <a:ext cx="3042188" cy="120653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3" name="TextBox 62"/>
          <p:cNvSpPr txBox="1"/>
          <p:nvPr/>
        </p:nvSpPr>
        <p:spPr>
          <a:xfrm>
            <a:off x="7900207" y="5736566"/>
            <a:ext cx="1327255" cy="2482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LIVES IMPACT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43" y="6152820"/>
            <a:ext cx="2862983" cy="2722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26456E"/>
                </a:solidFill>
                <a:latin typeface="Calibri"/>
              </a:rPr>
              <a:t>~100 cases / yr at risk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7788" y="6411363"/>
            <a:ext cx="2212093" cy="2757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-&gt; ~15 lives saved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08927" y="6696622"/>
            <a:ext cx="2709814" cy="2026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dirty="0">
                <a:solidFill>
                  <a:srgbClr val="475569"/>
                </a:solidFill>
                <a:latin typeface="Calibri"/>
              </a:rPr>
              <a:t>sepsis · cardiac · respiratory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227127" y="5592643"/>
            <a:ext cx="3042188" cy="1465076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854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8" name="Rounded Rectangle 67"/>
          <p:cNvSpPr/>
          <p:nvPr/>
        </p:nvSpPr>
        <p:spPr>
          <a:xfrm>
            <a:off x="10227127" y="5592643"/>
            <a:ext cx="3042188" cy="396432"/>
          </a:xfrm>
          <a:prstGeom prst="roundRect">
            <a:avLst>
              <a:gd name="adj" fmla="val 30434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9" name="Rectangle 68"/>
          <p:cNvSpPr/>
          <p:nvPr/>
        </p:nvSpPr>
        <p:spPr>
          <a:xfrm>
            <a:off x="10227127" y="5868423"/>
            <a:ext cx="3042188" cy="120653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0" name="TextBox 69"/>
          <p:cNvSpPr txBox="1"/>
          <p:nvPr/>
        </p:nvSpPr>
        <p:spPr>
          <a:xfrm>
            <a:off x="11578006" y="5736566"/>
            <a:ext cx="331813" cy="2482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ROI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52336" y="6075257"/>
            <a:ext cx="983152" cy="5515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Calibri"/>
              </a:rPr>
              <a:t>681%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12421" y="6558732"/>
            <a:ext cx="2862983" cy="20197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GB" sz="1400" dirty="0">
                <a:solidFill>
                  <a:srgbClr val="475569"/>
                </a:solidFill>
                <a:latin typeface="Calibri"/>
              </a:rPr>
              <a:t>+</a:t>
            </a:r>
            <a:r>
              <a:rPr sz="1400" dirty="0">
                <a:solidFill>
                  <a:srgbClr val="475569"/>
                </a:solidFill>
                <a:latin typeface="Calibri"/>
              </a:rPr>
              <a:t> reputation &amp; accreditation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10122" y="7644613"/>
            <a:ext cx="4245375" cy="2026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dirty="0">
                <a:solidFill>
                  <a:srgbClr val="475569"/>
                </a:solidFill>
                <a:latin typeface="Calibri"/>
              </a:rPr>
              <a:t>Pricing approximate · public list rates 2025/26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3578840" y="1714500"/>
            <a:ext cx="4183379" cy="66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ECG, SpO2, BP streamed every second; ML flags sepsis 6 hours before symptoms.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Philips, GE, Epic all run real-time alert engines on patient streams.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Sepsis detection: 30% lower mortality when caught early.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Streaming is medically — not technically — required.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3578840" y="7220030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When the SLA is measured in lives, streaming is non-negotiable.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2BE6CEE-93A4-8F9F-8164-554B8FD00564}"/>
              </a:ext>
            </a:extLst>
          </p:cNvPr>
          <p:cNvSpPr txBox="1"/>
          <p:nvPr/>
        </p:nvSpPr>
        <p:spPr>
          <a:xfrm>
            <a:off x="685800" y="109728"/>
            <a:ext cx="1687068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STREAMING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925" y="1445768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Inventory Rebalancing — every 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443" y="2082875"/>
            <a:ext cx="4062236" cy="20257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12-HOUR STOCK LEVEL · 50 STORES · TOP 20 SKUs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187" y="2314560"/>
            <a:ext cx="6201237" cy="3014490"/>
          </a:xfrm>
          <a:prstGeom prst="roundRect">
            <a:avLst>
              <a:gd name="adj" fmla="val 3428"/>
            </a:avLst>
          </a:prstGeom>
          <a:solidFill>
            <a:srgbClr val="FFFFFF"/>
          </a:solidFill>
          <a:ln w="17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738443" y="2388904"/>
            <a:ext cx="3507709" cy="2315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 dirty="0">
                <a:solidFill>
                  <a:srgbClr val="26456E"/>
                </a:solidFill>
                <a:latin typeface="Calibri"/>
              </a:rPr>
              <a:t>NIGHTLY BATCH · rebalance at 02:00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443" y="2657350"/>
            <a:ext cx="2310961" cy="18521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Calibri"/>
              </a:rPr>
              <a:t>stock level vs target (100%)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2957" y="3434228"/>
            <a:ext cx="5339954" cy="0"/>
          </a:xfrm>
          <a:prstGeom prst="line">
            <a:avLst/>
          </a:prstGeom>
          <a:ln w="12919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57362" y="3388149"/>
            <a:ext cx="362361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target</a:t>
            </a:r>
          </a:p>
        </p:txBody>
      </p:sp>
      <p:sp>
        <p:nvSpPr>
          <p:cNvPr id="15" name="Freeform 14"/>
          <p:cNvSpPr/>
          <p:nvPr/>
        </p:nvSpPr>
        <p:spPr>
          <a:xfrm>
            <a:off x="1082957" y="3348099"/>
            <a:ext cx="5167697" cy="1421117"/>
          </a:xfrm>
          <a:custGeom>
            <a:avLst/>
            <a:gdLst/>
            <a:ahLst/>
            <a:cxnLst/>
            <a:rect l="l" t="t" r="r" b="b"/>
            <a:pathLst>
              <a:path w="5167697" h="1421117">
                <a:moveTo>
                  <a:pt x="0" y="0"/>
                </a:moveTo>
                <a:lnTo>
                  <a:pt x="516769" y="17226"/>
                </a:lnTo>
                <a:lnTo>
                  <a:pt x="1033539" y="68903"/>
                </a:lnTo>
                <a:lnTo>
                  <a:pt x="1550309" y="258385"/>
                </a:lnTo>
                <a:lnTo>
                  <a:pt x="2067079" y="559834"/>
                </a:lnTo>
                <a:lnTo>
                  <a:pt x="2583848" y="964637"/>
                </a:lnTo>
                <a:lnTo>
                  <a:pt x="3100618" y="1274699"/>
                </a:lnTo>
                <a:lnTo>
                  <a:pt x="3617388" y="1421117"/>
                </a:lnTo>
                <a:lnTo>
                  <a:pt x="4134158" y="1378053"/>
                </a:lnTo>
                <a:lnTo>
                  <a:pt x="4650927" y="1205796"/>
                </a:lnTo>
                <a:lnTo>
                  <a:pt x="4909312" y="947412"/>
                </a:lnTo>
                <a:lnTo>
                  <a:pt x="5167697" y="585673"/>
                </a:lnTo>
              </a:path>
            </a:pathLst>
          </a:custGeom>
          <a:noFill/>
          <a:ln w="25838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Rectangle 15"/>
          <p:cNvSpPr/>
          <p:nvPr/>
        </p:nvSpPr>
        <p:spPr>
          <a:xfrm>
            <a:off x="2633266" y="3434228"/>
            <a:ext cx="3272875" cy="1378052"/>
          </a:xfrm>
          <a:prstGeom prst="rect">
            <a:avLst/>
          </a:prstGeom>
          <a:solidFill>
            <a:srgbClr val="FFEDD5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3256447" y="4048322"/>
            <a:ext cx="2026512" cy="30317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EA580C"/>
                </a:solidFill>
                <a:latin typeface="Calibri"/>
              </a:rPr>
              <a:t>STOCKOUT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2120" y="4385580"/>
            <a:ext cx="1715166" cy="20257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 dirty="0">
                <a:solidFill>
                  <a:srgbClr val="92400E"/>
                </a:solidFill>
                <a:latin typeface="Calibri"/>
              </a:rPr>
              <a:t>~9 hours lost sales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2957" y="4812280"/>
            <a:ext cx="5339954" cy="0"/>
          </a:xfrm>
          <a:prstGeom prst="line">
            <a:avLst/>
          </a:prstGeom>
          <a:ln w="8612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9218" y="4904007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02:00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2757" y="4904007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06:00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6297" y="4904007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10:00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9836" y="4904007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14:00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3376" y="4904007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18:00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6915" y="4904007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22:00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172" y="2844249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Calibr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172" y="3361019"/>
            <a:ext cx="299720" cy="141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Calibri"/>
              </a:rPr>
              <a:t>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172" y="3877788"/>
            <a:ext cx="299720" cy="141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Calibri"/>
              </a:rPr>
              <a:t>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172" y="4394558"/>
            <a:ext cx="299720" cy="141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Calibri"/>
              </a:rPr>
              <a:t>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172" y="4739071"/>
            <a:ext cx="299720" cy="141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Calibri"/>
              </a:rPr>
              <a:t>20%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187" y="5113729"/>
            <a:ext cx="6201237" cy="215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2" name="TextBox 31"/>
          <p:cNvSpPr txBox="1"/>
          <p:nvPr/>
        </p:nvSpPr>
        <p:spPr>
          <a:xfrm>
            <a:off x="1833856" y="5140136"/>
            <a:ext cx="3665899" cy="2006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 dirty="0">
                <a:solidFill>
                  <a:srgbClr val="475569"/>
                </a:solidFill>
                <a:latin typeface="Calibri"/>
              </a:rPr>
              <a:t>$2.1M lost sales / day · 8% stockout rate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11937" y="2314560"/>
            <a:ext cx="6201237" cy="3014490"/>
          </a:xfrm>
          <a:prstGeom prst="roundRect">
            <a:avLst>
              <a:gd name="adj" fmla="val 3428"/>
            </a:avLst>
          </a:prstGeom>
          <a:solidFill>
            <a:srgbClr val="FFFFFF"/>
          </a:solidFill>
          <a:ln w="17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4" name="TextBox 33"/>
          <p:cNvSpPr txBox="1"/>
          <p:nvPr/>
        </p:nvSpPr>
        <p:spPr>
          <a:xfrm>
            <a:off x="7284194" y="2400055"/>
            <a:ext cx="4229884" cy="2315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 dirty="0">
                <a:solidFill>
                  <a:srgbClr val="D97706"/>
                </a:solidFill>
                <a:latin typeface="Calibri"/>
              </a:rPr>
              <a:t>15-MIN MICRO-BATCH · continuous rebalance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4194" y="2657350"/>
            <a:ext cx="3218838" cy="18521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92400E"/>
                </a:solidFill>
                <a:latin typeface="Calibri"/>
              </a:rPr>
              <a:t>demand model triggers transfers all day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628707" y="3434228"/>
            <a:ext cx="5339954" cy="0"/>
          </a:xfrm>
          <a:prstGeom prst="line">
            <a:avLst/>
          </a:prstGeom>
          <a:ln w="12919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003112" y="3388149"/>
            <a:ext cx="362361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target</a:t>
            </a:r>
          </a:p>
        </p:txBody>
      </p:sp>
      <p:sp>
        <p:nvSpPr>
          <p:cNvPr id="38" name="Freeform 37"/>
          <p:cNvSpPr/>
          <p:nvPr/>
        </p:nvSpPr>
        <p:spPr>
          <a:xfrm>
            <a:off x="7628707" y="3365325"/>
            <a:ext cx="5167697" cy="120580"/>
          </a:xfrm>
          <a:custGeom>
            <a:avLst/>
            <a:gdLst/>
            <a:ahLst/>
            <a:cxnLst/>
            <a:rect l="l" t="t" r="r" b="b"/>
            <a:pathLst>
              <a:path w="5167697" h="120580">
                <a:moveTo>
                  <a:pt x="0" y="0"/>
                </a:moveTo>
                <a:lnTo>
                  <a:pt x="516770" y="51677"/>
                </a:lnTo>
                <a:lnTo>
                  <a:pt x="1033539" y="111967"/>
                </a:lnTo>
                <a:lnTo>
                  <a:pt x="1550309" y="86128"/>
                </a:lnTo>
                <a:lnTo>
                  <a:pt x="2067079" y="25838"/>
                </a:lnTo>
                <a:lnTo>
                  <a:pt x="2583849" y="103354"/>
                </a:lnTo>
                <a:lnTo>
                  <a:pt x="3100618" y="51677"/>
                </a:lnTo>
                <a:lnTo>
                  <a:pt x="3617388" y="68903"/>
                </a:lnTo>
                <a:lnTo>
                  <a:pt x="4134158" y="120580"/>
                </a:lnTo>
                <a:lnTo>
                  <a:pt x="4650928" y="86128"/>
                </a:lnTo>
                <a:lnTo>
                  <a:pt x="4909312" y="51677"/>
                </a:lnTo>
                <a:lnTo>
                  <a:pt x="5167697" y="103354"/>
                </a:lnTo>
              </a:path>
            </a:pathLst>
          </a:custGeom>
          <a:noFill/>
          <a:ln w="25838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9" name="Oval 38"/>
          <p:cNvSpPr/>
          <p:nvPr/>
        </p:nvSpPr>
        <p:spPr>
          <a:xfrm>
            <a:off x="8111025" y="3382551"/>
            <a:ext cx="68902" cy="6890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0" name="Oval 39"/>
          <p:cNvSpPr/>
          <p:nvPr/>
        </p:nvSpPr>
        <p:spPr>
          <a:xfrm>
            <a:off x="9144565" y="3417002"/>
            <a:ext cx="68902" cy="6890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1" name="Oval 40"/>
          <p:cNvSpPr/>
          <p:nvPr/>
        </p:nvSpPr>
        <p:spPr>
          <a:xfrm>
            <a:off x="10178104" y="3434228"/>
            <a:ext cx="68902" cy="6890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2" name="Oval 41"/>
          <p:cNvSpPr/>
          <p:nvPr/>
        </p:nvSpPr>
        <p:spPr>
          <a:xfrm>
            <a:off x="11211644" y="3399776"/>
            <a:ext cx="68902" cy="6890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3" name="Oval 42"/>
          <p:cNvSpPr/>
          <p:nvPr/>
        </p:nvSpPr>
        <p:spPr>
          <a:xfrm>
            <a:off x="12245183" y="3417002"/>
            <a:ext cx="68902" cy="6890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4" name="TextBox 43"/>
          <p:cNvSpPr txBox="1"/>
          <p:nvPr/>
        </p:nvSpPr>
        <p:spPr>
          <a:xfrm>
            <a:off x="8891942" y="4048322"/>
            <a:ext cx="2296714" cy="30317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0F766E"/>
                </a:solidFill>
                <a:latin typeface="Calibri"/>
              </a:rPr>
              <a:t>SHELVES STAY FULL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57036" y="4352127"/>
            <a:ext cx="2166526" cy="20257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 dirty="0">
                <a:solidFill>
                  <a:srgbClr val="115E59"/>
                </a:solidFill>
                <a:latin typeface="Calibri"/>
              </a:rPr>
              <a:t>5 restocks · 0 stockouts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628707" y="4812280"/>
            <a:ext cx="5339954" cy="0"/>
          </a:xfrm>
          <a:prstGeom prst="line">
            <a:avLst/>
          </a:prstGeom>
          <a:ln w="8612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424968" y="4904007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02:00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507" y="4904007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06:00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92047" y="4904007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10:00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25586" y="4904007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14:00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59126" y="4904007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18:00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92665" y="4904007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22:00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85923" y="2844249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Calibri"/>
              </a:rPr>
              <a:t>100%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85923" y="3361019"/>
            <a:ext cx="299720" cy="141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Calibri"/>
              </a:rPr>
              <a:t>80%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85923" y="3877788"/>
            <a:ext cx="299720" cy="141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Calibri"/>
              </a:rPr>
              <a:t>60%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11937" y="5113729"/>
            <a:ext cx="6201237" cy="2153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7" name="TextBox 56"/>
          <p:cNvSpPr txBox="1"/>
          <p:nvPr/>
        </p:nvSpPr>
        <p:spPr>
          <a:xfrm>
            <a:off x="8245488" y="5140136"/>
            <a:ext cx="3934136" cy="2006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Calibri"/>
              </a:rPr>
              <a:t>$0 stockout loss · 1% rebalance freight cost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2315" y="5845820"/>
            <a:ext cx="3040328" cy="14641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838">
            <a:solidFill>
              <a:srgbClr val="3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9" name="Rounded Rectangle 58"/>
          <p:cNvSpPr/>
          <p:nvPr/>
        </p:nvSpPr>
        <p:spPr>
          <a:xfrm>
            <a:off x="652315" y="5845820"/>
            <a:ext cx="3040328" cy="396190"/>
          </a:xfrm>
          <a:prstGeom prst="roundRect">
            <a:avLst>
              <a:gd name="adj" fmla="val 30434"/>
            </a:avLst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0" name="Rectangle 59"/>
          <p:cNvSpPr/>
          <p:nvPr/>
        </p:nvSpPr>
        <p:spPr>
          <a:xfrm>
            <a:off x="652315" y="6121430"/>
            <a:ext cx="3040328" cy="120579"/>
          </a:xfrm>
          <a:prstGeom prst="rect">
            <a:avLst/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1" name="TextBox 60"/>
          <p:cNvSpPr txBox="1"/>
          <p:nvPr/>
        </p:nvSpPr>
        <p:spPr>
          <a:xfrm>
            <a:off x="1891831" y="5933899"/>
            <a:ext cx="552685" cy="2480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7557" y="6405654"/>
            <a:ext cx="2861232" cy="2720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26456E"/>
                </a:solidFill>
                <a:latin typeface="Calibri"/>
              </a:rPr>
              <a:t>4,700 stores · 50K SKUs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2614" y="6700643"/>
            <a:ext cx="2031118" cy="2170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POS feed every 15 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2614" y="6941802"/>
            <a:ext cx="2031118" cy="2170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~$648B annual revenue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30449" y="5845820"/>
            <a:ext cx="3040328" cy="14641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838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6" name="Rounded Rectangle 65"/>
          <p:cNvSpPr/>
          <p:nvPr/>
        </p:nvSpPr>
        <p:spPr>
          <a:xfrm>
            <a:off x="3830449" y="5845820"/>
            <a:ext cx="3040328" cy="396190"/>
          </a:xfrm>
          <a:prstGeom prst="roundRect">
            <a:avLst>
              <a:gd name="adj" fmla="val 30434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7" name="Rectangle 66"/>
          <p:cNvSpPr/>
          <p:nvPr/>
        </p:nvSpPr>
        <p:spPr>
          <a:xfrm>
            <a:off x="3830449" y="6121430"/>
            <a:ext cx="3040328" cy="1205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8" name="TextBox 67"/>
          <p:cNvSpPr txBox="1"/>
          <p:nvPr/>
        </p:nvSpPr>
        <p:spPr>
          <a:xfrm>
            <a:off x="4793622" y="5933899"/>
            <a:ext cx="1105370" cy="2480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CLOUD COST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17796" y="6434937"/>
            <a:ext cx="1857022" cy="2315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26456E"/>
                </a:solidFill>
                <a:latin typeface="Calibri"/>
              </a:rPr>
              <a:t>AWS    ~$4,100 /mo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7796" y="6658871"/>
            <a:ext cx="1857022" cy="2315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26456E"/>
                </a:solidFill>
                <a:latin typeface="Calibri"/>
              </a:rPr>
              <a:t>Azure  ~$4,500 /mo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17796" y="6882804"/>
            <a:ext cx="1857022" cy="2315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26456E"/>
                </a:solidFill>
                <a:latin typeface="Calibri"/>
              </a:rPr>
              <a:t>GCP    ~$3,700 /mo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008583" y="5845820"/>
            <a:ext cx="3040328" cy="14641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838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3" name="Rounded Rectangle 72"/>
          <p:cNvSpPr/>
          <p:nvPr/>
        </p:nvSpPr>
        <p:spPr>
          <a:xfrm>
            <a:off x="7008583" y="5845820"/>
            <a:ext cx="3040328" cy="396190"/>
          </a:xfrm>
          <a:prstGeom prst="roundRect">
            <a:avLst>
              <a:gd name="adj" fmla="val 30434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4" name="Rectangle 73"/>
          <p:cNvSpPr/>
          <p:nvPr/>
        </p:nvSpPr>
        <p:spPr>
          <a:xfrm>
            <a:off x="7008583" y="6121430"/>
            <a:ext cx="3040328" cy="1205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5" name="TextBox 74"/>
          <p:cNvSpPr txBox="1"/>
          <p:nvPr/>
        </p:nvSpPr>
        <p:spPr>
          <a:xfrm>
            <a:off x="7529608" y="5933899"/>
            <a:ext cx="1989666" cy="2480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STOCKOUT REDUCTION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55985" y="6306835"/>
            <a:ext cx="736913" cy="5512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400" b="1" dirty="0">
                <a:solidFill>
                  <a:srgbClr val="0F766E"/>
                </a:solidFill>
                <a:latin typeface="Calibri"/>
              </a:rPr>
              <a:t>-6%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96042" y="6862995"/>
            <a:ext cx="2256798" cy="20257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8% -&gt; 2% missed-sale rate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186717" y="5845820"/>
            <a:ext cx="3040328" cy="14641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838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9" name="Rounded Rectangle 78"/>
          <p:cNvSpPr/>
          <p:nvPr/>
        </p:nvSpPr>
        <p:spPr>
          <a:xfrm>
            <a:off x="10186717" y="5845820"/>
            <a:ext cx="3040328" cy="396190"/>
          </a:xfrm>
          <a:prstGeom prst="roundRect">
            <a:avLst>
              <a:gd name="adj" fmla="val 30434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0" name="Rectangle 79"/>
          <p:cNvSpPr/>
          <p:nvPr/>
        </p:nvSpPr>
        <p:spPr>
          <a:xfrm>
            <a:off x="10186717" y="6121430"/>
            <a:ext cx="3040328" cy="1205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1" name="TextBox 80"/>
          <p:cNvSpPr txBox="1"/>
          <p:nvPr/>
        </p:nvSpPr>
        <p:spPr>
          <a:xfrm>
            <a:off x="11039353" y="5933899"/>
            <a:ext cx="1326444" cy="2480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REVENUE LIFT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11300" y="6295684"/>
            <a:ext cx="982551" cy="5512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400" b="1" dirty="0">
                <a:solidFill>
                  <a:srgbClr val="0F766E"/>
                </a:solidFill>
                <a:latin typeface="Calibri"/>
              </a:rPr>
              <a:t>+$6B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93633" y="6862995"/>
            <a:ext cx="2617885" cy="20257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1% stockout cut on $648B base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0122" y="7896534"/>
            <a:ext cx="4333052" cy="20257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475569"/>
                </a:solidFill>
                <a:latin typeface="Calibri"/>
              </a:rPr>
              <a:t>Walmart / Target benchmark · 2024 retail reports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3578840" y="1714500"/>
            <a:ext cx="4183379" cy="66796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POS feeds → demand model → store-to-store transfers every 15 min.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Walmart, Target: ~5-8% stockout reduction.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On $648B revenue, 1% stockout reduction = $6B incremental sales.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15-minute freshness is right — humans rebalance once per shift, not per second.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3578840" y="7223760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Match the data SLA to the human action cycle, not the technology.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BDAD36B-9C67-A610-2EEB-3F7555798443}"/>
              </a:ext>
            </a:extLst>
          </p:cNvPr>
          <p:cNvSpPr txBox="1"/>
          <p:nvPr/>
        </p:nvSpPr>
        <p:spPr>
          <a:xfrm>
            <a:off x="685800" y="109728"/>
            <a:ext cx="1687068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lang="en-GB" sz="1650" b="1" i="0" dirty="0">
                <a:solidFill>
                  <a:srgbClr val="A7F3D0"/>
                </a:solidFill>
                <a:latin typeface="Calibri"/>
              </a:rPr>
              <a:t>Micro Batches</a:t>
            </a:r>
            <a:endParaRPr sz="1650" b="1" i="0" dirty="0">
              <a:solidFill>
                <a:srgbClr val="A7F3D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5505" y="1461267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09728"/>
            <a:ext cx="1687068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BATCH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Customer Churn &amp; Marketing — nightly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291" y="1819057"/>
            <a:ext cx="452840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475569"/>
                </a:solidFill>
                <a:latin typeface="Calibri"/>
              </a:rPr>
              <a:t>12-MONTH COHORT RETENTION · 100K SIGNUPS · JANUARY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469" y="2051502"/>
            <a:ext cx="12788797" cy="3024377"/>
          </a:xfrm>
          <a:prstGeom prst="roundRect">
            <a:avLst>
              <a:gd name="adj" fmla="val 3428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672540" y="2299069"/>
            <a:ext cx="32598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Calibr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423" y="2800251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Calibri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423" y="3301434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Calibri"/>
              </a:rP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423" y="3802616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423" y="4303799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Calibri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423" y="4804982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Calibri"/>
              </a:rPr>
              <a:t>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4934" y="2345298"/>
            <a:ext cx="11924690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84934" y="2846481"/>
            <a:ext cx="11924690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4934" y="3347663"/>
            <a:ext cx="11924690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4934" y="3848846"/>
            <a:ext cx="11924690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84934" y="4350029"/>
            <a:ext cx="11924690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84934" y="4851211"/>
            <a:ext cx="11924690" cy="0"/>
          </a:xfrm>
          <a:prstGeom prst="line">
            <a:avLst/>
          </a:prstGeom>
          <a:ln w="12961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35074" y="4951880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Calibri"/>
              </a:rPr>
              <a:t>M0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2608" y="4951880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M1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332" y="4951880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M2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20056" y="4951880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3781" y="4951880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M4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7505" y="4951880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M5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1229" y="4951880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M6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953" y="4951880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M7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8677" y="4951880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M8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2401" y="4951880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M9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76125" y="4951880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M10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69849" y="4951880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M11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63574" y="4951880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M12</a:t>
            </a:r>
          </a:p>
        </p:txBody>
      </p:sp>
      <p:sp>
        <p:nvSpPr>
          <p:cNvPr id="36" name="Freeform 35"/>
          <p:cNvSpPr/>
          <p:nvPr/>
        </p:nvSpPr>
        <p:spPr>
          <a:xfrm>
            <a:off x="1084934" y="2345298"/>
            <a:ext cx="11924690" cy="2004731"/>
          </a:xfrm>
          <a:custGeom>
            <a:avLst/>
            <a:gdLst/>
            <a:ahLst/>
            <a:cxnLst/>
            <a:rect l="l" t="t" r="r" b="b"/>
            <a:pathLst>
              <a:path w="11924690" h="2004731">
                <a:moveTo>
                  <a:pt x="0" y="0"/>
                </a:moveTo>
                <a:lnTo>
                  <a:pt x="993724" y="553029"/>
                </a:lnTo>
                <a:lnTo>
                  <a:pt x="1987448" y="898673"/>
                </a:lnTo>
                <a:lnTo>
                  <a:pt x="2981172" y="1149264"/>
                </a:lnTo>
                <a:lnTo>
                  <a:pt x="3974897" y="1330727"/>
                </a:lnTo>
                <a:lnTo>
                  <a:pt x="4968621" y="1477625"/>
                </a:lnTo>
                <a:lnTo>
                  <a:pt x="5962345" y="1607241"/>
                </a:lnTo>
                <a:lnTo>
                  <a:pt x="6956069" y="1702293"/>
                </a:lnTo>
                <a:lnTo>
                  <a:pt x="7949793" y="1780063"/>
                </a:lnTo>
                <a:lnTo>
                  <a:pt x="8943517" y="1857832"/>
                </a:lnTo>
                <a:lnTo>
                  <a:pt x="9937241" y="1901038"/>
                </a:lnTo>
                <a:lnTo>
                  <a:pt x="10930965" y="1952884"/>
                </a:lnTo>
                <a:lnTo>
                  <a:pt x="11924690" y="2004731"/>
                </a:lnTo>
              </a:path>
            </a:pathLst>
          </a:custGeom>
          <a:noFill/>
          <a:ln w="25923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7" name="Freeform 36"/>
          <p:cNvSpPr/>
          <p:nvPr/>
        </p:nvSpPr>
        <p:spPr>
          <a:xfrm>
            <a:off x="1084934" y="2345298"/>
            <a:ext cx="11924690" cy="1252957"/>
          </a:xfrm>
          <a:custGeom>
            <a:avLst/>
            <a:gdLst/>
            <a:ahLst/>
            <a:cxnLst/>
            <a:rect l="l" t="t" r="r" b="b"/>
            <a:pathLst>
              <a:path w="11924690" h="1252957">
                <a:moveTo>
                  <a:pt x="0" y="0"/>
                </a:moveTo>
                <a:lnTo>
                  <a:pt x="993724" y="397490"/>
                </a:lnTo>
                <a:lnTo>
                  <a:pt x="1987448" y="604876"/>
                </a:lnTo>
                <a:lnTo>
                  <a:pt x="2981172" y="751774"/>
                </a:lnTo>
                <a:lnTo>
                  <a:pt x="3974897" y="881390"/>
                </a:lnTo>
                <a:lnTo>
                  <a:pt x="4968621" y="976442"/>
                </a:lnTo>
                <a:lnTo>
                  <a:pt x="5962345" y="1054212"/>
                </a:lnTo>
                <a:lnTo>
                  <a:pt x="6956069" y="1106058"/>
                </a:lnTo>
                <a:lnTo>
                  <a:pt x="7949793" y="1149264"/>
                </a:lnTo>
                <a:lnTo>
                  <a:pt x="8943517" y="1175187"/>
                </a:lnTo>
                <a:lnTo>
                  <a:pt x="9937241" y="1201110"/>
                </a:lnTo>
                <a:lnTo>
                  <a:pt x="10930965" y="1227034"/>
                </a:lnTo>
                <a:lnTo>
                  <a:pt x="11924690" y="1252957"/>
                </a:lnTo>
              </a:path>
            </a:pathLst>
          </a:custGeom>
          <a:noFill/>
          <a:ln w="34564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8" name="Freeform 37"/>
          <p:cNvSpPr/>
          <p:nvPr/>
        </p:nvSpPr>
        <p:spPr>
          <a:xfrm>
            <a:off x="1084934" y="2345298"/>
            <a:ext cx="11924690" cy="2004731"/>
          </a:xfrm>
          <a:custGeom>
            <a:avLst/>
            <a:gdLst/>
            <a:ahLst/>
            <a:cxnLst/>
            <a:rect l="l" t="t" r="r" b="b"/>
            <a:pathLst>
              <a:path w="11924690" h="2004731">
                <a:moveTo>
                  <a:pt x="0" y="0"/>
                </a:moveTo>
                <a:lnTo>
                  <a:pt x="993724" y="397490"/>
                </a:lnTo>
                <a:lnTo>
                  <a:pt x="1987448" y="604876"/>
                </a:lnTo>
                <a:lnTo>
                  <a:pt x="2981172" y="751774"/>
                </a:lnTo>
                <a:lnTo>
                  <a:pt x="3974897" y="881390"/>
                </a:lnTo>
                <a:lnTo>
                  <a:pt x="4968621" y="976442"/>
                </a:lnTo>
                <a:lnTo>
                  <a:pt x="5962345" y="1054212"/>
                </a:lnTo>
                <a:lnTo>
                  <a:pt x="6956069" y="1106058"/>
                </a:lnTo>
                <a:lnTo>
                  <a:pt x="7949793" y="1149264"/>
                </a:lnTo>
                <a:lnTo>
                  <a:pt x="8943517" y="1175187"/>
                </a:lnTo>
                <a:lnTo>
                  <a:pt x="9937241" y="1201110"/>
                </a:lnTo>
                <a:lnTo>
                  <a:pt x="10930965" y="1227034"/>
                </a:lnTo>
                <a:lnTo>
                  <a:pt x="11924690" y="1252957"/>
                </a:lnTo>
                <a:lnTo>
                  <a:pt x="11924690" y="2004731"/>
                </a:lnTo>
                <a:lnTo>
                  <a:pt x="10930965" y="1952884"/>
                </a:lnTo>
                <a:lnTo>
                  <a:pt x="9937241" y="1901038"/>
                </a:lnTo>
                <a:lnTo>
                  <a:pt x="8943517" y="1857832"/>
                </a:lnTo>
                <a:lnTo>
                  <a:pt x="7949793" y="1780063"/>
                </a:lnTo>
                <a:lnTo>
                  <a:pt x="6956069" y="1702293"/>
                </a:lnTo>
                <a:lnTo>
                  <a:pt x="5962345" y="1607241"/>
                </a:lnTo>
                <a:lnTo>
                  <a:pt x="4968621" y="1477625"/>
                </a:lnTo>
                <a:lnTo>
                  <a:pt x="3974897" y="1330727"/>
                </a:lnTo>
                <a:lnTo>
                  <a:pt x="2981172" y="1149264"/>
                </a:lnTo>
                <a:lnTo>
                  <a:pt x="1987448" y="898673"/>
                </a:lnTo>
                <a:lnTo>
                  <a:pt x="993724" y="553029"/>
                </a:lnTo>
                <a:lnTo>
                  <a:pt x="0" y="0"/>
                </a:lnTo>
                <a:close/>
              </a:path>
            </a:pathLst>
          </a:custGeom>
          <a:solidFill>
            <a:srgbClr val="CCFBF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9" name="Rounded Rectangle 38"/>
          <p:cNvSpPr/>
          <p:nvPr/>
        </p:nvSpPr>
        <p:spPr>
          <a:xfrm>
            <a:off x="9380370" y="2267529"/>
            <a:ext cx="3456431" cy="518464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864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cxnSp>
        <p:nvCxnSpPr>
          <p:cNvPr id="40" name="Connector 39"/>
          <p:cNvCxnSpPr/>
          <p:nvPr/>
        </p:nvCxnSpPr>
        <p:spPr>
          <a:xfrm>
            <a:off x="9553192" y="2414427"/>
            <a:ext cx="259232" cy="0"/>
          </a:xfrm>
          <a:prstGeom prst="line">
            <a:avLst/>
          </a:prstGeom>
          <a:ln w="34564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898835" y="2362148"/>
            <a:ext cx="2872745" cy="19633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26456E"/>
                </a:solidFill>
                <a:latin typeface="Calibri"/>
              </a:rPr>
              <a:t>With nightly churn-save outreach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553192" y="2656377"/>
            <a:ext cx="259232" cy="0"/>
          </a:xfrm>
          <a:prstGeom prst="line">
            <a:avLst/>
          </a:prstGeom>
          <a:ln w="25923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898835" y="2604099"/>
            <a:ext cx="2332342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No intervention (baseline)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69885" y="3618129"/>
            <a:ext cx="2981967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0F766E"/>
                </a:solidFill>
                <a:latin typeface="Calibri"/>
              </a:rPr>
              <a:t>+30 PP RETAINED AT M12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32520" y="4014934"/>
            <a:ext cx="4256696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 dirty="0">
                <a:solidFill>
                  <a:srgbClr val="115E59"/>
                </a:solidFill>
                <a:latin typeface="Calibri"/>
              </a:rPr>
              <a:t>50% vs 20% · ~30,000 saved customers per cohort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2880" y="5594344"/>
            <a:ext cx="3050301" cy="146898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923">
            <a:solidFill>
              <a:srgbClr val="3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7" name="Rounded Rectangle 46"/>
          <p:cNvSpPr/>
          <p:nvPr/>
        </p:nvSpPr>
        <p:spPr>
          <a:xfrm>
            <a:off x="652880" y="5594344"/>
            <a:ext cx="3050301" cy="397489"/>
          </a:xfrm>
          <a:prstGeom prst="roundRect">
            <a:avLst>
              <a:gd name="adj" fmla="val 30434"/>
            </a:avLst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8" name="Rectangle 47"/>
          <p:cNvSpPr/>
          <p:nvPr/>
        </p:nvSpPr>
        <p:spPr>
          <a:xfrm>
            <a:off x="652880" y="5870859"/>
            <a:ext cx="3050301" cy="120975"/>
          </a:xfrm>
          <a:prstGeom prst="rect">
            <a:avLst/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9" name="TextBox 48"/>
          <p:cNvSpPr txBox="1"/>
          <p:nvPr/>
        </p:nvSpPr>
        <p:spPr>
          <a:xfrm>
            <a:off x="1896461" y="5670918"/>
            <a:ext cx="554498" cy="248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7936" y="6105215"/>
            <a:ext cx="1971548" cy="276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 dirty="0">
                <a:solidFill>
                  <a:srgbClr val="26456E"/>
                </a:solidFill>
                <a:latin typeface="Calibri"/>
              </a:rPr>
              <a:t>100M subscribers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7783" y="6451971"/>
            <a:ext cx="2231854" cy="2177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90-day rolling features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1857" y="6693921"/>
            <a:ext cx="1843706" cy="2177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nightly 02:00 batch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41438" y="5594344"/>
            <a:ext cx="3050301" cy="146898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923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4" name="Rounded Rectangle 53"/>
          <p:cNvSpPr/>
          <p:nvPr/>
        </p:nvSpPr>
        <p:spPr>
          <a:xfrm>
            <a:off x="3841438" y="5594344"/>
            <a:ext cx="3050301" cy="397489"/>
          </a:xfrm>
          <a:prstGeom prst="roundRect">
            <a:avLst>
              <a:gd name="adj" fmla="val 30434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5" name="Rectangle 54"/>
          <p:cNvSpPr/>
          <p:nvPr/>
        </p:nvSpPr>
        <p:spPr>
          <a:xfrm>
            <a:off x="3841438" y="5870859"/>
            <a:ext cx="3050301" cy="1209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6" name="TextBox 55"/>
          <p:cNvSpPr txBox="1"/>
          <p:nvPr/>
        </p:nvSpPr>
        <p:spPr>
          <a:xfrm>
            <a:off x="4807770" y="5670918"/>
            <a:ext cx="1108996" cy="248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CLOUD COST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30712" y="6134595"/>
            <a:ext cx="1863113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 dirty="0">
                <a:solidFill>
                  <a:srgbClr val="26456E"/>
                </a:solidFill>
                <a:latin typeface="Calibri"/>
              </a:rPr>
              <a:t>AWS    ~$1,400 /</a:t>
            </a:r>
            <a:r>
              <a:rPr sz="2000" b="1" dirty="0" err="1">
                <a:solidFill>
                  <a:srgbClr val="26456E"/>
                </a:solidFill>
                <a:latin typeface="Calibri"/>
              </a:rPr>
              <a:t>mo</a:t>
            </a:r>
            <a:endParaRPr sz="2000" b="1" dirty="0">
              <a:solidFill>
                <a:srgbClr val="26456E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430712" y="6393129"/>
            <a:ext cx="1863113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 dirty="0">
                <a:solidFill>
                  <a:srgbClr val="26456E"/>
                </a:solidFill>
                <a:latin typeface="Calibri"/>
              </a:rPr>
              <a:t>Azure  ~$1,600 /</a:t>
            </a:r>
            <a:r>
              <a:rPr sz="2000" b="1" dirty="0" err="1">
                <a:solidFill>
                  <a:srgbClr val="26456E"/>
                </a:solidFill>
                <a:latin typeface="Calibri"/>
              </a:rPr>
              <a:t>mo</a:t>
            </a:r>
            <a:endParaRPr sz="2000" b="1" dirty="0">
              <a:solidFill>
                <a:srgbClr val="26456E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430712" y="6634730"/>
            <a:ext cx="1863113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26456E"/>
                </a:solidFill>
                <a:latin typeface="Calibri"/>
              </a:rPr>
              <a:t>GCP    ~$1,200 /mo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029997" y="5594344"/>
            <a:ext cx="3050301" cy="146898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923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1" name="Rounded Rectangle 60"/>
          <p:cNvSpPr/>
          <p:nvPr/>
        </p:nvSpPr>
        <p:spPr>
          <a:xfrm>
            <a:off x="7029997" y="5594344"/>
            <a:ext cx="3050301" cy="397489"/>
          </a:xfrm>
          <a:prstGeom prst="roundRect">
            <a:avLst>
              <a:gd name="adj" fmla="val 30434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2" name="Rectangle 61"/>
          <p:cNvSpPr/>
          <p:nvPr/>
        </p:nvSpPr>
        <p:spPr>
          <a:xfrm>
            <a:off x="7029997" y="5870859"/>
            <a:ext cx="3050301" cy="12097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3" name="TextBox 62"/>
          <p:cNvSpPr txBox="1"/>
          <p:nvPr/>
        </p:nvSpPr>
        <p:spPr>
          <a:xfrm>
            <a:off x="7719080" y="5670918"/>
            <a:ext cx="1663494" cy="248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CHURN REDUCTION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34719" y="6062010"/>
            <a:ext cx="1232217" cy="55302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000" b="1" dirty="0">
                <a:solidFill>
                  <a:srgbClr val="0F766E"/>
                </a:solidFill>
                <a:latin typeface="Calibri"/>
              </a:rPr>
              <a:t>30 PP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64011" y="6614856"/>
            <a:ext cx="2173632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>
                <a:solidFill>
                  <a:srgbClr val="475569"/>
                </a:solidFill>
                <a:latin typeface="Calibri"/>
              </a:rPr>
              <a:t>M12 retention 20% -&gt; 50%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218555" y="5594344"/>
            <a:ext cx="3050301" cy="146898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5923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7" name="Rounded Rectangle 66"/>
          <p:cNvSpPr/>
          <p:nvPr/>
        </p:nvSpPr>
        <p:spPr>
          <a:xfrm>
            <a:off x="10218555" y="5594344"/>
            <a:ext cx="3050301" cy="397489"/>
          </a:xfrm>
          <a:prstGeom prst="roundRect">
            <a:avLst>
              <a:gd name="adj" fmla="val 30434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8" name="Rectangle 67"/>
          <p:cNvSpPr/>
          <p:nvPr/>
        </p:nvSpPr>
        <p:spPr>
          <a:xfrm>
            <a:off x="10218555" y="5870859"/>
            <a:ext cx="3050301" cy="12097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9" name="TextBox 68"/>
          <p:cNvSpPr txBox="1"/>
          <p:nvPr/>
        </p:nvSpPr>
        <p:spPr>
          <a:xfrm>
            <a:off x="11573036" y="5670918"/>
            <a:ext cx="332698" cy="248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ROI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46498" y="6045077"/>
            <a:ext cx="985774" cy="55302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000" b="1" dirty="0">
                <a:solidFill>
                  <a:srgbClr val="0F766E"/>
                </a:solidFill>
                <a:latin typeface="Calibri"/>
              </a:rPr>
              <a:t>4-8x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6717" y="6614856"/>
            <a:ext cx="2445336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dirty="0">
                <a:solidFill>
                  <a:srgbClr val="475569"/>
                </a:solidFill>
                <a:latin typeface="Calibri"/>
              </a:rPr>
              <a:t>100x cheaper than streaming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6299" y="7651785"/>
            <a:ext cx="4618968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475569"/>
                </a:solidFill>
                <a:latin typeface="Calibri"/>
              </a:rPr>
              <a:t>Spotify / Netflix / telco benchmarks · 2024 reports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3578840" y="1714500"/>
            <a:ext cx="4183379" cy="6595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Last 90 days of activity → churn score → marketing list, every night at 2am.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ROI 4-8x. 100x cheaper than streaming for the same uplift.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Spotify, Netflix, telco churn models all run on nightly batch.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Real-time churn does not exist — by the time we know, the customer is gone.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3578840" y="7121632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If the business reacts daily, the pipeline should too. No more, no less.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344400" y="0"/>
            <a:ext cx="5943142" cy="10287000"/>
          </a:xfrm>
          <a:prstGeom prst="rect">
            <a:avLst/>
          </a:prstGeom>
          <a:solidFill>
            <a:srgbClr val="14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0" y="1920239"/>
            <a:ext cx="5897879" cy="61722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sz="36000" b="1" i="0">
                <a:solidFill>
                  <a:srgbClr val="2A4A73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54380"/>
            <a:ext cx="10972800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A7F3D0"/>
                </a:solidFill>
                <a:latin typeface="Calibri"/>
              </a:rPr>
              <a:t>DATA VALUE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316736"/>
            <a:ext cx="16047719" cy="8000"/>
          </a:xfrm>
          <a:prstGeom prst="rect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291839"/>
            <a:ext cx="10972800" cy="6858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100" b="1" i="0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183379"/>
            <a:ext cx="2194560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526279"/>
            <a:ext cx="10972800" cy="329183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8100" b="1" i="0">
                <a:solidFill>
                  <a:srgbClr val="FFFFFF"/>
                </a:solidFill>
                <a:latin typeface="Calibri"/>
              </a:rPr>
              <a:t>Real Companies &amp; Real Architectures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8023859"/>
            <a:ext cx="10972800" cy="13716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700" b="0" i="1">
                <a:solidFill>
                  <a:srgbClr val="A7F3D0"/>
                </a:solidFill>
                <a:latin typeface="Calibri"/>
              </a:rPr>
              <a:t>Sixteen slides. Fourteen companies. Three speed tiers.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9738359"/>
            <a:ext cx="9601200" cy="41147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350" b="1" i="0">
                <a:solidFill>
                  <a:srgbClr val="D97706"/>
                </a:solidFill>
                <a:latin typeface="Calibri"/>
              </a:rPr>
              <a:t>SECTION OPENER</a:t>
            </a:r>
          </a:p>
        </p:txBody>
      </p:sp>
      <p:pic>
        <p:nvPicPr>
          <p:cNvPr id="12" name="Picture 11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472" y="15856771"/>
            <a:ext cx="18287542" cy="8750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9676"/>
            <a:ext cx="1687068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The Landscape — </a:t>
            </a:r>
            <a:r>
              <a:rPr lang="en-GB" sz="3600" b="1" dirty="0">
                <a:solidFill>
                  <a:srgbClr val="FFFFFF"/>
                </a:solidFill>
                <a:latin typeface="Calibri"/>
              </a:rPr>
              <a:t>Different Companies, Different Use-cases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Different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speeds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473" y="2130094"/>
            <a:ext cx="2206212" cy="1555394"/>
          </a:xfrm>
          <a:prstGeom prst="roundRect">
            <a:avLst>
              <a:gd name="adj" fmla="val 7777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620586" y="2760893"/>
            <a:ext cx="1108996" cy="276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Calibri"/>
              </a:rPr>
              <a:t>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968" y="3054258"/>
            <a:ext cx="538232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FEF3C7"/>
                </a:solidFill>
                <a:latin typeface="Calibri"/>
              </a:rPr>
              <a:t>ms-sec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7507" y="2130094"/>
            <a:ext cx="2080771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Rounded Rectangle 12"/>
          <p:cNvSpPr/>
          <p:nvPr/>
        </p:nvSpPr>
        <p:spPr>
          <a:xfrm>
            <a:off x="2467507" y="2130094"/>
            <a:ext cx="2080771" cy="414771"/>
          </a:xfrm>
          <a:prstGeom prst="roundRect">
            <a:avLst>
              <a:gd name="adj" fmla="val 29166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Rectangle 13"/>
          <p:cNvSpPr/>
          <p:nvPr/>
        </p:nvSpPr>
        <p:spPr>
          <a:xfrm>
            <a:off x="2467507" y="2389327"/>
            <a:ext cx="2080771" cy="15553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3033490" y="2170863"/>
            <a:ext cx="948807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Calibri"/>
              </a:rPr>
              <a:t>Netflix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9201" y="2843314"/>
            <a:ext cx="117738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dirty="0">
                <a:solidFill>
                  <a:srgbClr val="26456E"/>
                </a:solidFill>
                <a:latin typeface="Calibri"/>
              </a:rPr>
              <a:t>1T events/day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8918" y="3254197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9254" y="2130094"/>
            <a:ext cx="2080771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Rounded Rectangle 18"/>
          <p:cNvSpPr/>
          <p:nvPr/>
        </p:nvSpPr>
        <p:spPr>
          <a:xfrm>
            <a:off x="4669254" y="2130094"/>
            <a:ext cx="2080771" cy="414771"/>
          </a:xfrm>
          <a:prstGeom prst="roundRect">
            <a:avLst>
              <a:gd name="adj" fmla="val 29166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Rectangle 19"/>
          <p:cNvSpPr/>
          <p:nvPr/>
        </p:nvSpPr>
        <p:spPr>
          <a:xfrm>
            <a:off x="4669254" y="2389327"/>
            <a:ext cx="2080771" cy="15553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5438553" y="2170863"/>
            <a:ext cx="542175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Uber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948" y="2843314"/>
            <a:ext cx="117738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ETAs in 200ms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0665" y="3254197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71001" y="2130094"/>
            <a:ext cx="2080771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Rounded Rectangle 24"/>
          <p:cNvSpPr/>
          <p:nvPr/>
        </p:nvSpPr>
        <p:spPr>
          <a:xfrm>
            <a:off x="6871001" y="2130094"/>
            <a:ext cx="2080771" cy="414771"/>
          </a:xfrm>
          <a:prstGeom prst="roundRect">
            <a:avLst>
              <a:gd name="adj" fmla="val 29166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6" name="Rectangle 25"/>
          <p:cNvSpPr/>
          <p:nvPr/>
        </p:nvSpPr>
        <p:spPr>
          <a:xfrm>
            <a:off x="6871001" y="2389327"/>
            <a:ext cx="2080771" cy="15553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TextBox 26"/>
          <p:cNvSpPr txBox="1"/>
          <p:nvPr/>
        </p:nvSpPr>
        <p:spPr>
          <a:xfrm>
            <a:off x="7504756" y="2170863"/>
            <a:ext cx="813263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Stripe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3263" y="2843314"/>
            <a:ext cx="996248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100ms fraud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2412" y="3254197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72748" y="2130094"/>
            <a:ext cx="2080771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1" name="Rounded Rectangle 30"/>
          <p:cNvSpPr/>
          <p:nvPr/>
        </p:nvSpPr>
        <p:spPr>
          <a:xfrm>
            <a:off x="9072748" y="2130094"/>
            <a:ext cx="2080771" cy="414771"/>
          </a:xfrm>
          <a:prstGeom prst="roundRect">
            <a:avLst>
              <a:gd name="adj" fmla="val 29166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2" name="Rectangle 31"/>
          <p:cNvSpPr/>
          <p:nvPr/>
        </p:nvSpPr>
        <p:spPr>
          <a:xfrm>
            <a:off x="9072748" y="2389327"/>
            <a:ext cx="2080771" cy="15553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3" name="TextBox 32"/>
          <p:cNvSpPr txBox="1"/>
          <p:nvPr/>
        </p:nvSpPr>
        <p:spPr>
          <a:xfrm>
            <a:off x="9774275" y="2170863"/>
            <a:ext cx="677719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Tesla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3874" y="2843314"/>
            <a:ext cx="135852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Fleet telemetry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4159" y="3254197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74495" y="2130094"/>
            <a:ext cx="2080771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7" name="Rounded Rectangle 36"/>
          <p:cNvSpPr/>
          <p:nvPr/>
        </p:nvSpPr>
        <p:spPr>
          <a:xfrm>
            <a:off x="11274495" y="2130094"/>
            <a:ext cx="2080771" cy="414771"/>
          </a:xfrm>
          <a:prstGeom prst="roundRect">
            <a:avLst>
              <a:gd name="adj" fmla="val 29166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8" name="Rectangle 37"/>
          <p:cNvSpPr/>
          <p:nvPr/>
        </p:nvSpPr>
        <p:spPr>
          <a:xfrm>
            <a:off x="11274495" y="2389327"/>
            <a:ext cx="2080771" cy="15553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9" name="TextBox 38"/>
          <p:cNvSpPr txBox="1"/>
          <p:nvPr/>
        </p:nvSpPr>
        <p:spPr>
          <a:xfrm>
            <a:off x="12043794" y="2170863"/>
            <a:ext cx="542175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AmEx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62041" y="2843314"/>
            <a:ext cx="90568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8B txns/yr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25906" y="3254197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473" y="3944721"/>
            <a:ext cx="2206212" cy="1555394"/>
          </a:xfrm>
          <a:prstGeom prst="roundRect">
            <a:avLst>
              <a:gd name="adj" fmla="val 7777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3" name="TextBox 42"/>
          <p:cNvSpPr txBox="1"/>
          <p:nvPr/>
        </p:nvSpPr>
        <p:spPr>
          <a:xfrm>
            <a:off x="497365" y="4575520"/>
            <a:ext cx="1355439" cy="276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Calibri"/>
              </a:rPr>
              <a:t>MICRO-BATCH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1115" y="4868884"/>
            <a:ext cx="627938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FEF3C7"/>
                </a:solidFill>
                <a:latin typeface="Calibri"/>
              </a:rPr>
              <a:t>sec-min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67507" y="3944721"/>
            <a:ext cx="2631208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6" name="Rounded Rectangle 45"/>
          <p:cNvSpPr/>
          <p:nvPr/>
        </p:nvSpPr>
        <p:spPr>
          <a:xfrm>
            <a:off x="2467507" y="3944721"/>
            <a:ext cx="2631208" cy="414771"/>
          </a:xfrm>
          <a:prstGeom prst="roundRect">
            <a:avLst>
              <a:gd name="adj" fmla="val 29166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7" name="Rectangle 46"/>
          <p:cNvSpPr/>
          <p:nvPr/>
        </p:nvSpPr>
        <p:spPr>
          <a:xfrm>
            <a:off x="2467507" y="4203953"/>
            <a:ext cx="2631208" cy="15553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8" name="TextBox 47"/>
          <p:cNvSpPr txBox="1"/>
          <p:nvPr/>
        </p:nvSpPr>
        <p:spPr>
          <a:xfrm>
            <a:off x="3240936" y="3985489"/>
            <a:ext cx="1084351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DoorDash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94419" y="4657941"/>
            <a:ext cx="117738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Order routing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4136" y="5068824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19691" y="3944721"/>
            <a:ext cx="2631208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2" name="Rounded Rectangle 51"/>
          <p:cNvSpPr/>
          <p:nvPr/>
        </p:nvSpPr>
        <p:spPr>
          <a:xfrm>
            <a:off x="5219691" y="3944721"/>
            <a:ext cx="2631208" cy="414771"/>
          </a:xfrm>
          <a:prstGeom prst="roundRect">
            <a:avLst>
              <a:gd name="adj" fmla="val 29166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3" name="Rectangle 52"/>
          <p:cNvSpPr/>
          <p:nvPr/>
        </p:nvSpPr>
        <p:spPr>
          <a:xfrm>
            <a:off x="5219691" y="4203953"/>
            <a:ext cx="2631208" cy="15553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4" name="TextBox 53"/>
          <p:cNvSpPr txBox="1"/>
          <p:nvPr/>
        </p:nvSpPr>
        <p:spPr>
          <a:xfrm>
            <a:off x="5993120" y="3985489"/>
            <a:ext cx="1084351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LinkedIn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91887" y="4657941"/>
            <a:ext cx="1086816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Feed ranking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46320" y="5068824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71874" y="3944721"/>
            <a:ext cx="2631208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8" name="Rounded Rectangle 57"/>
          <p:cNvSpPr/>
          <p:nvPr/>
        </p:nvSpPr>
        <p:spPr>
          <a:xfrm>
            <a:off x="7971874" y="3944721"/>
            <a:ext cx="2631208" cy="414771"/>
          </a:xfrm>
          <a:prstGeom prst="roundRect">
            <a:avLst>
              <a:gd name="adj" fmla="val 29166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9" name="Rectangle 58"/>
          <p:cNvSpPr/>
          <p:nvPr/>
        </p:nvSpPr>
        <p:spPr>
          <a:xfrm>
            <a:off x="7971874" y="4203953"/>
            <a:ext cx="2631208" cy="15553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0" name="TextBox 59"/>
          <p:cNvSpPr txBox="1"/>
          <p:nvPr/>
        </p:nvSpPr>
        <p:spPr>
          <a:xfrm>
            <a:off x="8813076" y="3985489"/>
            <a:ext cx="948807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Walmart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79923" y="4657941"/>
            <a:ext cx="815112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Inventory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98504" y="5068824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724058" y="3944721"/>
            <a:ext cx="2631208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4" name="Rounded Rectangle 63"/>
          <p:cNvSpPr/>
          <p:nvPr/>
        </p:nvSpPr>
        <p:spPr>
          <a:xfrm>
            <a:off x="10724058" y="3944721"/>
            <a:ext cx="2631208" cy="414771"/>
          </a:xfrm>
          <a:prstGeom prst="roundRect">
            <a:avLst>
              <a:gd name="adj" fmla="val 29166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5" name="Rectangle 64"/>
          <p:cNvSpPr/>
          <p:nvPr/>
        </p:nvSpPr>
        <p:spPr>
          <a:xfrm>
            <a:off x="10724058" y="4203953"/>
            <a:ext cx="2631208" cy="15553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6" name="TextBox 65"/>
          <p:cNvSpPr txBox="1"/>
          <p:nvPr/>
        </p:nvSpPr>
        <p:spPr>
          <a:xfrm>
            <a:off x="11836347" y="3985489"/>
            <a:ext cx="406631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05686" y="4657941"/>
            <a:ext cx="1267952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Train arrivals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550687" y="5068824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473" y="5759348"/>
            <a:ext cx="2206212" cy="1555394"/>
          </a:xfrm>
          <a:prstGeom prst="roundRect">
            <a:avLst>
              <a:gd name="adj" fmla="val 7777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0" name="TextBox 69"/>
          <p:cNvSpPr txBox="1"/>
          <p:nvPr/>
        </p:nvSpPr>
        <p:spPr>
          <a:xfrm>
            <a:off x="867030" y="6390146"/>
            <a:ext cx="616108" cy="276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BATCH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6263" y="6683511"/>
            <a:ext cx="717643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FEF3C7"/>
                </a:solidFill>
                <a:latin typeface="Calibri"/>
              </a:rPr>
              <a:t>hrs-days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467507" y="5759348"/>
            <a:ext cx="2080771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3" name="Rounded Rectangle 72"/>
          <p:cNvSpPr/>
          <p:nvPr/>
        </p:nvSpPr>
        <p:spPr>
          <a:xfrm>
            <a:off x="2467507" y="5759348"/>
            <a:ext cx="2080771" cy="414771"/>
          </a:xfrm>
          <a:prstGeom prst="roundRect">
            <a:avLst>
              <a:gd name="adj" fmla="val 291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4" name="Rectangle 73"/>
          <p:cNvSpPr/>
          <p:nvPr/>
        </p:nvSpPr>
        <p:spPr>
          <a:xfrm>
            <a:off x="2467507" y="6018580"/>
            <a:ext cx="2080771" cy="15553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5" name="TextBox 74"/>
          <p:cNvSpPr txBox="1"/>
          <p:nvPr/>
        </p:nvSpPr>
        <p:spPr>
          <a:xfrm>
            <a:off x="3033490" y="5800116"/>
            <a:ext cx="948807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Spotify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28633" y="6472567"/>
            <a:ext cx="135852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dirty="0">
                <a:solidFill>
                  <a:srgbClr val="26456E"/>
                </a:solidFill>
                <a:latin typeface="Calibri"/>
              </a:rPr>
              <a:t>Discover Weekly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18918" y="6883451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669254" y="5759348"/>
            <a:ext cx="2080771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9" name="Rounded Rectangle 78"/>
          <p:cNvSpPr/>
          <p:nvPr/>
        </p:nvSpPr>
        <p:spPr>
          <a:xfrm>
            <a:off x="4669254" y="5759348"/>
            <a:ext cx="2080771" cy="414771"/>
          </a:xfrm>
          <a:prstGeom prst="roundRect">
            <a:avLst>
              <a:gd name="adj" fmla="val 291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0" name="Rectangle 79"/>
          <p:cNvSpPr/>
          <p:nvPr/>
        </p:nvSpPr>
        <p:spPr>
          <a:xfrm>
            <a:off x="4669254" y="6018580"/>
            <a:ext cx="2080771" cy="15553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1" name="TextBox 80"/>
          <p:cNvSpPr txBox="1"/>
          <p:nvPr/>
        </p:nvSpPr>
        <p:spPr>
          <a:xfrm>
            <a:off x="5303009" y="5800116"/>
            <a:ext cx="813263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Airbnb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75664" y="6472567"/>
            <a:ext cx="1267952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Search ranking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20665" y="6883451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871001" y="5759348"/>
            <a:ext cx="2080771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5" name="Rounded Rectangle 84"/>
          <p:cNvSpPr/>
          <p:nvPr/>
        </p:nvSpPr>
        <p:spPr>
          <a:xfrm>
            <a:off x="6871001" y="5759348"/>
            <a:ext cx="2080771" cy="414771"/>
          </a:xfrm>
          <a:prstGeom prst="roundRect">
            <a:avLst>
              <a:gd name="adj" fmla="val 291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6" name="Rectangle 85"/>
          <p:cNvSpPr/>
          <p:nvPr/>
        </p:nvSpPr>
        <p:spPr>
          <a:xfrm>
            <a:off x="6871001" y="6018580"/>
            <a:ext cx="2080771" cy="15553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7" name="TextBox 86"/>
          <p:cNvSpPr txBox="1"/>
          <p:nvPr/>
        </p:nvSpPr>
        <p:spPr>
          <a:xfrm>
            <a:off x="7436984" y="5800116"/>
            <a:ext cx="948807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Goldman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77411" y="6472567"/>
            <a:ext cx="1267952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Overnight risk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22412" y="6883451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072748" y="5759348"/>
            <a:ext cx="2080771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1" name="Rounded Rectangle 90"/>
          <p:cNvSpPr/>
          <p:nvPr/>
        </p:nvSpPr>
        <p:spPr>
          <a:xfrm>
            <a:off x="9072748" y="5759348"/>
            <a:ext cx="2080771" cy="414771"/>
          </a:xfrm>
          <a:prstGeom prst="roundRect">
            <a:avLst>
              <a:gd name="adj" fmla="val 291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2" name="Rectangle 91"/>
          <p:cNvSpPr/>
          <p:nvPr/>
        </p:nvSpPr>
        <p:spPr>
          <a:xfrm>
            <a:off x="9072748" y="6018580"/>
            <a:ext cx="2080771" cy="15553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3" name="TextBox 92"/>
          <p:cNvSpPr txBox="1"/>
          <p:nvPr/>
        </p:nvSpPr>
        <p:spPr>
          <a:xfrm>
            <a:off x="9909819" y="5800116"/>
            <a:ext cx="406631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UPS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69726" y="6472567"/>
            <a:ext cx="1086816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ORION routes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624159" y="6883451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1274495" y="5759348"/>
            <a:ext cx="2080771" cy="1555394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7" name="Rounded Rectangle 96"/>
          <p:cNvSpPr/>
          <p:nvPr/>
        </p:nvSpPr>
        <p:spPr>
          <a:xfrm>
            <a:off x="11274495" y="5759348"/>
            <a:ext cx="2080771" cy="414771"/>
          </a:xfrm>
          <a:prstGeom prst="roundRect">
            <a:avLst>
              <a:gd name="adj" fmla="val 291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8" name="Rectangle 97"/>
          <p:cNvSpPr/>
          <p:nvPr/>
        </p:nvSpPr>
        <p:spPr>
          <a:xfrm>
            <a:off x="11274495" y="6018580"/>
            <a:ext cx="2080771" cy="15553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9" name="TextBox 98"/>
          <p:cNvSpPr txBox="1"/>
          <p:nvPr/>
        </p:nvSpPr>
        <p:spPr>
          <a:xfrm>
            <a:off x="11908250" y="5800116"/>
            <a:ext cx="813263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Pfizer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590337" y="6472567"/>
            <a:ext cx="1449088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>
                <a:solidFill>
                  <a:srgbClr val="26456E"/>
                </a:solidFill>
                <a:latin typeface="Calibri"/>
              </a:rPr>
              <a:t>Trials analytics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825906" y="6883451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>
                <a:solidFill>
                  <a:srgbClr val="475569"/>
                </a:solidFill>
                <a:latin typeface="Calibri"/>
              </a:rPr>
              <a:t>case study →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539110" y="7686308"/>
            <a:ext cx="10843517" cy="276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115E59"/>
                </a:solidFill>
                <a:latin typeface="Calibri"/>
              </a:rPr>
              <a:t>14 companies. 3 speeds. Same engineering toolbox. Vastly different bills — and outcomes.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883234" y="8404052"/>
            <a:ext cx="5472033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dirty="0">
                <a:solidFill>
                  <a:srgbClr val="475569"/>
                </a:solidFill>
                <a:latin typeface="Calibri"/>
              </a:rPr>
              <a:t>Sources: company </a:t>
            </a:r>
            <a:r>
              <a:rPr sz="1400" dirty="0" err="1">
                <a:solidFill>
                  <a:srgbClr val="475569"/>
                </a:solidFill>
                <a:latin typeface="Calibri"/>
              </a:rPr>
              <a:t>eng.</a:t>
            </a:r>
            <a:r>
              <a:rPr sz="1400" dirty="0">
                <a:solidFill>
                  <a:srgbClr val="475569"/>
                </a:solidFill>
                <a:latin typeface="Calibri"/>
              </a:rPr>
              <a:t> blogs, conference talks, public reports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3578840" y="1714500"/>
            <a:ext cx="4183379" cy="6080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758840" y="2274500"/>
            <a:ext cx="3823379" cy="474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Streaming tier (5): Netflix · Uber · Stripe · Tesla · AmEx.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Micro-batch tier (4): DoorDash · LinkedIn · Walmart · MTA.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Batch tier (5): Spotify · Airbnb · Goldman · UPS · Pfizer.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▸ </a:t>
            </a:r>
            <a:r>
              <a:rPr sz="1800">
                <a:solidFill>
                  <a:srgbClr val="26456E"/>
                </a:solidFill>
                <a:latin typeface="Calibri"/>
              </a:rPr>
              <a:t>Every one of them is a $1B+ business. None of them runs only one speed.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3590270" y="6475027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Every great data company runs all three speeds. Coordination is the moat.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344400" y="0"/>
            <a:ext cx="5943142" cy="10287000"/>
          </a:xfrm>
          <a:prstGeom prst="rect">
            <a:avLst/>
          </a:prstGeom>
          <a:solidFill>
            <a:srgbClr val="14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0" y="2236350"/>
            <a:ext cx="5897879" cy="553997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lang="en-GB" sz="36000" b="1" dirty="0">
                <a:solidFill>
                  <a:srgbClr val="2A4A73"/>
                </a:solidFill>
                <a:latin typeface="Calibri"/>
              </a:rPr>
              <a:t>4</a:t>
            </a:r>
            <a:endParaRPr sz="36000" b="1" i="0" dirty="0">
              <a:solidFill>
                <a:srgbClr val="2A4A7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754380"/>
            <a:ext cx="1097280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DATA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316736"/>
            <a:ext cx="16047719" cy="8000"/>
          </a:xfrm>
          <a:prstGeom prst="rect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291839"/>
            <a:ext cx="10972800" cy="3231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100" b="1" i="0" dirty="0">
                <a:solidFill>
                  <a:srgbClr val="EA580C"/>
                </a:solidFill>
                <a:latin typeface="Calibri"/>
              </a:rPr>
              <a:t>STREAMING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183379"/>
            <a:ext cx="2194560" cy="822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526279"/>
            <a:ext cx="10972800" cy="329183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8100" b="1" i="0">
                <a:solidFill>
                  <a:srgbClr val="FFFFFF"/>
                </a:solidFill>
                <a:latin typeface="Calibri"/>
              </a:rPr>
              <a:t>Milliseconds to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8023859"/>
            <a:ext cx="10972800" cy="13716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700" b="0" i="1">
                <a:solidFill>
                  <a:srgbClr val="A7F3D0"/>
                </a:solidFill>
                <a:latin typeface="Calibri"/>
              </a:rPr>
              <a:t>When the decision must land before the user finishes the action.</a:t>
            </a:r>
          </a:p>
        </p:txBody>
      </p:sp>
      <p:pic>
        <p:nvPicPr>
          <p:cNvPr id="12" name="Picture 11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09728"/>
            <a:ext cx="1687068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AMEX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8B+ Transactions/Year · Sub-2ms Fraud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084" y="1818973"/>
            <a:ext cx="5158250" cy="203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FRAUD DECISION SCATTER · 8B TRANSACTIONS · &lt;2MS PER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400" y="2094403"/>
            <a:ext cx="12778574" cy="500781"/>
          </a:xfrm>
          <a:prstGeom prst="roundRect">
            <a:avLst>
              <a:gd name="adj" fmla="val 17241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889" y="2179018"/>
            <a:ext cx="393994" cy="4420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8939" y="2171316"/>
            <a:ext cx="1254872" cy="2011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Calibri"/>
              </a:rPr>
              <a:t>card txns / 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8939" y="2348912"/>
            <a:ext cx="1059446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4748B"/>
                </a:solidFill>
                <a:latin typeface="Calibri"/>
              </a:rPr>
              <a:t>global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3968" y="2179018"/>
            <a:ext cx="787989" cy="4420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0F766E"/>
                </a:solidFill>
                <a:latin typeface="Calibri"/>
              </a:rPr>
              <a:t>&lt;2ms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1044" y="2171316"/>
            <a:ext cx="1344506" cy="2011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94A3B8"/>
                </a:solidFill>
                <a:latin typeface="Calibri"/>
              </a:rPr>
              <a:t>scoring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1044" y="2348912"/>
            <a:ext cx="122243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4748B"/>
                </a:solidFill>
                <a:latin typeface="Calibri"/>
              </a:rPr>
              <a:t>per transaction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6903" y="2179018"/>
            <a:ext cx="787989" cy="4420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$2B+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3979" y="2171316"/>
            <a:ext cx="1344506" cy="2011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Calibri"/>
              </a:rPr>
              <a:t>fraud prevented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3979" y="2348912"/>
            <a:ext cx="1140942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4748B"/>
                </a:solidFill>
                <a:latin typeface="Calibri"/>
              </a:rPr>
              <a:t>annual savings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6180" y="2179018"/>
            <a:ext cx="393994" cy="4420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FBBF24"/>
                </a:solidFill>
                <a:latin typeface="Calibri"/>
              </a:rPr>
              <a:t>6x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7889" y="2171316"/>
            <a:ext cx="1613407" cy="2011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Calibri"/>
              </a:rPr>
              <a:t>model reload /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7889" y="2348912"/>
            <a:ext cx="1140942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4748B"/>
                </a:solidFill>
                <a:latin typeface="Calibri"/>
              </a:rPr>
              <a:t>online retrain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0090" y="2179018"/>
            <a:ext cx="787989" cy="4420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EA580C"/>
                </a:solidFill>
                <a:latin typeface="Calibri"/>
              </a:rPr>
              <a:t>~50%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63507" y="2171316"/>
            <a:ext cx="1207871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fewer false declines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63507" y="2348912"/>
            <a:ext cx="905903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Calibri"/>
              </a:rPr>
              <a:t>vs static 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400" y="2741966"/>
            <a:ext cx="12778574" cy="3712693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17268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9084" y="2898244"/>
            <a:ext cx="6063206" cy="203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DECISION SCATTER · TRANSACTION AMOUNT × ML RISK SCORE · LIVE 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084" y="3075677"/>
            <a:ext cx="937202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every dot is a real authorization · band = automated action · score updated against last 30s of cardholder activity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84451" y="5936610"/>
            <a:ext cx="11915157" cy="0"/>
          </a:xfrm>
          <a:prstGeom prst="line">
            <a:avLst/>
          </a:prstGeom>
          <a:ln w="12951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84451" y="3432700"/>
            <a:ext cx="0" cy="2503910"/>
          </a:xfrm>
          <a:prstGeom prst="line">
            <a:avLst/>
          </a:prstGeom>
          <a:ln w="12951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084451" y="3432700"/>
            <a:ext cx="11915157" cy="371269"/>
          </a:xfrm>
          <a:prstGeom prst="rect">
            <a:avLst/>
          </a:prstGeom>
          <a:solidFill>
            <a:srgbClr val="EA580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2" name="Rectangle 31"/>
          <p:cNvSpPr/>
          <p:nvPr/>
        </p:nvSpPr>
        <p:spPr>
          <a:xfrm>
            <a:off x="1084451" y="3803969"/>
            <a:ext cx="11915157" cy="751172"/>
          </a:xfrm>
          <a:prstGeom prst="rect">
            <a:avLst/>
          </a:prstGeom>
          <a:solidFill>
            <a:srgbClr val="D9770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3" name="Rectangle 32"/>
          <p:cNvSpPr/>
          <p:nvPr/>
        </p:nvSpPr>
        <p:spPr>
          <a:xfrm>
            <a:off x="1084451" y="4555142"/>
            <a:ext cx="11915157" cy="1381467"/>
          </a:xfrm>
          <a:prstGeom prst="rect">
            <a:avLst/>
          </a:prstGeom>
          <a:solidFill>
            <a:srgbClr val="0F766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4" name="TextBox 33"/>
          <p:cNvSpPr txBox="1"/>
          <p:nvPr/>
        </p:nvSpPr>
        <p:spPr>
          <a:xfrm>
            <a:off x="11446340" y="3541922"/>
            <a:ext cx="1466926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>
                <a:solidFill>
                  <a:srgbClr val="9A3412"/>
                </a:solidFill>
                <a:latin typeface="Calibri"/>
              </a:rPr>
              <a:t>BLOCK · score &gt; 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57365" y="3999533"/>
            <a:ext cx="1955901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>
                <a:solidFill>
                  <a:srgbClr val="9A3412"/>
                </a:solidFill>
                <a:latin typeface="Calibri"/>
              </a:rPr>
              <a:t>STEP-UP / REVIEW · 60-85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83349" y="5683197"/>
            <a:ext cx="1629917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>
                <a:solidFill>
                  <a:srgbClr val="115E59"/>
                </a:solidFill>
                <a:latin typeface="Calibri"/>
              </a:rPr>
              <a:t>APPROVE · score &lt; 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180" y="5897756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64748B"/>
                </a:solidFill>
                <a:latin typeface="Calibri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180" y="5276095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180" y="4654435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64748B"/>
                </a:solidFill>
                <a:latin typeface="Calibri"/>
              </a:rPr>
              <a:t>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180" y="4024141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64748B"/>
                </a:solidFill>
                <a:latin typeface="Calibri"/>
              </a:rPr>
              <a:t>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9313" y="3402480"/>
            <a:ext cx="651967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64748B"/>
                </a:solidFill>
                <a:latin typeface="Calibri"/>
              </a:rPr>
              <a:t>100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591" y="6035903"/>
            <a:ext cx="299720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Calibri"/>
              </a:rPr>
              <a:t>$1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21432" y="6035903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64748B"/>
                </a:solidFill>
                <a:latin typeface="Calibri"/>
              </a:rPr>
              <a:t>$10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87522" y="6035903"/>
            <a:ext cx="32598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64748B"/>
                </a:solidFill>
                <a:latin typeface="Calibri"/>
              </a:rPr>
              <a:t>$100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87495" y="6035903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64748B"/>
                </a:solidFill>
                <a:latin typeface="Calibri"/>
              </a:rPr>
              <a:t>$1K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53585" y="6035903"/>
            <a:ext cx="32598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64748B"/>
                </a:solidFill>
                <a:latin typeface="Calibri"/>
              </a:rPr>
              <a:t>$10K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795869" y="6035903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64748B"/>
                </a:solidFill>
                <a:latin typeface="Calibri"/>
              </a:rPr>
              <a:t>$100K</a:t>
            </a:r>
          </a:p>
        </p:txBody>
      </p:sp>
      <p:sp>
        <p:nvSpPr>
          <p:cNvPr id="48" name="Oval 47"/>
          <p:cNvSpPr/>
          <p:nvPr/>
        </p:nvSpPr>
        <p:spPr>
          <a:xfrm>
            <a:off x="1749282" y="5738024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9" name="Oval 48"/>
          <p:cNvSpPr/>
          <p:nvPr/>
        </p:nvSpPr>
        <p:spPr>
          <a:xfrm>
            <a:off x="2094649" y="5565340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0" name="Oval 49"/>
          <p:cNvSpPr/>
          <p:nvPr/>
        </p:nvSpPr>
        <p:spPr>
          <a:xfrm>
            <a:off x="2440016" y="5694853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1" name="Oval 50"/>
          <p:cNvSpPr/>
          <p:nvPr/>
        </p:nvSpPr>
        <p:spPr>
          <a:xfrm>
            <a:off x="2699041" y="5522169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2" name="Oval 51"/>
          <p:cNvSpPr/>
          <p:nvPr/>
        </p:nvSpPr>
        <p:spPr>
          <a:xfrm>
            <a:off x="3130749" y="5634414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3" name="Oval 52"/>
          <p:cNvSpPr/>
          <p:nvPr/>
        </p:nvSpPr>
        <p:spPr>
          <a:xfrm>
            <a:off x="3389774" y="5435828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4" name="Oval 53"/>
          <p:cNvSpPr/>
          <p:nvPr/>
        </p:nvSpPr>
        <p:spPr>
          <a:xfrm>
            <a:off x="3648800" y="5668950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5" name="Oval 54"/>
          <p:cNvSpPr/>
          <p:nvPr/>
        </p:nvSpPr>
        <p:spPr>
          <a:xfrm>
            <a:off x="3907825" y="5496267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6" name="Oval 55"/>
          <p:cNvSpPr/>
          <p:nvPr/>
        </p:nvSpPr>
        <p:spPr>
          <a:xfrm>
            <a:off x="4253192" y="5738024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7" name="Oval 56"/>
          <p:cNvSpPr/>
          <p:nvPr/>
        </p:nvSpPr>
        <p:spPr>
          <a:xfrm>
            <a:off x="4598559" y="5608511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8" name="Oval 57"/>
          <p:cNvSpPr/>
          <p:nvPr/>
        </p:nvSpPr>
        <p:spPr>
          <a:xfrm>
            <a:off x="4943925" y="5478998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9" name="Oval 58"/>
          <p:cNvSpPr/>
          <p:nvPr/>
        </p:nvSpPr>
        <p:spPr>
          <a:xfrm>
            <a:off x="5289292" y="5668950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0" name="Oval 59"/>
          <p:cNvSpPr/>
          <p:nvPr/>
        </p:nvSpPr>
        <p:spPr>
          <a:xfrm>
            <a:off x="5548317" y="5548072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1" name="Oval 60"/>
          <p:cNvSpPr/>
          <p:nvPr/>
        </p:nvSpPr>
        <p:spPr>
          <a:xfrm>
            <a:off x="5893684" y="5738024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2" name="Oval 61"/>
          <p:cNvSpPr/>
          <p:nvPr/>
        </p:nvSpPr>
        <p:spPr>
          <a:xfrm>
            <a:off x="6239051" y="5461730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3" name="Oval 62"/>
          <p:cNvSpPr/>
          <p:nvPr/>
        </p:nvSpPr>
        <p:spPr>
          <a:xfrm>
            <a:off x="6498076" y="5608511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4" name="Oval 63"/>
          <p:cNvSpPr/>
          <p:nvPr/>
        </p:nvSpPr>
        <p:spPr>
          <a:xfrm>
            <a:off x="6843443" y="5496267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5" name="Oval 64"/>
          <p:cNvSpPr/>
          <p:nvPr/>
        </p:nvSpPr>
        <p:spPr>
          <a:xfrm>
            <a:off x="7188810" y="5694853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6" name="Oval 65"/>
          <p:cNvSpPr/>
          <p:nvPr/>
        </p:nvSpPr>
        <p:spPr>
          <a:xfrm>
            <a:off x="7534177" y="5409925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7" name="Oval 66"/>
          <p:cNvSpPr/>
          <p:nvPr/>
        </p:nvSpPr>
        <p:spPr>
          <a:xfrm>
            <a:off x="7879544" y="5634414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8" name="Oval 67"/>
          <p:cNvSpPr/>
          <p:nvPr/>
        </p:nvSpPr>
        <p:spPr>
          <a:xfrm>
            <a:off x="8224911" y="5522169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9" name="Oval 68"/>
          <p:cNvSpPr/>
          <p:nvPr/>
        </p:nvSpPr>
        <p:spPr>
          <a:xfrm>
            <a:off x="8570278" y="5738024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0" name="Oval 69"/>
          <p:cNvSpPr/>
          <p:nvPr/>
        </p:nvSpPr>
        <p:spPr>
          <a:xfrm>
            <a:off x="8829303" y="5435828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1" name="Oval 70"/>
          <p:cNvSpPr/>
          <p:nvPr/>
        </p:nvSpPr>
        <p:spPr>
          <a:xfrm>
            <a:off x="9174670" y="5634414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2" name="Oval 71"/>
          <p:cNvSpPr/>
          <p:nvPr/>
        </p:nvSpPr>
        <p:spPr>
          <a:xfrm>
            <a:off x="9520037" y="5496267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3" name="Oval 72"/>
          <p:cNvSpPr/>
          <p:nvPr/>
        </p:nvSpPr>
        <p:spPr>
          <a:xfrm>
            <a:off x="9865403" y="5694853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4" name="Oval 73"/>
          <p:cNvSpPr/>
          <p:nvPr/>
        </p:nvSpPr>
        <p:spPr>
          <a:xfrm>
            <a:off x="10210770" y="5548072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5" name="Oval 74"/>
          <p:cNvSpPr/>
          <p:nvPr/>
        </p:nvSpPr>
        <p:spPr>
          <a:xfrm>
            <a:off x="10556137" y="5409925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6" name="Oval 75"/>
          <p:cNvSpPr/>
          <p:nvPr/>
        </p:nvSpPr>
        <p:spPr>
          <a:xfrm>
            <a:off x="10815162" y="5634414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7" name="Oval 76"/>
          <p:cNvSpPr/>
          <p:nvPr/>
        </p:nvSpPr>
        <p:spPr>
          <a:xfrm>
            <a:off x="11160529" y="5522169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8" name="Oval 77"/>
          <p:cNvSpPr/>
          <p:nvPr/>
        </p:nvSpPr>
        <p:spPr>
          <a:xfrm>
            <a:off x="11505896" y="5694853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9" name="Oval 78"/>
          <p:cNvSpPr/>
          <p:nvPr/>
        </p:nvSpPr>
        <p:spPr>
          <a:xfrm>
            <a:off x="11851263" y="5435828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0" name="Oval 79"/>
          <p:cNvSpPr/>
          <p:nvPr/>
        </p:nvSpPr>
        <p:spPr>
          <a:xfrm>
            <a:off x="12196630" y="5634414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1" name="Oval 80"/>
          <p:cNvSpPr/>
          <p:nvPr/>
        </p:nvSpPr>
        <p:spPr>
          <a:xfrm>
            <a:off x="12455655" y="5522169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2" name="Oval 81"/>
          <p:cNvSpPr/>
          <p:nvPr/>
        </p:nvSpPr>
        <p:spPr>
          <a:xfrm>
            <a:off x="12714680" y="5651682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3" name="Oval 82"/>
          <p:cNvSpPr/>
          <p:nvPr/>
        </p:nvSpPr>
        <p:spPr>
          <a:xfrm>
            <a:off x="1921965" y="5219973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4" name="Oval 83"/>
          <p:cNvSpPr/>
          <p:nvPr/>
        </p:nvSpPr>
        <p:spPr>
          <a:xfrm>
            <a:off x="2353674" y="5047290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5" name="Oval 84"/>
          <p:cNvSpPr/>
          <p:nvPr/>
        </p:nvSpPr>
        <p:spPr>
          <a:xfrm>
            <a:off x="2871724" y="5176802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6" name="Oval 85"/>
          <p:cNvSpPr/>
          <p:nvPr/>
        </p:nvSpPr>
        <p:spPr>
          <a:xfrm>
            <a:off x="3303433" y="4943680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7" name="Oval 86"/>
          <p:cNvSpPr/>
          <p:nvPr/>
        </p:nvSpPr>
        <p:spPr>
          <a:xfrm>
            <a:off x="3735141" y="5133632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8" name="Oval 87"/>
          <p:cNvSpPr/>
          <p:nvPr/>
        </p:nvSpPr>
        <p:spPr>
          <a:xfrm>
            <a:off x="4253192" y="5004119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9" name="Oval 88"/>
          <p:cNvSpPr/>
          <p:nvPr/>
        </p:nvSpPr>
        <p:spPr>
          <a:xfrm>
            <a:off x="4684900" y="5150900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0" name="Oval 89"/>
          <p:cNvSpPr/>
          <p:nvPr/>
        </p:nvSpPr>
        <p:spPr>
          <a:xfrm>
            <a:off x="5202951" y="4874606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1" name="Oval 90"/>
          <p:cNvSpPr/>
          <p:nvPr/>
        </p:nvSpPr>
        <p:spPr>
          <a:xfrm>
            <a:off x="5721001" y="5090461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2" name="Oval 91"/>
          <p:cNvSpPr/>
          <p:nvPr/>
        </p:nvSpPr>
        <p:spPr>
          <a:xfrm>
            <a:off x="6239051" y="4943680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3" name="Oval 92"/>
          <p:cNvSpPr/>
          <p:nvPr/>
        </p:nvSpPr>
        <p:spPr>
          <a:xfrm>
            <a:off x="6843443" y="5150900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4" name="Oval 93"/>
          <p:cNvSpPr/>
          <p:nvPr/>
        </p:nvSpPr>
        <p:spPr>
          <a:xfrm>
            <a:off x="7361494" y="5030022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5" name="Oval 94"/>
          <p:cNvSpPr/>
          <p:nvPr/>
        </p:nvSpPr>
        <p:spPr>
          <a:xfrm>
            <a:off x="7965886" y="4874606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6" name="Oval 95"/>
          <p:cNvSpPr/>
          <p:nvPr/>
        </p:nvSpPr>
        <p:spPr>
          <a:xfrm>
            <a:off x="8483936" y="5090461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7" name="Oval 96"/>
          <p:cNvSpPr/>
          <p:nvPr/>
        </p:nvSpPr>
        <p:spPr>
          <a:xfrm>
            <a:off x="9088328" y="4943680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8" name="Oval 97"/>
          <p:cNvSpPr/>
          <p:nvPr/>
        </p:nvSpPr>
        <p:spPr>
          <a:xfrm>
            <a:off x="9692720" y="5150900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9" name="Oval 98"/>
          <p:cNvSpPr/>
          <p:nvPr/>
        </p:nvSpPr>
        <p:spPr>
          <a:xfrm>
            <a:off x="10297112" y="5030022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0" name="Oval 99"/>
          <p:cNvSpPr/>
          <p:nvPr/>
        </p:nvSpPr>
        <p:spPr>
          <a:xfrm>
            <a:off x="10901504" y="4874606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1" name="Oval 100"/>
          <p:cNvSpPr/>
          <p:nvPr/>
        </p:nvSpPr>
        <p:spPr>
          <a:xfrm>
            <a:off x="11505896" y="5090461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2" name="Oval 101"/>
          <p:cNvSpPr/>
          <p:nvPr/>
        </p:nvSpPr>
        <p:spPr>
          <a:xfrm>
            <a:off x="12110288" y="4943680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3" name="Oval 102"/>
          <p:cNvSpPr/>
          <p:nvPr/>
        </p:nvSpPr>
        <p:spPr>
          <a:xfrm>
            <a:off x="2612699" y="4831436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4" name="Oval 103"/>
          <p:cNvSpPr/>
          <p:nvPr/>
        </p:nvSpPr>
        <p:spPr>
          <a:xfrm>
            <a:off x="3648800" y="4701923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5" name="Oval 104"/>
          <p:cNvSpPr/>
          <p:nvPr/>
        </p:nvSpPr>
        <p:spPr>
          <a:xfrm>
            <a:off x="4857584" y="4770996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6" name="Oval 105"/>
          <p:cNvSpPr/>
          <p:nvPr/>
        </p:nvSpPr>
        <p:spPr>
          <a:xfrm>
            <a:off x="6239051" y="4658752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7" name="Oval 106"/>
          <p:cNvSpPr/>
          <p:nvPr/>
        </p:nvSpPr>
        <p:spPr>
          <a:xfrm>
            <a:off x="7620519" y="4788265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8" name="Oval 107"/>
          <p:cNvSpPr/>
          <p:nvPr/>
        </p:nvSpPr>
        <p:spPr>
          <a:xfrm>
            <a:off x="9001986" y="4684655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9" name="Oval 108"/>
          <p:cNvSpPr/>
          <p:nvPr/>
        </p:nvSpPr>
        <p:spPr>
          <a:xfrm>
            <a:off x="10383454" y="4805533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0" name="Oval 109"/>
          <p:cNvSpPr/>
          <p:nvPr/>
        </p:nvSpPr>
        <p:spPr>
          <a:xfrm>
            <a:off x="11764921" y="4701923"/>
            <a:ext cx="51805" cy="51805"/>
          </a:xfrm>
          <a:prstGeom prst="ellipse">
            <a:avLst/>
          </a:prstGeom>
          <a:solidFill>
            <a:srgbClr val="0F76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1" name="Oval 110"/>
          <p:cNvSpPr/>
          <p:nvPr/>
        </p:nvSpPr>
        <p:spPr>
          <a:xfrm>
            <a:off x="6575784" y="4261580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2" name="Oval 111"/>
          <p:cNvSpPr/>
          <p:nvPr/>
        </p:nvSpPr>
        <p:spPr>
          <a:xfrm>
            <a:off x="7784568" y="4002555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3" name="Oval 112"/>
          <p:cNvSpPr/>
          <p:nvPr/>
        </p:nvSpPr>
        <p:spPr>
          <a:xfrm>
            <a:off x="8820669" y="4132068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4" name="Oval 113"/>
          <p:cNvSpPr/>
          <p:nvPr/>
        </p:nvSpPr>
        <p:spPr>
          <a:xfrm>
            <a:off x="10029453" y="3873042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5" name="Oval 114"/>
          <p:cNvSpPr/>
          <p:nvPr/>
        </p:nvSpPr>
        <p:spPr>
          <a:xfrm>
            <a:off x="11065553" y="4175239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6" name="Oval 115"/>
          <p:cNvSpPr/>
          <p:nvPr/>
        </p:nvSpPr>
        <p:spPr>
          <a:xfrm>
            <a:off x="12101654" y="4002555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7" name="Oval 116"/>
          <p:cNvSpPr/>
          <p:nvPr/>
        </p:nvSpPr>
        <p:spPr>
          <a:xfrm>
            <a:off x="7611885" y="4391093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8" name="Oval 117"/>
          <p:cNvSpPr/>
          <p:nvPr/>
        </p:nvSpPr>
        <p:spPr>
          <a:xfrm>
            <a:off x="9338719" y="4304751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9" name="Oval 118"/>
          <p:cNvSpPr/>
          <p:nvPr/>
        </p:nvSpPr>
        <p:spPr>
          <a:xfrm>
            <a:off x="10720186" y="4434264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0" name="Oval 119"/>
          <p:cNvSpPr/>
          <p:nvPr/>
        </p:nvSpPr>
        <p:spPr>
          <a:xfrm>
            <a:off x="11583604" y="4261580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1" name="Oval 120"/>
          <p:cNvSpPr/>
          <p:nvPr/>
        </p:nvSpPr>
        <p:spPr>
          <a:xfrm>
            <a:off x="8475302" y="3829872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2" name="Oval 121"/>
          <p:cNvSpPr/>
          <p:nvPr/>
        </p:nvSpPr>
        <p:spPr>
          <a:xfrm>
            <a:off x="9684086" y="4175239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3" name="Oval 122"/>
          <p:cNvSpPr/>
          <p:nvPr/>
        </p:nvSpPr>
        <p:spPr>
          <a:xfrm>
            <a:off x="11410920" y="3916213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4" name="Oval 123"/>
          <p:cNvSpPr/>
          <p:nvPr/>
        </p:nvSpPr>
        <p:spPr>
          <a:xfrm>
            <a:off x="12447021" y="4132068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5" name="Oval 124"/>
          <p:cNvSpPr/>
          <p:nvPr/>
        </p:nvSpPr>
        <p:spPr>
          <a:xfrm>
            <a:off x="7093834" y="4477435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6" name="Oval 125"/>
          <p:cNvSpPr/>
          <p:nvPr/>
        </p:nvSpPr>
        <p:spPr>
          <a:xfrm>
            <a:off x="10202136" y="4045726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7" name="Oval 126"/>
          <p:cNvSpPr/>
          <p:nvPr/>
        </p:nvSpPr>
        <p:spPr>
          <a:xfrm>
            <a:off x="5539683" y="4330654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8" name="Oval 127"/>
          <p:cNvSpPr/>
          <p:nvPr/>
        </p:nvSpPr>
        <p:spPr>
          <a:xfrm>
            <a:off x="6230417" y="4416995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9" name="Oval 128"/>
          <p:cNvSpPr/>
          <p:nvPr/>
        </p:nvSpPr>
        <p:spPr>
          <a:xfrm>
            <a:off x="4676266" y="4451532"/>
            <a:ext cx="69073" cy="69073"/>
          </a:xfrm>
          <a:prstGeom prst="ellipse">
            <a:avLst/>
          </a:prstGeom>
          <a:solidFill>
            <a:srgbClr val="D9770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0" name="Oval 129"/>
          <p:cNvSpPr/>
          <p:nvPr/>
        </p:nvSpPr>
        <p:spPr>
          <a:xfrm>
            <a:off x="10193502" y="3605383"/>
            <a:ext cx="86341" cy="86341"/>
          </a:xfrm>
          <a:prstGeom prst="ellipse">
            <a:avLst/>
          </a:prstGeom>
          <a:solidFill>
            <a:srgbClr val="EA580C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1" name="Oval 130"/>
          <p:cNvSpPr/>
          <p:nvPr/>
        </p:nvSpPr>
        <p:spPr>
          <a:xfrm>
            <a:off x="11056919" y="3544944"/>
            <a:ext cx="86341" cy="86341"/>
          </a:xfrm>
          <a:prstGeom prst="ellipse">
            <a:avLst/>
          </a:prstGeom>
          <a:solidFill>
            <a:srgbClr val="EA580C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2" name="Oval 131"/>
          <p:cNvSpPr/>
          <p:nvPr/>
        </p:nvSpPr>
        <p:spPr>
          <a:xfrm>
            <a:off x="11574970" y="3631286"/>
            <a:ext cx="86341" cy="86341"/>
          </a:xfrm>
          <a:prstGeom prst="ellipse">
            <a:avLst/>
          </a:prstGeom>
          <a:solidFill>
            <a:srgbClr val="EA580C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3" name="Oval 132"/>
          <p:cNvSpPr/>
          <p:nvPr/>
        </p:nvSpPr>
        <p:spPr>
          <a:xfrm>
            <a:off x="12093020" y="3579481"/>
            <a:ext cx="86341" cy="86341"/>
          </a:xfrm>
          <a:prstGeom prst="ellipse">
            <a:avLst/>
          </a:prstGeom>
          <a:solidFill>
            <a:srgbClr val="EA580C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4" name="Oval 133"/>
          <p:cNvSpPr/>
          <p:nvPr/>
        </p:nvSpPr>
        <p:spPr>
          <a:xfrm>
            <a:off x="12611070" y="3527676"/>
            <a:ext cx="86341" cy="86341"/>
          </a:xfrm>
          <a:prstGeom prst="ellipse">
            <a:avLst/>
          </a:prstGeom>
          <a:solidFill>
            <a:srgbClr val="EA580C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5" name="Oval 134"/>
          <p:cNvSpPr/>
          <p:nvPr/>
        </p:nvSpPr>
        <p:spPr>
          <a:xfrm>
            <a:off x="10711552" y="3648554"/>
            <a:ext cx="86341" cy="86341"/>
          </a:xfrm>
          <a:prstGeom prst="ellipse">
            <a:avLst/>
          </a:prstGeom>
          <a:solidFill>
            <a:srgbClr val="EA580C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6" name="Oval 135"/>
          <p:cNvSpPr/>
          <p:nvPr/>
        </p:nvSpPr>
        <p:spPr>
          <a:xfrm>
            <a:off x="11747653" y="3493139"/>
            <a:ext cx="86341" cy="86341"/>
          </a:xfrm>
          <a:prstGeom prst="ellipse">
            <a:avLst/>
          </a:prstGeom>
          <a:solidFill>
            <a:srgbClr val="EA580C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7" name="Oval 136"/>
          <p:cNvSpPr/>
          <p:nvPr/>
        </p:nvSpPr>
        <p:spPr>
          <a:xfrm>
            <a:off x="12438387" y="3648554"/>
            <a:ext cx="86341" cy="86341"/>
          </a:xfrm>
          <a:prstGeom prst="ellipse">
            <a:avLst/>
          </a:prstGeom>
          <a:solidFill>
            <a:srgbClr val="EA580C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8" name="Freeform 137"/>
          <p:cNvSpPr/>
          <p:nvPr/>
        </p:nvSpPr>
        <p:spPr>
          <a:xfrm>
            <a:off x="1084451" y="3864408"/>
            <a:ext cx="11915157" cy="863418"/>
          </a:xfrm>
          <a:custGeom>
            <a:avLst/>
            <a:gdLst/>
            <a:ahLst/>
            <a:cxnLst/>
            <a:rect l="l" t="t" r="r" b="b"/>
            <a:pathLst>
              <a:path w="11915157" h="863418">
                <a:moveTo>
                  <a:pt x="0" y="863418"/>
                </a:moveTo>
                <a:lnTo>
                  <a:pt x="4144402" y="863418"/>
                </a:lnTo>
                <a:lnTo>
                  <a:pt x="6734654" y="690734"/>
                </a:lnTo>
                <a:lnTo>
                  <a:pt x="11915157" y="0"/>
                </a:lnTo>
              </a:path>
            </a:pathLst>
          </a:custGeom>
          <a:noFill/>
          <a:ln w="2158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9" name="TextBox 138"/>
          <p:cNvSpPr txBox="1"/>
          <p:nvPr/>
        </p:nvSpPr>
        <p:spPr>
          <a:xfrm>
            <a:off x="9891306" y="4388071"/>
            <a:ext cx="2700347" cy="1514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ML decision boundary (adapts every 30s)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343476" y="3648554"/>
            <a:ext cx="2417568" cy="5007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951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1" name="TextBox 140"/>
          <p:cNvSpPr txBox="1"/>
          <p:nvPr/>
        </p:nvSpPr>
        <p:spPr>
          <a:xfrm>
            <a:off x="1464354" y="3741803"/>
            <a:ext cx="1820254" cy="1856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9A3412"/>
                </a:solidFill>
                <a:latin typeface="Calibri"/>
              </a:rPr>
              <a:t>REAL-TIME FEATURE JOIN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64354" y="3903262"/>
            <a:ext cx="2257378" cy="1592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>
                <a:solidFill>
                  <a:srgbClr val="475569"/>
                </a:solidFill>
                <a:latin typeface="Calibri"/>
              </a:rPr>
              <a:t>last 30s of cardholder activity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64354" y="4024141"/>
            <a:ext cx="2257378" cy="17631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>
                <a:solidFill>
                  <a:srgbClr val="475569"/>
                </a:solidFill>
                <a:latin typeface="Calibri"/>
              </a:rPr>
              <a:t>joined to txn before scoring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66400" y="6584173"/>
            <a:ext cx="12778574" cy="431708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7268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138112" y="6686323"/>
            <a:ext cx="11635151" cy="2486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b="1" dirty="0">
                <a:solidFill>
                  <a:srgbClr val="115E59"/>
                </a:solidFill>
                <a:latin typeface="Calibri"/>
              </a:rPr>
              <a:t>Same model, two outcomes: stop $10K fraud, let $10 coffee through. Streaming features are the difference.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52742" y="7222670"/>
            <a:ext cx="4840222" cy="2011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i="1">
                <a:solidFill>
                  <a:srgbClr val="475569"/>
                </a:solidFill>
                <a:latin typeface="Calibri"/>
              </a:rPr>
              <a:t>Source: American Express ML &amp; risk reports, 2020-2024.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877316" y="7654378"/>
            <a:ext cx="5467659" cy="2011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475569"/>
                </a:solidFill>
                <a:latin typeface="Calibri"/>
              </a:rPr>
              <a:t>Sources: company eng. blogs, conference talks, public reports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3578840" y="1714500"/>
            <a:ext cx="4183379" cy="754380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13578840" y="1714500"/>
            <a:ext cx="109728" cy="7543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3825728" y="1741932"/>
            <a:ext cx="3730752" cy="38404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STREAMING TIER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3825728" y="2057400"/>
            <a:ext cx="3730752" cy="38404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A7F3D0"/>
                </a:solidFill>
                <a:latin typeface="Calibri"/>
              </a:rPr>
              <a:t>&lt; 100 ms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3578840" y="2674620"/>
            <a:ext cx="4183379" cy="38404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500" b="1" i="0">
                <a:solidFill>
                  <a:srgbClr val="115E59"/>
                </a:solidFill>
                <a:latin typeface="Calibri"/>
              </a:rPr>
              <a:t>WHAT HAPPENED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578840" y="3044952"/>
            <a:ext cx="4183379" cy="25374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500" b="0" i="0">
                <a:solidFill>
                  <a:srgbClr val="26456E"/>
                </a:solidFill>
                <a:latin typeface="Calibri"/>
              </a:rPr>
              <a:t>Every transaction on $1.5T annual purchase volume is scored for fraud in &lt;2ms. Deep-learning models on bespoke in-memory infrastructure. AmEx publicly reports &gt;$2B/year in fraud losses avoided — one of the highest-leverage ML applications anywhere.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758840" y="4484213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15E59"/>
                </a:solidFill>
                <a:latin typeface="Calibri"/>
              </a:rPr>
              <a:t>TALKING POINTS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758840" y="4864213"/>
            <a:ext cx="3823379" cy="563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500" dirty="0">
                <a:solidFill>
                  <a:srgbClr val="26456E"/>
                </a:solidFill>
                <a:latin typeface="Calibri"/>
              </a:rPr>
              <a:t>2ms is the issuer-side budget within the card-network round trip.</a:t>
            </a:r>
          </a:p>
          <a:p>
            <a:pPr algn="l">
              <a:spcAft>
                <a:spcPts val="900"/>
              </a:spcAft>
            </a:pPr>
            <a:r>
              <a:rPr sz="15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500" dirty="0">
                <a:solidFill>
                  <a:srgbClr val="26456E"/>
                </a:solidFill>
                <a:latin typeface="Calibri"/>
              </a:rPr>
              <a:t>Peak load is 10-50x average (Black Friday, holidays). Platform sized for peak.</a:t>
            </a:r>
          </a:p>
          <a:p>
            <a:pPr algn="l">
              <a:spcAft>
                <a:spcPts val="900"/>
              </a:spcAft>
            </a:pPr>
            <a:r>
              <a:rPr sz="15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500" dirty="0">
                <a:solidFill>
                  <a:srgbClr val="26456E"/>
                </a:solidFill>
                <a:latin typeface="Calibri"/>
              </a:rPr>
              <a:t>$2B+ annual fraud avoided. Highest-ROI ML application on this entire deck.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3763122" y="6753542"/>
            <a:ext cx="4183379" cy="13716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13763122" y="6753542"/>
            <a:ext cx="109728" cy="1371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4010010" y="6808406"/>
            <a:ext cx="3771900" cy="1261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Calibri"/>
              </a:rPr>
              <a:t>INSIGHT  </a:t>
            </a:r>
          </a:p>
          <a:p>
            <a:pPr algn="l"/>
            <a:r>
              <a:rPr sz="1500" b="1" dirty="0">
                <a:solidFill>
                  <a:srgbClr val="FFFFFF"/>
                </a:solidFill>
                <a:latin typeface="Calibri"/>
              </a:rPr>
              <a:t>Boring use cases (fraud, credit, churn) generate more ROI than flashy ones.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09728"/>
            <a:ext cx="1687068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UBER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130M Riders · Sub-200ms ETAs at City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291" y="1819057"/>
            <a:ext cx="5796353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LIVE RIDER-DRIVER MATCHING  ·  6,800 TRIPS / MINUTE  ·  &lt;30s 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469" y="2094707"/>
            <a:ext cx="12788797" cy="501182"/>
          </a:xfrm>
          <a:prstGeom prst="roundRect">
            <a:avLst>
              <a:gd name="adj" fmla="val 17241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791137" y="2179390"/>
            <a:ext cx="591464" cy="44242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177" b="1">
                <a:solidFill>
                  <a:srgbClr val="FFFFFF"/>
                </a:solidFill>
                <a:latin typeface="Calibri"/>
              </a:rPr>
              <a:t>26M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0577" y="2164565"/>
            <a:ext cx="986760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dirty="0">
                <a:solidFill>
                  <a:srgbClr val="94A3B8"/>
                </a:solidFill>
                <a:latin typeface="Calibri"/>
              </a:rPr>
              <a:t>trips /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0577" y="2300230"/>
            <a:ext cx="81495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Calibri"/>
              </a:rPr>
              <a:t>10K cities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3150" y="2179390"/>
            <a:ext cx="394309" cy="44242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177" b="1">
                <a:solidFill>
                  <a:srgbClr val="0F766E"/>
                </a:solidFill>
                <a:latin typeface="Calibri"/>
              </a:rPr>
              <a:t>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8025" y="2164565"/>
            <a:ext cx="627938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8025" y="2300230"/>
            <a:ext cx="8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Calibri"/>
              </a:rPr>
              <a:t>active /day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7009" y="2179390"/>
            <a:ext cx="591464" cy="44242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177" b="1">
                <a:solidFill>
                  <a:srgbClr val="D97706"/>
                </a:solidFill>
                <a:latin typeface="Calibri"/>
              </a:rPr>
              <a:t>&lt;1s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1885" y="2164565"/>
            <a:ext cx="1255876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match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91885" y="2300230"/>
            <a:ext cx="122243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Calibri"/>
              </a:rPr>
              <a:t>H3 + ML pricing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333" y="2179390"/>
            <a:ext cx="1774393" cy="44242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177" b="1">
                <a:solidFill>
                  <a:srgbClr val="FBBF24"/>
                </a:solidFill>
                <a:latin typeface="Calibri"/>
              </a:rPr>
              <a:t>~Petabyte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727" y="2164565"/>
            <a:ext cx="807349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GPS /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727" y="2300230"/>
            <a:ext cx="122243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Calibri"/>
              </a:rPr>
              <a:t>geo + 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62943" y="2179390"/>
            <a:ext cx="788619" cy="44242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177" b="1">
                <a:solidFill>
                  <a:srgbClr val="EA580C"/>
                </a:solidFill>
                <a:latin typeface="Calibri"/>
              </a:rPr>
              <a:t>$37B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40640" y="2164565"/>
            <a:ext cx="897054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annual GMV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40640" y="2300230"/>
            <a:ext cx="1059446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Calibri"/>
              </a:rPr>
              <a:t>Mobility 2024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469" y="2742787"/>
            <a:ext cx="8468257" cy="3869877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739291" y="2899191"/>
            <a:ext cx="2898176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CITY GRID  ·  60-second snapshot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291" y="3076766"/>
            <a:ext cx="6438176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475569"/>
                </a:solidFill>
                <a:latin typeface="Calibri"/>
              </a:rPr>
              <a:t>H3 hex cells partition the map; matcher solves all open trips per cell every 1s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9291" y="3328160"/>
            <a:ext cx="8122614" cy="3110788"/>
          </a:xfrm>
          <a:prstGeom prst="rect">
            <a:avLst/>
          </a:prstGeom>
          <a:solidFill>
            <a:srgbClr val="F8FAFC"/>
          </a:solidFill>
          <a:ln w="864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cxnSp>
        <p:nvCxnSpPr>
          <p:cNvPr id="30" name="Connector 29"/>
          <p:cNvCxnSpPr/>
          <p:nvPr/>
        </p:nvCxnSpPr>
        <p:spPr>
          <a:xfrm>
            <a:off x="1551552" y="3261253"/>
            <a:ext cx="0" cy="3110788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63814" y="3261253"/>
            <a:ext cx="0" cy="3110788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76075" y="3261253"/>
            <a:ext cx="0" cy="3110788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88337" y="3261253"/>
            <a:ext cx="0" cy="3110788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00598" y="3261253"/>
            <a:ext cx="0" cy="3110788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612860" y="3261253"/>
            <a:ext cx="0" cy="3110788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25121" y="3261253"/>
            <a:ext cx="0" cy="3110788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237383" y="3261253"/>
            <a:ext cx="0" cy="3110788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49644" y="3261253"/>
            <a:ext cx="0" cy="3110788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9291" y="3779717"/>
            <a:ext cx="8122614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9291" y="4298182"/>
            <a:ext cx="8122614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9291" y="4816647"/>
            <a:ext cx="8122614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9291" y="5335112"/>
            <a:ext cx="8122614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39291" y="5853577"/>
            <a:ext cx="8122614" cy="0"/>
          </a:xfrm>
          <a:prstGeom prst="line">
            <a:avLst/>
          </a:prstGeom>
          <a:ln w="8641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176075" y="3779717"/>
            <a:ext cx="2436784" cy="1555394"/>
          </a:xfrm>
          <a:prstGeom prst="rect">
            <a:avLst/>
          </a:prstGeom>
          <a:solidFill>
            <a:srgbClr val="EA580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Rectangle 44"/>
          <p:cNvSpPr/>
          <p:nvPr/>
        </p:nvSpPr>
        <p:spPr>
          <a:xfrm>
            <a:off x="3988337" y="4298182"/>
            <a:ext cx="812261" cy="518464"/>
          </a:xfrm>
          <a:prstGeom prst="rect">
            <a:avLst/>
          </a:prstGeom>
          <a:solidFill>
            <a:srgbClr val="EA580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TextBox 45"/>
          <p:cNvSpPr txBox="1"/>
          <p:nvPr/>
        </p:nvSpPr>
        <p:spPr>
          <a:xfrm>
            <a:off x="4231476" y="4519826"/>
            <a:ext cx="32598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9A3412"/>
                </a:solidFill>
                <a:latin typeface="Calibri"/>
              </a:rPr>
              <a:t>1.6x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171345" y="3650101"/>
            <a:ext cx="674004" cy="432054"/>
          </a:xfrm>
          <a:prstGeom prst="line">
            <a:avLst/>
          </a:prstGeom>
          <a:ln w="17282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726739" y="3952539"/>
            <a:ext cx="734492" cy="604876"/>
          </a:xfrm>
          <a:prstGeom prst="line">
            <a:avLst/>
          </a:prstGeom>
          <a:ln w="17282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368544" y="4453722"/>
            <a:ext cx="864108" cy="492541"/>
          </a:xfrm>
          <a:prstGeom prst="line">
            <a:avLst/>
          </a:prstGeom>
          <a:ln w="17282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010349" y="4168566"/>
            <a:ext cx="777697" cy="561670"/>
          </a:xfrm>
          <a:prstGeom prst="line">
            <a:avLst/>
          </a:prstGeom>
          <a:ln w="17282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92922" y="5421523"/>
            <a:ext cx="950519" cy="518464"/>
          </a:xfrm>
          <a:prstGeom prst="line">
            <a:avLst/>
          </a:prstGeom>
          <a:ln w="17282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949042" y="5767166"/>
            <a:ext cx="864108" cy="388848"/>
          </a:xfrm>
          <a:prstGeom prst="line">
            <a:avLst/>
          </a:prstGeom>
          <a:ln w="17282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59831" y="3520485"/>
            <a:ext cx="1209751" cy="129616"/>
          </a:xfrm>
          <a:prstGeom prst="line">
            <a:avLst/>
          </a:prstGeom>
          <a:ln w="17282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119498" y="3598255"/>
            <a:ext cx="103692" cy="103692"/>
          </a:xfrm>
          <a:prstGeom prst="roundRect">
            <a:avLst>
              <a:gd name="adj" fmla="val 166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5" name="Rounded Rectangle 54"/>
          <p:cNvSpPr/>
          <p:nvPr/>
        </p:nvSpPr>
        <p:spPr>
          <a:xfrm>
            <a:off x="2674893" y="3900693"/>
            <a:ext cx="103692" cy="103692"/>
          </a:xfrm>
          <a:prstGeom prst="roundRect">
            <a:avLst>
              <a:gd name="adj" fmla="val 166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6" name="Rounded Rectangle 55"/>
          <p:cNvSpPr/>
          <p:nvPr/>
        </p:nvSpPr>
        <p:spPr>
          <a:xfrm>
            <a:off x="4316698" y="4401875"/>
            <a:ext cx="103692" cy="103692"/>
          </a:xfrm>
          <a:prstGeom prst="roundRect">
            <a:avLst>
              <a:gd name="adj" fmla="val 166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7" name="Rounded Rectangle 56"/>
          <p:cNvSpPr/>
          <p:nvPr/>
        </p:nvSpPr>
        <p:spPr>
          <a:xfrm>
            <a:off x="5958503" y="4678390"/>
            <a:ext cx="103692" cy="103692"/>
          </a:xfrm>
          <a:prstGeom prst="roundRect">
            <a:avLst>
              <a:gd name="adj" fmla="val 166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8" name="Rounded Rectangle 57"/>
          <p:cNvSpPr/>
          <p:nvPr/>
        </p:nvSpPr>
        <p:spPr>
          <a:xfrm>
            <a:off x="7341075" y="5369676"/>
            <a:ext cx="103692" cy="103692"/>
          </a:xfrm>
          <a:prstGeom prst="roundRect">
            <a:avLst>
              <a:gd name="adj" fmla="val 166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9" name="Rounded Rectangle 58"/>
          <p:cNvSpPr/>
          <p:nvPr/>
        </p:nvSpPr>
        <p:spPr>
          <a:xfrm>
            <a:off x="1897196" y="5715319"/>
            <a:ext cx="103692" cy="103692"/>
          </a:xfrm>
          <a:prstGeom prst="roundRect">
            <a:avLst>
              <a:gd name="adj" fmla="val 166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0" name="Rounded Rectangle 59"/>
          <p:cNvSpPr/>
          <p:nvPr/>
        </p:nvSpPr>
        <p:spPr>
          <a:xfrm>
            <a:off x="5007984" y="3598255"/>
            <a:ext cx="103692" cy="103692"/>
          </a:xfrm>
          <a:prstGeom prst="roundRect">
            <a:avLst>
              <a:gd name="adj" fmla="val 166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1" name="Rounded Rectangle 60"/>
          <p:cNvSpPr/>
          <p:nvPr/>
        </p:nvSpPr>
        <p:spPr>
          <a:xfrm>
            <a:off x="6822611" y="5974552"/>
            <a:ext cx="103692" cy="103692"/>
          </a:xfrm>
          <a:prstGeom prst="roundRect">
            <a:avLst>
              <a:gd name="adj" fmla="val 166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2" name="Rounded Rectangle 61"/>
          <p:cNvSpPr/>
          <p:nvPr/>
        </p:nvSpPr>
        <p:spPr>
          <a:xfrm>
            <a:off x="8257030" y="4903058"/>
            <a:ext cx="103692" cy="103692"/>
          </a:xfrm>
          <a:prstGeom prst="roundRect">
            <a:avLst>
              <a:gd name="adj" fmla="val 166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3" name="Rounded Rectangle 62"/>
          <p:cNvSpPr/>
          <p:nvPr/>
        </p:nvSpPr>
        <p:spPr>
          <a:xfrm>
            <a:off x="3539001" y="3520485"/>
            <a:ext cx="103692" cy="103692"/>
          </a:xfrm>
          <a:prstGeom prst="roundRect">
            <a:avLst>
              <a:gd name="adj" fmla="val 166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4" name="Oval 63"/>
          <p:cNvSpPr/>
          <p:nvPr/>
        </p:nvSpPr>
        <p:spPr>
          <a:xfrm>
            <a:off x="1845349" y="4073514"/>
            <a:ext cx="103692" cy="1036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5" name="Oval 64"/>
          <p:cNvSpPr/>
          <p:nvPr/>
        </p:nvSpPr>
        <p:spPr>
          <a:xfrm>
            <a:off x="3452590" y="4548774"/>
            <a:ext cx="103692" cy="1036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6" name="Oval 65"/>
          <p:cNvSpPr/>
          <p:nvPr/>
        </p:nvSpPr>
        <p:spPr>
          <a:xfrm>
            <a:off x="5232652" y="4937622"/>
            <a:ext cx="103692" cy="1036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7" name="Oval 66"/>
          <p:cNvSpPr/>
          <p:nvPr/>
        </p:nvSpPr>
        <p:spPr>
          <a:xfrm>
            <a:off x="6779405" y="4073514"/>
            <a:ext cx="103692" cy="1036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8" name="Oval 67"/>
          <p:cNvSpPr/>
          <p:nvPr/>
        </p:nvSpPr>
        <p:spPr>
          <a:xfrm>
            <a:off x="8334800" y="5931346"/>
            <a:ext cx="103692" cy="1036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9" name="Oval 68"/>
          <p:cNvSpPr/>
          <p:nvPr/>
        </p:nvSpPr>
        <p:spPr>
          <a:xfrm>
            <a:off x="2804509" y="6130091"/>
            <a:ext cx="103692" cy="1036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0" name="Oval 69"/>
          <p:cNvSpPr/>
          <p:nvPr/>
        </p:nvSpPr>
        <p:spPr>
          <a:xfrm>
            <a:off x="6260941" y="3451356"/>
            <a:ext cx="103692" cy="1036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1" name="Oval 70"/>
          <p:cNvSpPr/>
          <p:nvPr/>
        </p:nvSpPr>
        <p:spPr>
          <a:xfrm>
            <a:off x="4282133" y="5888141"/>
            <a:ext cx="103692" cy="1036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2" name="Oval 71"/>
          <p:cNvSpPr/>
          <p:nvPr/>
        </p:nvSpPr>
        <p:spPr>
          <a:xfrm>
            <a:off x="7410204" y="4721595"/>
            <a:ext cx="103692" cy="1036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3" name="Rectangle 72"/>
          <p:cNvSpPr/>
          <p:nvPr/>
        </p:nvSpPr>
        <p:spPr>
          <a:xfrm>
            <a:off x="739291" y="6095527"/>
            <a:ext cx="8122614" cy="2246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4" name="Rounded Rectangle 73"/>
          <p:cNvSpPr/>
          <p:nvPr/>
        </p:nvSpPr>
        <p:spPr>
          <a:xfrm>
            <a:off x="912112" y="6156014"/>
            <a:ext cx="103692" cy="103692"/>
          </a:xfrm>
          <a:prstGeom prst="roundRect">
            <a:avLst>
              <a:gd name="adj" fmla="val 16666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5" name="TextBox 74"/>
          <p:cNvSpPr txBox="1"/>
          <p:nvPr/>
        </p:nvSpPr>
        <p:spPr>
          <a:xfrm>
            <a:off x="1084934" y="6170272"/>
            <a:ext cx="1059446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26456E"/>
                </a:solidFill>
                <a:latin typeface="Calibri"/>
              </a:rPr>
              <a:t>driver online</a:t>
            </a:r>
          </a:p>
        </p:txBody>
      </p:sp>
      <p:sp>
        <p:nvSpPr>
          <p:cNvPr id="76" name="Oval 75"/>
          <p:cNvSpPr/>
          <p:nvPr/>
        </p:nvSpPr>
        <p:spPr>
          <a:xfrm>
            <a:off x="2070017" y="6156014"/>
            <a:ext cx="103692" cy="1036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7" name="TextBox 76"/>
          <p:cNvSpPr txBox="1"/>
          <p:nvPr/>
        </p:nvSpPr>
        <p:spPr>
          <a:xfrm>
            <a:off x="2225557" y="6170272"/>
            <a:ext cx="1466926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26456E"/>
                </a:solidFill>
                <a:latin typeface="Calibri"/>
              </a:rPr>
              <a:t>open rider request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677258" y="6207861"/>
            <a:ext cx="259232" cy="0"/>
          </a:xfrm>
          <a:prstGeom prst="line">
            <a:avLst/>
          </a:prstGeom>
          <a:ln w="17282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022901" y="6170272"/>
            <a:ext cx="1548422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26456E"/>
                </a:solidFill>
                <a:latin typeface="Calibri"/>
              </a:rPr>
              <a:t>matched (ETA &lt;5min)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51117" y="6156014"/>
            <a:ext cx="103692" cy="103692"/>
          </a:xfrm>
          <a:prstGeom prst="rect">
            <a:avLst/>
          </a:prstGeom>
          <a:solidFill>
            <a:srgbClr val="EA580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1" name="TextBox 80"/>
          <p:cNvSpPr txBox="1"/>
          <p:nvPr/>
        </p:nvSpPr>
        <p:spPr>
          <a:xfrm>
            <a:off x="5923938" y="6170272"/>
            <a:ext cx="130393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26456E"/>
                </a:solidFill>
                <a:latin typeface="Calibri"/>
              </a:rPr>
              <a:t>surge multiplier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207549" y="2742787"/>
            <a:ext cx="4147718" cy="3869877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17282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3" name="TextBox 82"/>
          <p:cNvSpPr txBox="1"/>
          <p:nvPr/>
        </p:nvSpPr>
        <p:spPr>
          <a:xfrm>
            <a:off x="9380370" y="2899191"/>
            <a:ext cx="208306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DRIVER ETA DISTRIBUTION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80370" y="3076766"/>
            <a:ext cx="220038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92400E"/>
                </a:solidFill>
                <a:latin typeface="Calibri"/>
              </a:rPr>
              <a:t>P50 = 4 min  ·  P95 = 9 min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423576" y="4859852"/>
            <a:ext cx="432053" cy="734491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6" name="TextBox 85"/>
          <p:cNvSpPr txBox="1"/>
          <p:nvPr/>
        </p:nvSpPr>
        <p:spPr>
          <a:xfrm>
            <a:off x="9493553" y="5650511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Calibri"/>
              </a:rPr>
              <a:t>0-2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898835" y="3866128"/>
            <a:ext cx="432053" cy="172821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8" name="TextBox 87"/>
          <p:cNvSpPr txBox="1"/>
          <p:nvPr/>
        </p:nvSpPr>
        <p:spPr>
          <a:xfrm>
            <a:off x="9968812" y="5650511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Calibri"/>
              </a:rPr>
              <a:t>2-4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374094" y="4108078"/>
            <a:ext cx="432053" cy="148626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0" name="TextBox 89"/>
          <p:cNvSpPr txBox="1"/>
          <p:nvPr/>
        </p:nvSpPr>
        <p:spPr>
          <a:xfrm>
            <a:off x="10444071" y="5650511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Calibri"/>
              </a:rPr>
              <a:t>4-6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49354" y="4479645"/>
            <a:ext cx="432053" cy="111469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2" name="TextBox 91"/>
          <p:cNvSpPr txBox="1"/>
          <p:nvPr/>
        </p:nvSpPr>
        <p:spPr>
          <a:xfrm>
            <a:off x="10919331" y="5650511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Calibri"/>
              </a:rPr>
              <a:t>6-8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324613" y="4972186"/>
            <a:ext cx="432053" cy="622157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4" name="TextBox 93"/>
          <p:cNvSpPr txBox="1"/>
          <p:nvPr/>
        </p:nvSpPr>
        <p:spPr>
          <a:xfrm>
            <a:off x="11377649" y="5650511"/>
            <a:ext cx="32598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Calibri"/>
              </a:rPr>
              <a:t>8-10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799872" y="5291906"/>
            <a:ext cx="432053" cy="302437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6" name="TextBox 95"/>
          <p:cNvSpPr txBox="1"/>
          <p:nvPr/>
        </p:nvSpPr>
        <p:spPr>
          <a:xfrm>
            <a:off x="11812160" y="5650511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Calibri"/>
              </a:rPr>
              <a:t>10-12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275132" y="5473369"/>
            <a:ext cx="432053" cy="1209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8" name="TextBox 97"/>
          <p:cNvSpPr txBox="1"/>
          <p:nvPr/>
        </p:nvSpPr>
        <p:spPr>
          <a:xfrm>
            <a:off x="12287420" y="5650511"/>
            <a:ext cx="40747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Calibri"/>
              </a:rPr>
              <a:t>12-14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2750391" y="5533857"/>
            <a:ext cx="432053" cy="60487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0" name="TextBox 99"/>
          <p:cNvSpPr txBox="1"/>
          <p:nvPr/>
        </p:nvSpPr>
        <p:spPr>
          <a:xfrm>
            <a:off x="12820368" y="5650511"/>
            <a:ext cx="2921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Calibri"/>
              </a:rPr>
              <a:t>14+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88693" y="5859193"/>
            <a:ext cx="138543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minutes to pickup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1730744" y="3434074"/>
            <a:ext cx="0" cy="2160270"/>
          </a:xfrm>
          <a:prstGeom prst="line">
            <a:avLst/>
          </a:prstGeom>
          <a:ln w="17282">
            <a:solidFill>
              <a:srgbClr val="EA58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1323265" y="3491537"/>
            <a:ext cx="81495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EA580C"/>
                </a:solidFill>
                <a:latin typeface="Calibri"/>
              </a:rPr>
              <a:t>P95 = 9min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22653" y="6124042"/>
            <a:ext cx="3117511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D97706"/>
                </a:solidFill>
                <a:latin typeface="Calibri"/>
              </a:rPr>
              <a:t>52% picked up in &lt;6 min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66469" y="7164538"/>
            <a:ext cx="12788797" cy="432053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6" name="TextBox 105"/>
          <p:cNvSpPr txBox="1"/>
          <p:nvPr/>
        </p:nvSpPr>
        <p:spPr>
          <a:xfrm>
            <a:off x="2968482" y="7308844"/>
            <a:ext cx="7984772" cy="248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>
                <a:solidFill>
                  <a:srgbClr val="115E59"/>
                </a:solidFill>
                <a:latin typeface="Calibri"/>
              </a:rPr>
              <a:t>Match in &lt;1s. Pick up in &lt;6 min. The whole business is a streaming join.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52880" y="7803546"/>
            <a:ext cx="5561738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i="1" dirty="0">
                <a:solidFill>
                  <a:srgbClr val="475569"/>
                </a:solidFill>
                <a:latin typeface="Calibri"/>
              </a:rPr>
              <a:t>Source: Uber Eng Blog (H3, Michelangelo, </a:t>
            </a:r>
            <a:r>
              <a:rPr sz="1600" i="1" dirty="0" err="1">
                <a:solidFill>
                  <a:srgbClr val="475569"/>
                </a:solidFill>
                <a:latin typeface="Calibri"/>
              </a:rPr>
              <a:t>Marmaray</a:t>
            </a:r>
            <a:r>
              <a:rPr sz="1600" i="1" dirty="0">
                <a:solidFill>
                  <a:srgbClr val="475569"/>
                </a:solidFill>
                <a:latin typeface="Calibri"/>
              </a:rPr>
              <a:t>), 2018-2024.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83234" y="8235600"/>
            <a:ext cx="5472033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475569"/>
                </a:solidFill>
                <a:latin typeface="Calibri"/>
              </a:rPr>
              <a:t>Sources: company eng. blogs, conference talks, public reports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3578840" y="1714500"/>
            <a:ext cx="4183379" cy="754380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3578840" y="1714500"/>
            <a:ext cx="109728" cy="7543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3825728" y="1741932"/>
            <a:ext cx="3730752" cy="38404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STREAMING TIER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3825728" y="2057400"/>
            <a:ext cx="3730752" cy="38404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A7F3D0"/>
                </a:solidFill>
                <a:latin typeface="Calibri"/>
              </a:rPr>
              <a:t>&lt; 100 ms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578840" y="2674620"/>
            <a:ext cx="4183379" cy="38404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500" b="1" i="0">
                <a:solidFill>
                  <a:srgbClr val="115E59"/>
                </a:solidFill>
                <a:latin typeface="Calibri"/>
              </a:rPr>
              <a:t>WHAT HAPPENED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578840" y="3044952"/>
            <a:ext cx="4183379" cy="25374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500" b="0" i="0">
                <a:solidFill>
                  <a:srgbClr val="26456E"/>
                </a:solidFill>
                <a:latin typeface="Calibri"/>
              </a:rPr>
              <a:t>Apache Pinot (which Uber created) serves &gt;1M queries/sec on fresh data. Michelangelo ML platform scores every trip in real time for fraud, matching, pricing. $37B revenue in 2023 on a ~500-engineer data platform team.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758840" y="461484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15E59"/>
                </a:solidFill>
                <a:latin typeface="Calibri"/>
              </a:rPr>
              <a:t>TALKING POINTS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758840" y="4994840"/>
            <a:ext cx="3823379" cy="563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▸ </a:t>
            </a:r>
            <a:r>
              <a:rPr sz="1500">
                <a:solidFill>
                  <a:srgbClr val="26456E"/>
                </a:solidFill>
                <a:latin typeface="Calibri"/>
              </a:rPr>
              <a:t>Pinot is the unsung hero — sub-second OLAP on streaming data.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▸ </a:t>
            </a:r>
            <a:r>
              <a:rPr sz="1500">
                <a:solidFill>
                  <a:srgbClr val="26456E"/>
                </a:solidFill>
                <a:latin typeface="Calibri"/>
              </a:rPr>
              <a:t>Every 100ms of ETA latency measurably reduces ride conversion.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▸ </a:t>
            </a:r>
            <a:r>
              <a:rPr sz="1500">
                <a:solidFill>
                  <a:srgbClr val="26456E"/>
                </a:solidFill>
                <a:latin typeface="Calibri"/>
              </a:rPr>
              <a:t>Michelangelo runs ~50 models in real time per trip.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3578840" y="7132320"/>
            <a:ext cx="4183379" cy="13716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3578840" y="7132320"/>
            <a:ext cx="109728" cy="1371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3825728" y="7187184"/>
            <a:ext cx="3771900" cy="1261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INSIGHT  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Open-source: Pinot, Cadence, Hudi. Uber's blog is a free engineering library.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344400" y="0"/>
            <a:ext cx="5943142" cy="10287000"/>
          </a:xfrm>
          <a:prstGeom prst="rect">
            <a:avLst/>
          </a:prstGeom>
          <a:solidFill>
            <a:srgbClr val="14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0" y="2236350"/>
            <a:ext cx="5897879" cy="553997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lang="en-GB" sz="36000" b="1" dirty="0">
                <a:solidFill>
                  <a:srgbClr val="2A4A73"/>
                </a:solidFill>
                <a:latin typeface="Calibri"/>
              </a:rPr>
              <a:t>5</a:t>
            </a:r>
            <a:endParaRPr sz="36000" b="1" i="0" dirty="0">
              <a:solidFill>
                <a:srgbClr val="2A4A7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754380"/>
            <a:ext cx="1097280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DATA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316736"/>
            <a:ext cx="16047719" cy="8000"/>
          </a:xfrm>
          <a:prstGeom prst="rect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291839"/>
            <a:ext cx="10972800" cy="3231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100" b="1" i="0" dirty="0">
                <a:solidFill>
                  <a:srgbClr val="D97706"/>
                </a:solidFill>
                <a:latin typeface="Calibri"/>
              </a:rPr>
              <a:t>MICRO-BATCH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183379"/>
            <a:ext cx="2194560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526279"/>
            <a:ext cx="10972800" cy="329183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8100" b="1" i="0">
                <a:solidFill>
                  <a:srgbClr val="FFFFFF"/>
                </a:solidFill>
                <a:latin typeface="Calibri"/>
              </a:rPr>
              <a:t>Seconds to Minutes</a:t>
            </a:r>
          </a:p>
        </p:txBody>
      </p:sp>
      <p:pic>
        <p:nvPicPr>
          <p:cNvPr id="12" name="Picture 11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1CA0BE-6677-4CD1-81BB-0F87D118A323}"/>
              </a:ext>
            </a:extLst>
          </p:cNvPr>
          <p:cNvSpPr txBox="1"/>
          <p:nvPr/>
        </p:nvSpPr>
        <p:spPr>
          <a:xfrm>
            <a:off x="1097280" y="8023859"/>
            <a:ext cx="10972800" cy="41549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700" b="0" i="1" dirty="0">
                <a:solidFill>
                  <a:srgbClr val="A7F3D0"/>
                </a:solidFill>
                <a:latin typeface="Calibri"/>
              </a:rPr>
              <a:t>When fresh-enough beats real-time </a:t>
            </a:r>
            <a:r>
              <a:rPr lang="en-GB" sz="2700" b="0" i="1" dirty="0">
                <a:solidFill>
                  <a:srgbClr val="A7F3D0"/>
                </a:solidFill>
                <a:latin typeface="Calibri"/>
              </a:rPr>
              <a:t>-</a:t>
            </a:r>
            <a:r>
              <a:rPr sz="2700" b="0" i="1" dirty="0">
                <a:solidFill>
                  <a:srgbClr val="A7F3D0"/>
                </a:solidFill>
                <a:latin typeface="Calibri"/>
              </a:rPr>
              <a:t> and the savings are 10-100x.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09728"/>
            <a:ext cx="1687068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LINKEDIN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1B Members · 7T Kafka Messages/Day (they invented 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469" y="1800910"/>
            <a:ext cx="3715664" cy="2505913"/>
          </a:xfrm>
          <a:prstGeom prst="roundRect">
            <a:avLst>
              <a:gd name="adj" fmla="val 7586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2984" y="2086930"/>
            <a:ext cx="996248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Calibri"/>
              </a:rPr>
              <a:t>SCALE /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984" y="2334929"/>
            <a:ext cx="1133640" cy="127196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259" b="1">
                <a:solidFill>
                  <a:srgbClr val="FFFFFF"/>
                </a:solidFill>
                <a:latin typeface="Calibri"/>
              </a:rPr>
              <a:t>7T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984" y="3166201"/>
            <a:ext cx="3376362" cy="1995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CBD5E1"/>
                </a:solidFill>
                <a:latin typeface="Calibri"/>
              </a:rPr>
              <a:t>Kafka messages · ~80M / sec sustained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2984" y="3529126"/>
            <a:ext cx="3162635" cy="0"/>
          </a:xfrm>
          <a:prstGeom prst="line">
            <a:avLst/>
          </a:prstGeom>
          <a:ln w="8641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2984" y="3522059"/>
            <a:ext cx="292100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96" b="1">
                <a:solidFill>
                  <a:srgbClr val="A7F3D0"/>
                </a:solidFill>
                <a:latin typeface="Calibri"/>
              </a:rPr>
              <a:t>1B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4550" y="3513583"/>
            <a:ext cx="633976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dirty="0">
                <a:solidFill>
                  <a:srgbClr val="CBD5E1"/>
                </a:solidFill>
                <a:latin typeface="Calibri"/>
              </a:rPr>
              <a:t>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864" y="3535506"/>
            <a:ext cx="542175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96" b="1" dirty="0">
                <a:solidFill>
                  <a:srgbClr val="FBBF24"/>
                </a:solidFill>
                <a:latin typeface="Calibri"/>
              </a:rPr>
              <a:t>2011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3534" y="3553924"/>
            <a:ext cx="1487798" cy="18076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dirty="0">
                <a:solidFill>
                  <a:srgbClr val="CBD5E1"/>
                </a:solidFill>
                <a:latin typeface="Calibri"/>
              </a:rPr>
              <a:t>Kafka open-sourced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984" y="3813473"/>
            <a:ext cx="3229775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CBD5E1"/>
                </a:solidFill>
                <a:latin typeface="Calibri"/>
              </a:rPr>
              <a:t>4,000+ topics · multi-DC replication · </a:t>
            </a:r>
            <a:br>
              <a:rPr lang="en-GB" sz="1400" dirty="0">
                <a:solidFill>
                  <a:srgbClr val="CBD5E1"/>
                </a:solidFill>
                <a:latin typeface="Calibri"/>
              </a:rPr>
            </a:br>
            <a:r>
              <a:rPr sz="1400" dirty="0">
                <a:solidFill>
                  <a:srgbClr val="CBD5E1"/>
                </a:solidFill>
                <a:latin typeface="Calibri"/>
              </a:rPr>
              <a:t>LinkedIn's Jay Kreps led the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366" y="1914108"/>
            <a:ext cx="253590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THE LOG — TIME FLOWS RIGHT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6" y="2267097"/>
            <a:ext cx="1794109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P0 · activity-events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1366" y="2448991"/>
            <a:ext cx="8813900" cy="190103"/>
          </a:xfrm>
          <a:prstGeom prst="roundRect">
            <a:avLst>
              <a:gd name="adj" fmla="val 27272"/>
            </a:avLst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610494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973420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336345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699270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062196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25121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788046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150972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513897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876822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239748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602673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965598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328524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691449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054374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417300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780225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1143150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1506076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1869001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2231926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2594852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2957777" y="2483556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1366" y="2785561"/>
            <a:ext cx="1883814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P1 · feed-impressions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41366" y="2967456"/>
            <a:ext cx="8813900" cy="190103"/>
          </a:xfrm>
          <a:prstGeom prst="roundRect">
            <a:avLst>
              <a:gd name="adj" fmla="val 27272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610494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973420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336345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699270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062196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425121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788046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150972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7513897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876822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8239748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602673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8965598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9328524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9691449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0054374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10417300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10780225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11143150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11506076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11869001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12231926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12594852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12957777" y="3002020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41366" y="3304026"/>
            <a:ext cx="1614698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P2 · profile-edits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41366" y="3485921"/>
            <a:ext cx="8813900" cy="190103"/>
          </a:xfrm>
          <a:prstGeom prst="roundRect">
            <a:avLst>
              <a:gd name="adj" fmla="val 2727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4610494" y="3520485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336345" y="3520485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6062196" y="3520485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6788046" y="3520485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7513897" y="3520485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239748" y="3520485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965598" y="3520485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9691449" y="3520485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10417300" y="3520485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11143150" y="3520485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11869001" y="3520485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12594852" y="3520485"/>
            <a:ext cx="293796" cy="120975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541366" y="3822491"/>
            <a:ext cx="2601458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… 4,000+ topics in production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41366" y="4004386"/>
            <a:ext cx="8813900" cy="120975"/>
          </a:xfrm>
          <a:prstGeom prst="roundRect">
            <a:avLst>
              <a:gd name="adj" fmla="val 42857"/>
            </a:avLst>
          </a:prstGeom>
          <a:solidFill>
            <a:srgbClr val="FDE68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541366" y="4244608"/>
            <a:ext cx="66244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Calibri"/>
              </a:rPr>
              <a:t>offset 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34291" y="4244608"/>
            <a:ext cx="82805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offset N/2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195997" y="4244608"/>
            <a:ext cx="115927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Calibri"/>
              </a:rPr>
              <a:t>offset N (now)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469" y="4917794"/>
            <a:ext cx="2807608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Calibri"/>
              </a:rPr>
              <a:t>CONSUMERS — same log, many uses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66469" y="5193444"/>
            <a:ext cx="2462707" cy="1036929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7282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3" name="Oval 92"/>
          <p:cNvSpPr/>
          <p:nvPr/>
        </p:nvSpPr>
        <p:spPr>
          <a:xfrm>
            <a:off x="756573" y="5383548"/>
            <a:ext cx="311078" cy="31107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4" name="TextBox 93"/>
          <p:cNvSpPr txBox="1"/>
          <p:nvPr/>
        </p:nvSpPr>
        <p:spPr>
          <a:xfrm>
            <a:off x="1214550" y="5297681"/>
            <a:ext cx="1242075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26456E"/>
                </a:solidFill>
                <a:latin typeface="Calibri"/>
              </a:rPr>
              <a:t>Feed ranking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14550" y="5514814"/>
            <a:ext cx="165610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dirty="0">
                <a:solidFill>
                  <a:srgbClr val="475569"/>
                </a:solidFill>
                <a:latin typeface="Calibri"/>
              </a:rPr>
              <a:t>Micro-batch re-score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14550" y="5714810"/>
            <a:ext cx="1760887" cy="1833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dirty="0">
                <a:solidFill>
                  <a:srgbClr val="475569"/>
                </a:solidFill>
                <a:latin typeface="Calibri"/>
              </a:rPr>
              <a:t>per session · sub-min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14550" y="5915951"/>
            <a:ext cx="1345581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 dirty="0">
                <a:solidFill>
                  <a:srgbClr val="0F766E"/>
                </a:solidFill>
                <a:latin typeface="Calibri"/>
              </a:rPr>
              <a:t>engagement lift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201998" y="5193444"/>
            <a:ext cx="2462707" cy="1036929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9" name="Oval 98"/>
          <p:cNvSpPr/>
          <p:nvPr/>
        </p:nvSpPr>
        <p:spPr>
          <a:xfrm>
            <a:off x="3392102" y="5383548"/>
            <a:ext cx="311078" cy="31107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0" name="TextBox 99"/>
          <p:cNvSpPr txBox="1"/>
          <p:nvPr/>
        </p:nvSpPr>
        <p:spPr>
          <a:xfrm>
            <a:off x="3850079" y="5306802"/>
            <a:ext cx="1035063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26456E"/>
                </a:solidFill>
                <a:latin typeface="Calibri"/>
              </a:rPr>
              <a:t>People You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50079" y="5479624"/>
            <a:ext cx="828050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26456E"/>
                </a:solidFill>
                <a:latin typeface="Calibri"/>
              </a:rPr>
              <a:t>May Know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50079" y="5732984"/>
            <a:ext cx="149049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dirty="0">
                <a:solidFill>
                  <a:srgbClr val="475569"/>
                </a:solidFill>
                <a:latin typeface="Calibri"/>
              </a:rPr>
              <a:t>Graph walk · daily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50079" y="5933025"/>
            <a:ext cx="1255876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 dirty="0">
                <a:solidFill>
                  <a:srgbClr val="0F766E"/>
                </a:solidFill>
                <a:latin typeface="Calibri"/>
              </a:rPr>
              <a:t>network effect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837528" y="5193444"/>
            <a:ext cx="2462707" cy="1036929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7282">
            <a:solidFill>
              <a:srgbClr val="3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5" name="Oval 104"/>
          <p:cNvSpPr/>
          <p:nvPr/>
        </p:nvSpPr>
        <p:spPr>
          <a:xfrm>
            <a:off x="6027631" y="5383548"/>
            <a:ext cx="311078" cy="311078"/>
          </a:xfrm>
          <a:prstGeom prst="ellipse">
            <a:avLst/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6" name="TextBox 105"/>
          <p:cNvSpPr txBox="1"/>
          <p:nvPr/>
        </p:nvSpPr>
        <p:spPr>
          <a:xfrm>
            <a:off x="6485609" y="5275000"/>
            <a:ext cx="1035063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26456E"/>
                </a:solidFill>
                <a:latin typeface="Calibri"/>
              </a:rPr>
              <a:t>Pinot OLAP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85609" y="5503125"/>
            <a:ext cx="1573295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dirty="0">
                <a:solidFill>
                  <a:srgbClr val="475569"/>
                </a:solidFill>
                <a:latin typeface="Calibri"/>
              </a:rPr>
              <a:t>Real-time analytics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85609" y="5697039"/>
            <a:ext cx="132488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dirty="0">
                <a:solidFill>
                  <a:srgbClr val="475569"/>
                </a:solidFill>
                <a:latin typeface="Calibri"/>
              </a:rPr>
              <a:t>on recent events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85609" y="5925074"/>
            <a:ext cx="1345581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 dirty="0">
                <a:solidFill>
                  <a:srgbClr val="3371A0"/>
                </a:solidFill>
                <a:latin typeface="Calibri"/>
              </a:rPr>
              <a:t>sub-sec queries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473057" y="5193444"/>
            <a:ext cx="2462707" cy="1036929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1" name="Oval 110"/>
          <p:cNvSpPr/>
          <p:nvPr/>
        </p:nvSpPr>
        <p:spPr>
          <a:xfrm>
            <a:off x="8663161" y="5383548"/>
            <a:ext cx="311078" cy="31107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2" name="TextBox 111"/>
          <p:cNvSpPr txBox="1"/>
          <p:nvPr/>
        </p:nvSpPr>
        <p:spPr>
          <a:xfrm>
            <a:off x="9121138" y="5259096"/>
            <a:ext cx="1345581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26456E"/>
                </a:solidFill>
                <a:latin typeface="Calibri"/>
              </a:rPr>
              <a:t>Notifications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21138" y="5487220"/>
            <a:ext cx="1760887" cy="1833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dirty="0">
                <a:solidFill>
                  <a:srgbClr val="475569"/>
                </a:solidFill>
                <a:latin typeface="Calibri"/>
              </a:rPr>
              <a:t>Email · push · in-app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21138" y="5728843"/>
            <a:ext cx="1760887" cy="1833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dirty="0">
                <a:solidFill>
                  <a:srgbClr val="475569"/>
                </a:solidFill>
                <a:latin typeface="Calibri"/>
              </a:rPr>
              <a:t>fan-out across topics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21138" y="5909169"/>
            <a:ext cx="1166171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 dirty="0">
                <a:solidFill>
                  <a:srgbClr val="0F766E"/>
                </a:solidFill>
                <a:latin typeface="Calibri"/>
              </a:rPr>
              <a:t>re-engagement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1108586" y="5193444"/>
            <a:ext cx="2246680" cy="1036929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7" name="Oval 116"/>
          <p:cNvSpPr/>
          <p:nvPr/>
        </p:nvSpPr>
        <p:spPr>
          <a:xfrm>
            <a:off x="11298690" y="5383548"/>
            <a:ext cx="311078" cy="31107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8" name="TextBox 117"/>
          <p:cNvSpPr txBox="1"/>
          <p:nvPr/>
        </p:nvSpPr>
        <p:spPr>
          <a:xfrm>
            <a:off x="11756667" y="5235239"/>
            <a:ext cx="1242075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26456E"/>
                </a:solidFill>
                <a:latin typeface="Calibri"/>
              </a:rPr>
              <a:t>Lake landing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756667" y="5487223"/>
            <a:ext cx="149049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475569"/>
                </a:solidFill>
                <a:latin typeface="Calibri"/>
              </a:rPr>
              <a:t>S3 → Trino · Spark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748716" y="5704990"/>
            <a:ext cx="1548090" cy="1472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475569"/>
                </a:solidFill>
                <a:latin typeface="Calibri"/>
              </a:rPr>
              <a:t>analytics + ML training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756667" y="5925074"/>
            <a:ext cx="897054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 dirty="0">
                <a:solidFill>
                  <a:srgbClr val="0F766E"/>
                </a:solidFill>
                <a:latin typeface="Calibri"/>
              </a:rPr>
              <a:t>batch tier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66469" y="6787780"/>
            <a:ext cx="12788797" cy="1019647"/>
          </a:xfrm>
          <a:prstGeom prst="roundRect">
            <a:avLst>
              <a:gd name="adj" fmla="val 11864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566469" y="6787780"/>
            <a:ext cx="69128" cy="101964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42984" y="6987389"/>
            <a:ext cx="163022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Calibri"/>
              </a:rPr>
              <a:t>OPEN-SOURCE LEGACY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42984" y="7248350"/>
            <a:ext cx="9759165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96" b="1">
                <a:solidFill>
                  <a:srgbClr val="FFFFFF"/>
                </a:solidFill>
                <a:latin typeface="Calibri"/>
              </a:rPr>
              <a:t>Kafka · Pinot · Samza · Voldemort · Azkaban · Helix · Brooklin · DataHub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2984" y="7496196"/>
            <a:ext cx="11123477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dirty="0">
                <a:solidFill>
                  <a:srgbClr val="CBD5E1"/>
                </a:solidFill>
                <a:latin typeface="Calibri"/>
              </a:rPr>
              <a:t>Every company in this deck runs at least one piece of LinkedIn-engineered infrastructure. Boring infrastructure is the moat.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807330" y="8125419"/>
            <a:ext cx="5547937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>
                <a:solidFill>
                  <a:srgbClr val="94A3B8"/>
                </a:solidFill>
                <a:latin typeface="Calibri"/>
              </a:rPr>
              <a:t>Source: LinkedIn Engineering blog · Kafka Summit · Strata 2018–2024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3578840" y="1714500"/>
            <a:ext cx="4183379" cy="754380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13578840" y="1714500"/>
            <a:ext cx="109728" cy="7543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3825728" y="1741932"/>
            <a:ext cx="3730752" cy="246221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MICRO-BATCH TIER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3825728" y="2057400"/>
            <a:ext cx="3730752" cy="27699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b="1" i="0">
                <a:solidFill>
                  <a:srgbClr val="A7F3D0"/>
                </a:solidFill>
                <a:latin typeface="Calibri"/>
              </a:rPr>
              <a:t>sec → min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3578840" y="2674620"/>
            <a:ext cx="4183379" cy="246221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00" b="1" i="0">
                <a:solidFill>
                  <a:srgbClr val="115E59"/>
                </a:solidFill>
                <a:latin typeface="Calibri"/>
              </a:rPr>
              <a:t>WHAT HAPPENED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578840" y="3044952"/>
            <a:ext cx="4183379" cy="147732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00" b="0" i="0">
                <a:solidFill>
                  <a:srgbClr val="26456E"/>
                </a:solidFill>
                <a:latin typeface="Calibri"/>
              </a:rPr>
              <a:t>1B members, ~7T Kafka messages/day across thousands of topics. LinkedIn engineers (Jay Kreps + team) open-sourced Kafka in 2011 — now the connective tissue of every company on this deck. Feed ranking re-scores content for every member per session.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758840" y="4598511"/>
            <a:ext cx="3823379" cy="27699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b="1" i="0" dirty="0">
                <a:solidFill>
                  <a:srgbClr val="115E59"/>
                </a:solidFill>
                <a:latin typeface="Calibri"/>
              </a:rPr>
              <a:t>TALKING POINTS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3758840" y="4978511"/>
            <a:ext cx="3823379" cy="19543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600" dirty="0">
                <a:solidFill>
                  <a:srgbClr val="26456E"/>
                </a:solidFill>
                <a:latin typeface="Calibri"/>
              </a:rPr>
              <a:t>~7T messages/day = ~80M messages/second sustained.</a:t>
            </a:r>
          </a:p>
          <a:p>
            <a:pPr algn="l">
              <a:spcAft>
                <a:spcPts val="900"/>
              </a:spcAft>
            </a:pPr>
            <a:r>
              <a:rPr sz="16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600" dirty="0">
                <a:solidFill>
                  <a:srgbClr val="26456E"/>
                </a:solidFill>
                <a:latin typeface="Calibri"/>
              </a:rPr>
              <a:t>Kafka was built because nothing else handled LinkedIn's volume in 2010.</a:t>
            </a:r>
          </a:p>
          <a:p>
            <a:pPr algn="l">
              <a:spcAft>
                <a:spcPts val="900"/>
              </a:spcAft>
            </a:pPr>
            <a:r>
              <a:rPr sz="16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600" dirty="0">
                <a:solidFill>
                  <a:srgbClr val="26456E"/>
                </a:solidFill>
                <a:latin typeface="Calibri"/>
              </a:rPr>
              <a:t>Feed ranking is the killer app — micro-batch hits freshness at fraction of streaming cost.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3676807" y="7115991"/>
            <a:ext cx="4183379" cy="13716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3676807" y="7115991"/>
            <a:ext cx="109728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3923695" y="7447848"/>
            <a:ext cx="3771900" cy="7078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INSIGHT  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Invest in boring infrastructure — that's the $15B+ revenue moat.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09728"/>
            <a:ext cx="1687068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WALMART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10,500 Stores · 500M SKU Forecasts/Day · $648B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469" y="1800910"/>
            <a:ext cx="2765145" cy="4249964"/>
          </a:xfrm>
          <a:prstGeom prst="roundRect">
            <a:avLst>
              <a:gd name="adj" fmla="val 6875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842984" y="2094275"/>
            <a:ext cx="1345581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FORECASTS /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984" y="2409242"/>
            <a:ext cx="1872971" cy="10507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171" b="1">
                <a:solidFill>
                  <a:srgbClr val="FFFFFF"/>
                </a:solidFill>
                <a:latin typeface="Calibri"/>
              </a:rPr>
              <a:t>500M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984" y="3152375"/>
            <a:ext cx="2173632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CBD5E1"/>
                </a:solidFill>
                <a:latin typeface="Calibri"/>
              </a:rPr>
              <a:t>refreshed micro-batch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984" y="3414842"/>
            <a:ext cx="1966619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 dirty="0">
                <a:solidFill>
                  <a:srgbClr val="CBD5E1"/>
                </a:solidFill>
                <a:latin typeface="Calibri"/>
              </a:rPr>
              <a:t>as POS data arrives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2984" y="3641460"/>
            <a:ext cx="2212116" cy="0"/>
          </a:xfrm>
          <a:prstGeom prst="line">
            <a:avLst/>
          </a:prstGeom>
          <a:ln w="8641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2984" y="3832428"/>
            <a:ext cx="543408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CBD5E1"/>
                </a:solidFill>
                <a:latin typeface="Calibri"/>
              </a:rPr>
              <a:t>Stores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5770" y="3788359"/>
            <a:ext cx="739330" cy="276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2400" b="1">
                <a:solidFill>
                  <a:srgbClr val="A7F3D0"/>
                </a:solidFill>
                <a:latin typeface="Calibri"/>
              </a:rPr>
              <a:t>10,500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84" y="4117584"/>
            <a:ext cx="1086816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CBD5E1"/>
                </a:solidFill>
                <a:latin typeface="Calibri"/>
              </a:rPr>
              <a:t>SKUs /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2548" y="4073514"/>
            <a:ext cx="862552" cy="276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2400" b="1">
                <a:solidFill>
                  <a:srgbClr val="A7F3D0"/>
                </a:solidFill>
                <a:latin typeface="Calibri"/>
              </a:rPr>
              <a:t>~50,000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984" y="4402739"/>
            <a:ext cx="633976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CBD5E1"/>
                </a:solidFill>
                <a:latin typeface="Calibri"/>
              </a:rPr>
              <a:t>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8992" y="4358670"/>
            <a:ext cx="616108" cy="276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2400" b="1">
                <a:solidFill>
                  <a:srgbClr val="FBBF24"/>
                </a:solidFill>
                <a:latin typeface="Calibri"/>
              </a:rPr>
              <a:t>$648B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984" y="4687895"/>
            <a:ext cx="135852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CBD5E1"/>
                </a:solidFill>
                <a:latin typeface="Calibri"/>
              </a:rPr>
              <a:t>Refresh cadence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5770" y="4643825"/>
            <a:ext cx="739330" cy="276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2400" b="1">
                <a:solidFill>
                  <a:srgbClr val="FBBF24"/>
                </a:solidFill>
                <a:latin typeface="Calibri"/>
              </a:rPr>
              <a:t>15 min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2984" y="4954904"/>
            <a:ext cx="2212116" cy="0"/>
          </a:xfrm>
          <a:prstGeom prst="line">
            <a:avLst/>
          </a:prstGeom>
          <a:ln w="8641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2984" y="5101371"/>
            <a:ext cx="448527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A7F3D0"/>
                </a:solidFill>
                <a:latin typeface="Calibri"/>
              </a:rPr>
              <a:t>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984" y="5274191"/>
            <a:ext cx="2440060" cy="4852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dirty="0">
                <a:solidFill>
                  <a:srgbClr val="CBD5E1"/>
                </a:solidFill>
                <a:latin typeface="Calibri"/>
              </a:rPr>
              <a:t>Azure Synapse </a:t>
            </a:r>
            <a:br>
              <a:rPr lang="en-GB" sz="1600" dirty="0">
                <a:solidFill>
                  <a:srgbClr val="CBD5E1"/>
                </a:solidFill>
                <a:latin typeface="Calibri"/>
              </a:rPr>
            </a:br>
            <a:r>
              <a:rPr sz="1600" dirty="0">
                <a:solidFill>
                  <a:srgbClr val="CBD5E1"/>
                </a:solidFill>
                <a:latin typeface="Calibri"/>
              </a:rPr>
              <a:t>· Databricks </a:t>
            </a:r>
            <a:br>
              <a:rPr lang="en-GB" sz="1600" dirty="0">
                <a:solidFill>
                  <a:srgbClr val="CBD5E1"/>
                </a:solidFill>
                <a:latin typeface="Calibri"/>
              </a:rPr>
            </a:br>
            <a:r>
              <a:rPr sz="1600" dirty="0">
                <a:solidFill>
                  <a:srgbClr val="CBD5E1"/>
                </a:solidFill>
                <a:latin typeface="Calibri"/>
              </a:rPr>
              <a:t>· Element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0847" y="1914108"/>
            <a:ext cx="480010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B45309"/>
                </a:solidFill>
                <a:latin typeface="Calibri"/>
              </a:rPr>
              <a:t>FORECAST FRESHNESS HEATMAP — REGIONS × SKU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4955" y="2277034"/>
            <a:ext cx="633976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Calibri"/>
              </a:rPr>
              <a:t>Grocery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9447" y="2277034"/>
            <a:ext cx="633976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Calibri"/>
              </a:rPr>
              <a:t>Apparel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7144" y="2277034"/>
            <a:ext cx="996248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Calibri"/>
              </a:rPr>
              <a:t>Electronics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1252" y="2277034"/>
            <a:ext cx="362272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Calibri"/>
              </a:rPr>
              <a:t>Home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5744" y="2277034"/>
            <a:ext cx="543408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Calibri"/>
              </a:rPr>
              <a:t>Beauty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3441" y="2277034"/>
            <a:ext cx="72454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Calibri"/>
              </a:rPr>
              <a:t>Pharmacy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0754" y="2277034"/>
            <a:ext cx="362272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Calibri"/>
              </a:rPr>
              <a:t>Auto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2040" y="2277034"/>
            <a:ext cx="362272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Calibri"/>
              </a:rPr>
              <a:t>Toys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3327" y="2277034"/>
            <a:ext cx="633976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Calibri"/>
              </a:rPr>
              <a:t>Outdoor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54229" y="2277034"/>
            <a:ext cx="72454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Calibri"/>
              </a:rPr>
              <a:t>Seasonal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18337" y="2277034"/>
            <a:ext cx="29210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Calibri"/>
              </a:rPr>
              <a:t>Pet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33239" y="2588113"/>
            <a:ext cx="29210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1E293B"/>
                </a:solidFill>
                <a:latin typeface="Calibri"/>
              </a:rPr>
              <a:t>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81931" y="2899191"/>
            <a:ext cx="543408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1E293B"/>
                </a:solidFill>
                <a:latin typeface="Calibri"/>
              </a:rPr>
              <a:t>MidAtl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33239" y="3210270"/>
            <a:ext cx="29210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1E293B"/>
                </a:solidFill>
                <a:latin typeface="Calibri"/>
              </a:rPr>
              <a:t>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33239" y="3521349"/>
            <a:ext cx="29210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1E293B"/>
                </a:solidFill>
                <a:latin typeface="Calibri"/>
              </a:rPr>
              <a:t>MW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63067" y="3832428"/>
            <a:ext cx="362272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1E293B"/>
                </a:solidFill>
                <a:latin typeface="Calibri"/>
              </a:rPr>
              <a:t>Plns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2499" y="4143507"/>
            <a:ext cx="45284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1E293B"/>
                </a:solidFill>
                <a:latin typeface="Calibri"/>
              </a:rPr>
              <a:t>South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33239" y="4454586"/>
            <a:ext cx="29210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1E293B"/>
                </a:solidFill>
                <a:latin typeface="Calibri"/>
              </a:rPr>
              <a:t>SW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33239" y="4765665"/>
            <a:ext cx="29210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1E293B"/>
                </a:solidFill>
                <a:latin typeface="Calibri"/>
              </a:rPr>
              <a:t>Mtn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72499" y="5076743"/>
            <a:ext cx="45284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1E293B"/>
                </a:solidFill>
                <a:latin typeface="Calibri"/>
              </a:rPr>
              <a:t>PacNW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72499" y="5387822"/>
            <a:ext cx="45284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>
                <a:solidFill>
                  <a:srgbClr val="1E293B"/>
                </a:solidFill>
                <a:latin typeface="Calibri"/>
              </a:rPr>
              <a:t>Calif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68544" y="253540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9" name="Rounded Rectangle 48"/>
          <p:cNvSpPr/>
          <p:nvPr/>
        </p:nvSpPr>
        <p:spPr>
          <a:xfrm>
            <a:off x="5059831" y="253540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0" name="Rounded Rectangle 49"/>
          <p:cNvSpPr/>
          <p:nvPr/>
        </p:nvSpPr>
        <p:spPr>
          <a:xfrm>
            <a:off x="5751117" y="253540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1" name="Rounded Rectangle 50"/>
          <p:cNvSpPr/>
          <p:nvPr/>
        </p:nvSpPr>
        <p:spPr>
          <a:xfrm>
            <a:off x="6442403" y="253540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2" name="Rounded Rectangle 51"/>
          <p:cNvSpPr/>
          <p:nvPr/>
        </p:nvSpPr>
        <p:spPr>
          <a:xfrm>
            <a:off x="7133690" y="253540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3" name="Rounded Rectangle 52"/>
          <p:cNvSpPr/>
          <p:nvPr/>
        </p:nvSpPr>
        <p:spPr>
          <a:xfrm>
            <a:off x="7824976" y="253540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4" name="Rounded Rectangle 53"/>
          <p:cNvSpPr/>
          <p:nvPr/>
        </p:nvSpPr>
        <p:spPr>
          <a:xfrm>
            <a:off x="8516262" y="253540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5" name="Rounded Rectangle 54"/>
          <p:cNvSpPr/>
          <p:nvPr/>
        </p:nvSpPr>
        <p:spPr>
          <a:xfrm>
            <a:off x="9207549" y="253540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6" name="Rounded Rectangle 55"/>
          <p:cNvSpPr/>
          <p:nvPr/>
        </p:nvSpPr>
        <p:spPr>
          <a:xfrm>
            <a:off x="9898835" y="253540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7" name="Rounded Rectangle 56"/>
          <p:cNvSpPr/>
          <p:nvPr/>
        </p:nvSpPr>
        <p:spPr>
          <a:xfrm>
            <a:off x="10590121" y="253540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8" name="Rounded Rectangle 57"/>
          <p:cNvSpPr/>
          <p:nvPr/>
        </p:nvSpPr>
        <p:spPr>
          <a:xfrm>
            <a:off x="11281408" y="253540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9" name="Rounded Rectangle 58"/>
          <p:cNvSpPr/>
          <p:nvPr/>
        </p:nvSpPr>
        <p:spPr>
          <a:xfrm>
            <a:off x="11972694" y="253540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0" name="Rounded Rectangle 59"/>
          <p:cNvSpPr/>
          <p:nvPr/>
        </p:nvSpPr>
        <p:spPr>
          <a:xfrm>
            <a:off x="4368544" y="2846481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1" name="Rounded Rectangle 60"/>
          <p:cNvSpPr/>
          <p:nvPr/>
        </p:nvSpPr>
        <p:spPr>
          <a:xfrm>
            <a:off x="5059831" y="2846481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2" name="Rounded Rectangle 61"/>
          <p:cNvSpPr/>
          <p:nvPr/>
        </p:nvSpPr>
        <p:spPr>
          <a:xfrm>
            <a:off x="5751117" y="2846481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3" name="Rounded Rectangle 62"/>
          <p:cNvSpPr/>
          <p:nvPr/>
        </p:nvSpPr>
        <p:spPr>
          <a:xfrm>
            <a:off x="6442403" y="2846481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4" name="Rounded Rectangle 63"/>
          <p:cNvSpPr/>
          <p:nvPr/>
        </p:nvSpPr>
        <p:spPr>
          <a:xfrm>
            <a:off x="7133690" y="2846481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5" name="Rounded Rectangle 64"/>
          <p:cNvSpPr/>
          <p:nvPr/>
        </p:nvSpPr>
        <p:spPr>
          <a:xfrm>
            <a:off x="7824976" y="2846481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6" name="Rounded Rectangle 65"/>
          <p:cNvSpPr/>
          <p:nvPr/>
        </p:nvSpPr>
        <p:spPr>
          <a:xfrm>
            <a:off x="8516262" y="2846481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7" name="Rounded Rectangle 66"/>
          <p:cNvSpPr/>
          <p:nvPr/>
        </p:nvSpPr>
        <p:spPr>
          <a:xfrm>
            <a:off x="9207549" y="2846481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8" name="Rounded Rectangle 67"/>
          <p:cNvSpPr/>
          <p:nvPr/>
        </p:nvSpPr>
        <p:spPr>
          <a:xfrm>
            <a:off x="9898835" y="2846481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9" name="Rounded Rectangle 68"/>
          <p:cNvSpPr/>
          <p:nvPr/>
        </p:nvSpPr>
        <p:spPr>
          <a:xfrm>
            <a:off x="10590121" y="2846481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0" name="Rounded Rectangle 69"/>
          <p:cNvSpPr/>
          <p:nvPr/>
        </p:nvSpPr>
        <p:spPr>
          <a:xfrm>
            <a:off x="11281408" y="2846481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1" name="Rounded Rectangle 70"/>
          <p:cNvSpPr/>
          <p:nvPr/>
        </p:nvSpPr>
        <p:spPr>
          <a:xfrm>
            <a:off x="11972694" y="2846481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2" name="Rounded Rectangle 71"/>
          <p:cNvSpPr/>
          <p:nvPr/>
        </p:nvSpPr>
        <p:spPr>
          <a:xfrm>
            <a:off x="4368544" y="3157560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3" name="Rounded Rectangle 72"/>
          <p:cNvSpPr/>
          <p:nvPr/>
        </p:nvSpPr>
        <p:spPr>
          <a:xfrm>
            <a:off x="5059831" y="3157560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4" name="Rounded Rectangle 73"/>
          <p:cNvSpPr/>
          <p:nvPr/>
        </p:nvSpPr>
        <p:spPr>
          <a:xfrm>
            <a:off x="5751117" y="3157560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5" name="Rounded Rectangle 74"/>
          <p:cNvSpPr/>
          <p:nvPr/>
        </p:nvSpPr>
        <p:spPr>
          <a:xfrm>
            <a:off x="6442403" y="3157560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6" name="Rounded Rectangle 75"/>
          <p:cNvSpPr/>
          <p:nvPr/>
        </p:nvSpPr>
        <p:spPr>
          <a:xfrm>
            <a:off x="7133690" y="3157560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7" name="Rounded Rectangle 76"/>
          <p:cNvSpPr/>
          <p:nvPr/>
        </p:nvSpPr>
        <p:spPr>
          <a:xfrm>
            <a:off x="7824976" y="3157560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8" name="Rounded Rectangle 77"/>
          <p:cNvSpPr/>
          <p:nvPr/>
        </p:nvSpPr>
        <p:spPr>
          <a:xfrm>
            <a:off x="8516262" y="3157560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9" name="Rounded Rectangle 78"/>
          <p:cNvSpPr/>
          <p:nvPr/>
        </p:nvSpPr>
        <p:spPr>
          <a:xfrm>
            <a:off x="9207549" y="3157560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0" name="Rounded Rectangle 79"/>
          <p:cNvSpPr/>
          <p:nvPr/>
        </p:nvSpPr>
        <p:spPr>
          <a:xfrm>
            <a:off x="9898835" y="3157560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1" name="Rounded Rectangle 80"/>
          <p:cNvSpPr/>
          <p:nvPr/>
        </p:nvSpPr>
        <p:spPr>
          <a:xfrm>
            <a:off x="10590121" y="3157560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2" name="Rounded Rectangle 81"/>
          <p:cNvSpPr/>
          <p:nvPr/>
        </p:nvSpPr>
        <p:spPr>
          <a:xfrm>
            <a:off x="11281408" y="3157560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3" name="Rounded Rectangle 82"/>
          <p:cNvSpPr/>
          <p:nvPr/>
        </p:nvSpPr>
        <p:spPr>
          <a:xfrm>
            <a:off x="11972694" y="3157560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4" name="Rounded Rectangle 83"/>
          <p:cNvSpPr/>
          <p:nvPr/>
        </p:nvSpPr>
        <p:spPr>
          <a:xfrm>
            <a:off x="4368544" y="3468639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5" name="Rounded Rectangle 84"/>
          <p:cNvSpPr/>
          <p:nvPr/>
        </p:nvSpPr>
        <p:spPr>
          <a:xfrm>
            <a:off x="5059831" y="3468639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6" name="Rounded Rectangle 85"/>
          <p:cNvSpPr/>
          <p:nvPr/>
        </p:nvSpPr>
        <p:spPr>
          <a:xfrm>
            <a:off x="5751117" y="3468639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7" name="Rounded Rectangle 86"/>
          <p:cNvSpPr/>
          <p:nvPr/>
        </p:nvSpPr>
        <p:spPr>
          <a:xfrm>
            <a:off x="6442403" y="3468639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8" name="Rounded Rectangle 87"/>
          <p:cNvSpPr/>
          <p:nvPr/>
        </p:nvSpPr>
        <p:spPr>
          <a:xfrm>
            <a:off x="7133690" y="3468639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9" name="Rounded Rectangle 88"/>
          <p:cNvSpPr/>
          <p:nvPr/>
        </p:nvSpPr>
        <p:spPr>
          <a:xfrm>
            <a:off x="7824976" y="3468639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0" name="Rounded Rectangle 89"/>
          <p:cNvSpPr/>
          <p:nvPr/>
        </p:nvSpPr>
        <p:spPr>
          <a:xfrm>
            <a:off x="8516262" y="3468639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1" name="Rounded Rectangle 90"/>
          <p:cNvSpPr/>
          <p:nvPr/>
        </p:nvSpPr>
        <p:spPr>
          <a:xfrm>
            <a:off x="9207549" y="3468639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2" name="Rounded Rectangle 91"/>
          <p:cNvSpPr/>
          <p:nvPr/>
        </p:nvSpPr>
        <p:spPr>
          <a:xfrm>
            <a:off x="9898835" y="3468639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3" name="Rounded Rectangle 92"/>
          <p:cNvSpPr/>
          <p:nvPr/>
        </p:nvSpPr>
        <p:spPr>
          <a:xfrm>
            <a:off x="10590121" y="3468639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4" name="Rounded Rectangle 93"/>
          <p:cNvSpPr/>
          <p:nvPr/>
        </p:nvSpPr>
        <p:spPr>
          <a:xfrm>
            <a:off x="11281408" y="3468639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5" name="Rounded Rectangle 94"/>
          <p:cNvSpPr/>
          <p:nvPr/>
        </p:nvSpPr>
        <p:spPr>
          <a:xfrm>
            <a:off x="11972694" y="3468639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6" name="Rounded Rectangle 95"/>
          <p:cNvSpPr/>
          <p:nvPr/>
        </p:nvSpPr>
        <p:spPr>
          <a:xfrm>
            <a:off x="4368544" y="3779717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7" name="Rounded Rectangle 96"/>
          <p:cNvSpPr/>
          <p:nvPr/>
        </p:nvSpPr>
        <p:spPr>
          <a:xfrm>
            <a:off x="5059831" y="3779717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8" name="Rounded Rectangle 97"/>
          <p:cNvSpPr/>
          <p:nvPr/>
        </p:nvSpPr>
        <p:spPr>
          <a:xfrm>
            <a:off x="5751117" y="3779717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9" name="Rounded Rectangle 98"/>
          <p:cNvSpPr/>
          <p:nvPr/>
        </p:nvSpPr>
        <p:spPr>
          <a:xfrm>
            <a:off x="6442403" y="3779717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0" name="Rounded Rectangle 99"/>
          <p:cNvSpPr/>
          <p:nvPr/>
        </p:nvSpPr>
        <p:spPr>
          <a:xfrm>
            <a:off x="7133690" y="3779717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1" name="Rounded Rectangle 100"/>
          <p:cNvSpPr/>
          <p:nvPr/>
        </p:nvSpPr>
        <p:spPr>
          <a:xfrm>
            <a:off x="7824976" y="3779717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2" name="Rounded Rectangle 101"/>
          <p:cNvSpPr/>
          <p:nvPr/>
        </p:nvSpPr>
        <p:spPr>
          <a:xfrm>
            <a:off x="8516262" y="3779717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3" name="Rounded Rectangle 102"/>
          <p:cNvSpPr/>
          <p:nvPr/>
        </p:nvSpPr>
        <p:spPr>
          <a:xfrm>
            <a:off x="9207549" y="3779717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4" name="Rounded Rectangle 103"/>
          <p:cNvSpPr/>
          <p:nvPr/>
        </p:nvSpPr>
        <p:spPr>
          <a:xfrm>
            <a:off x="9898835" y="3779717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5" name="Rounded Rectangle 104"/>
          <p:cNvSpPr/>
          <p:nvPr/>
        </p:nvSpPr>
        <p:spPr>
          <a:xfrm>
            <a:off x="10590121" y="3779717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6" name="Rounded Rectangle 105"/>
          <p:cNvSpPr/>
          <p:nvPr/>
        </p:nvSpPr>
        <p:spPr>
          <a:xfrm>
            <a:off x="11281408" y="3779717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7" name="Rounded Rectangle 106"/>
          <p:cNvSpPr/>
          <p:nvPr/>
        </p:nvSpPr>
        <p:spPr>
          <a:xfrm>
            <a:off x="11972694" y="3779717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8" name="Rounded Rectangle 107"/>
          <p:cNvSpPr/>
          <p:nvPr/>
        </p:nvSpPr>
        <p:spPr>
          <a:xfrm>
            <a:off x="4368544" y="4090796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9" name="Rounded Rectangle 108"/>
          <p:cNvSpPr/>
          <p:nvPr/>
        </p:nvSpPr>
        <p:spPr>
          <a:xfrm>
            <a:off x="5059831" y="4090796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0" name="Rounded Rectangle 109"/>
          <p:cNvSpPr/>
          <p:nvPr/>
        </p:nvSpPr>
        <p:spPr>
          <a:xfrm>
            <a:off x="5751117" y="4090796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1" name="Rounded Rectangle 110"/>
          <p:cNvSpPr/>
          <p:nvPr/>
        </p:nvSpPr>
        <p:spPr>
          <a:xfrm>
            <a:off x="6442403" y="4090796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2" name="Rounded Rectangle 111"/>
          <p:cNvSpPr/>
          <p:nvPr/>
        </p:nvSpPr>
        <p:spPr>
          <a:xfrm>
            <a:off x="7133690" y="4090796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3" name="Rounded Rectangle 112"/>
          <p:cNvSpPr/>
          <p:nvPr/>
        </p:nvSpPr>
        <p:spPr>
          <a:xfrm>
            <a:off x="7824976" y="4090796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4" name="Rounded Rectangle 113"/>
          <p:cNvSpPr/>
          <p:nvPr/>
        </p:nvSpPr>
        <p:spPr>
          <a:xfrm>
            <a:off x="8516262" y="4090796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5" name="Rounded Rectangle 114"/>
          <p:cNvSpPr/>
          <p:nvPr/>
        </p:nvSpPr>
        <p:spPr>
          <a:xfrm>
            <a:off x="9207549" y="4090796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6" name="Rounded Rectangle 115"/>
          <p:cNvSpPr/>
          <p:nvPr/>
        </p:nvSpPr>
        <p:spPr>
          <a:xfrm>
            <a:off x="9898835" y="4090796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7" name="Rounded Rectangle 116"/>
          <p:cNvSpPr/>
          <p:nvPr/>
        </p:nvSpPr>
        <p:spPr>
          <a:xfrm>
            <a:off x="10590121" y="4090796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8" name="Rounded Rectangle 117"/>
          <p:cNvSpPr/>
          <p:nvPr/>
        </p:nvSpPr>
        <p:spPr>
          <a:xfrm>
            <a:off x="11281408" y="4090796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9" name="Rounded Rectangle 118"/>
          <p:cNvSpPr/>
          <p:nvPr/>
        </p:nvSpPr>
        <p:spPr>
          <a:xfrm>
            <a:off x="11972694" y="4090796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0" name="Rounded Rectangle 119"/>
          <p:cNvSpPr/>
          <p:nvPr/>
        </p:nvSpPr>
        <p:spPr>
          <a:xfrm>
            <a:off x="4368544" y="4401875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1" name="Rounded Rectangle 120"/>
          <p:cNvSpPr/>
          <p:nvPr/>
        </p:nvSpPr>
        <p:spPr>
          <a:xfrm>
            <a:off x="5059831" y="4401875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2" name="Rounded Rectangle 121"/>
          <p:cNvSpPr/>
          <p:nvPr/>
        </p:nvSpPr>
        <p:spPr>
          <a:xfrm>
            <a:off x="5751117" y="4401875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3" name="Rounded Rectangle 122"/>
          <p:cNvSpPr/>
          <p:nvPr/>
        </p:nvSpPr>
        <p:spPr>
          <a:xfrm>
            <a:off x="6442403" y="4401875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4" name="Rounded Rectangle 123"/>
          <p:cNvSpPr/>
          <p:nvPr/>
        </p:nvSpPr>
        <p:spPr>
          <a:xfrm>
            <a:off x="7133690" y="4401875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5" name="Rounded Rectangle 124"/>
          <p:cNvSpPr/>
          <p:nvPr/>
        </p:nvSpPr>
        <p:spPr>
          <a:xfrm>
            <a:off x="7824976" y="4401875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6" name="Rounded Rectangle 125"/>
          <p:cNvSpPr/>
          <p:nvPr/>
        </p:nvSpPr>
        <p:spPr>
          <a:xfrm>
            <a:off x="8516262" y="4401875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7" name="Rounded Rectangle 126"/>
          <p:cNvSpPr/>
          <p:nvPr/>
        </p:nvSpPr>
        <p:spPr>
          <a:xfrm>
            <a:off x="9207549" y="4401875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8" name="Rounded Rectangle 127"/>
          <p:cNvSpPr/>
          <p:nvPr/>
        </p:nvSpPr>
        <p:spPr>
          <a:xfrm>
            <a:off x="9898835" y="4401875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9" name="Rounded Rectangle 128"/>
          <p:cNvSpPr/>
          <p:nvPr/>
        </p:nvSpPr>
        <p:spPr>
          <a:xfrm>
            <a:off x="10590121" y="4401875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0" name="Rounded Rectangle 129"/>
          <p:cNvSpPr/>
          <p:nvPr/>
        </p:nvSpPr>
        <p:spPr>
          <a:xfrm>
            <a:off x="11281408" y="4401875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1" name="Rounded Rectangle 130"/>
          <p:cNvSpPr/>
          <p:nvPr/>
        </p:nvSpPr>
        <p:spPr>
          <a:xfrm>
            <a:off x="11972694" y="4401875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2" name="Rounded Rectangle 131"/>
          <p:cNvSpPr/>
          <p:nvPr/>
        </p:nvSpPr>
        <p:spPr>
          <a:xfrm>
            <a:off x="4368544" y="4712954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3" name="Rounded Rectangle 132"/>
          <p:cNvSpPr/>
          <p:nvPr/>
        </p:nvSpPr>
        <p:spPr>
          <a:xfrm>
            <a:off x="5059831" y="4712954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4" name="Rounded Rectangle 133"/>
          <p:cNvSpPr/>
          <p:nvPr/>
        </p:nvSpPr>
        <p:spPr>
          <a:xfrm>
            <a:off x="5751117" y="4712954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5" name="Rounded Rectangle 134"/>
          <p:cNvSpPr/>
          <p:nvPr/>
        </p:nvSpPr>
        <p:spPr>
          <a:xfrm>
            <a:off x="6442403" y="4712954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6" name="Rounded Rectangle 135"/>
          <p:cNvSpPr/>
          <p:nvPr/>
        </p:nvSpPr>
        <p:spPr>
          <a:xfrm>
            <a:off x="7133690" y="4712954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7" name="Rounded Rectangle 136"/>
          <p:cNvSpPr/>
          <p:nvPr/>
        </p:nvSpPr>
        <p:spPr>
          <a:xfrm>
            <a:off x="7824976" y="4712954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8" name="Rounded Rectangle 137"/>
          <p:cNvSpPr/>
          <p:nvPr/>
        </p:nvSpPr>
        <p:spPr>
          <a:xfrm>
            <a:off x="8516262" y="4712954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9" name="Rounded Rectangle 138"/>
          <p:cNvSpPr/>
          <p:nvPr/>
        </p:nvSpPr>
        <p:spPr>
          <a:xfrm>
            <a:off x="9207549" y="4712954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0" name="Rounded Rectangle 139"/>
          <p:cNvSpPr/>
          <p:nvPr/>
        </p:nvSpPr>
        <p:spPr>
          <a:xfrm>
            <a:off x="9898835" y="4712954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1" name="Rounded Rectangle 140"/>
          <p:cNvSpPr/>
          <p:nvPr/>
        </p:nvSpPr>
        <p:spPr>
          <a:xfrm>
            <a:off x="10590121" y="4712954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2" name="Rounded Rectangle 141"/>
          <p:cNvSpPr/>
          <p:nvPr/>
        </p:nvSpPr>
        <p:spPr>
          <a:xfrm>
            <a:off x="11281408" y="4712954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3" name="Rounded Rectangle 142"/>
          <p:cNvSpPr/>
          <p:nvPr/>
        </p:nvSpPr>
        <p:spPr>
          <a:xfrm>
            <a:off x="11972694" y="4712954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4" name="Rounded Rectangle 143"/>
          <p:cNvSpPr/>
          <p:nvPr/>
        </p:nvSpPr>
        <p:spPr>
          <a:xfrm>
            <a:off x="4368544" y="5024033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5" name="Rounded Rectangle 144"/>
          <p:cNvSpPr/>
          <p:nvPr/>
        </p:nvSpPr>
        <p:spPr>
          <a:xfrm>
            <a:off x="5059831" y="5024033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6" name="Rounded Rectangle 145"/>
          <p:cNvSpPr/>
          <p:nvPr/>
        </p:nvSpPr>
        <p:spPr>
          <a:xfrm>
            <a:off x="5751117" y="5024033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7" name="Rounded Rectangle 146"/>
          <p:cNvSpPr/>
          <p:nvPr/>
        </p:nvSpPr>
        <p:spPr>
          <a:xfrm>
            <a:off x="6442403" y="5024033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8" name="Rounded Rectangle 147"/>
          <p:cNvSpPr/>
          <p:nvPr/>
        </p:nvSpPr>
        <p:spPr>
          <a:xfrm>
            <a:off x="7133690" y="5024033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9" name="Rounded Rectangle 148"/>
          <p:cNvSpPr/>
          <p:nvPr/>
        </p:nvSpPr>
        <p:spPr>
          <a:xfrm>
            <a:off x="7824976" y="5024033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0" name="Rounded Rectangle 149"/>
          <p:cNvSpPr/>
          <p:nvPr/>
        </p:nvSpPr>
        <p:spPr>
          <a:xfrm>
            <a:off x="8516262" y="5024033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1" name="Rounded Rectangle 150"/>
          <p:cNvSpPr/>
          <p:nvPr/>
        </p:nvSpPr>
        <p:spPr>
          <a:xfrm>
            <a:off x="9207549" y="5024033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2" name="Rounded Rectangle 151"/>
          <p:cNvSpPr/>
          <p:nvPr/>
        </p:nvSpPr>
        <p:spPr>
          <a:xfrm>
            <a:off x="9898835" y="5024033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3" name="Rounded Rectangle 152"/>
          <p:cNvSpPr/>
          <p:nvPr/>
        </p:nvSpPr>
        <p:spPr>
          <a:xfrm>
            <a:off x="10590121" y="5024033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4" name="Rounded Rectangle 153"/>
          <p:cNvSpPr/>
          <p:nvPr/>
        </p:nvSpPr>
        <p:spPr>
          <a:xfrm>
            <a:off x="11281408" y="5024033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5" name="Rounded Rectangle 154"/>
          <p:cNvSpPr/>
          <p:nvPr/>
        </p:nvSpPr>
        <p:spPr>
          <a:xfrm>
            <a:off x="11972694" y="5024033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6" name="Rounded Rectangle 155"/>
          <p:cNvSpPr/>
          <p:nvPr/>
        </p:nvSpPr>
        <p:spPr>
          <a:xfrm>
            <a:off x="4368544" y="533511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7" name="Rounded Rectangle 156"/>
          <p:cNvSpPr/>
          <p:nvPr/>
        </p:nvSpPr>
        <p:spPr>
          <a:xfrm>
            <a:off x="5059831" y="533511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8" name="Rounded Rectangle 157"/>
          <p:cNvSpPr/>
          <p:nvPr/>
        </p:nvSpPr>
        <p:spPr>
          <a:xfrm>
            <a:off x="5751117" y="533511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9" name="Rounded Rectangle 158"/>
          <p:cNvSpPr/>
          <p:nvPr/>
        </p:nvSpPr>
        <p:spPr>
          <a:xfrm>
            <a:off x="6442403" y="533511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0" name="Rounded Rectangle 159"/>
          <p:cNvSpPr/>
          <p:nvPr/>
        </p:nvSpPr>
        <p:spPr>
          <a:xfrm>
            <a:off x="7133690" y="533511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1" name="Rounded Rectangle 160"/>
          <p:cNvSpPr/>
          <p:nvPr/>
        </p:nvSpPr>
        <p:spPr>
          <a:xfrm>
            <a:off x="7824976" y="533511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2" name="Rounded Rectangle 161"/>
          <p:cNvSpPr/>
          <p:nvPr/>
        </p:nvSpPr>
        <p:spPr>
          <a:xfrm>
            <a:off x="8516262" y="533511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3" name="Rounded Rectangle 162"/>
          <p:cNvSpPr/>
          <p:nvPr/>
        </p:nvSpPr>
        <p:spPr>
          <a:xfrm>
            <a:off x="9207549" y="533511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4" name="Rounded Rectangle 163"/>
          <p:cNvSpPr/>
          <p:nvPr/>
        </p:nvSpPr>
        <p:spPr>
          <a:xfrm>
            <a:off x="9898835" y="533511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5" name="Rounded Rectangle 164"/>
          <p:cNvSpPr/>
          <p:nvPr/>
        </p:nvSpPr>
        <p:spPr>
          <a:xfrm>
            <a:off x="10590121" y="533511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6" name="Rounded Rectangle 165"/>
          <p:cNvSpPr/>
          <p:nvPr/>
        </p:nvSpPr>
        <p:spPr>
          <a:xfrm>
            <a:off x="11281408" y="533511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7" name="Rounded Rectangle 166"/>
          <p:cNvSpPr/>
          <p:nvPr/>
        </p:nvSpPr>
        <p:spPr>
          <a:xfrm>
            <a:off x="11972694" y="5335112"/>
            <a:ext cx="656722" cy="241950"/>
          </a:xfrm>
          <a:prstGeom prst="roundRect">
            <a:avLst>
              <a:gd name="adj" fmla="val 10714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8" name="TextBox 167"/>
          <p:cNvSpPr txBox="1"/>
          <p:nvPr/>
        </p:nvSpPr>
        <p:spPr>
          <a:xfrm>
            <a:off x="4368544" y="5713591"/>
            <a:ext cx="1407685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Demand intensity: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491885" y="5715319"/>
            <a:ext cx="190103" cy="103692"/>
          </a:xfrm>
          <a:prstGeom prst="roundRect">
            <a:avLst>
              <a:gd name="adj" fmla="val 16666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0" name="Rounded Rectangle 169"/>
          <p:cNvSpPr/>
          <p:nvPr/>
        </p:nvSpPr>
        <p:spPr>
          <a:xfrm>
            <a:off x="5699270" y="5715319"/>
            <a:ext cx="190103" cy="103692"/>
          </a:xfrm>
          <a:prstGeom prst="roundRect">
            <a:avLst>
              <a:gd name="adj" fmla="val 16666"/>
            </a:avLst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1" name="Rounded Rectangle 170"/>
          <p:cNvSpPr/>
          <p:nvPr/>
        </p:nvSpPr>
        <p:spPr>
          <a:xfrm>
            <a:off x="5906656" y="5715319"/>
            <a:ext cx="190103" cy="103692"/>
          </a:xfrm>
          <a:prstGeom prst="roundRect">
            <a:avLst>
              <a:gd name="adj" fmla="val 16666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2" name="Rounded Rectangle 171"/>
          <p:cNvSpPr/>
          <p:nvPr/>
        </p:nvSpPr>
        <p:spPr>
          <a:xfrm>
            <a:off x="6114042" y="5715319"/>
            <a:ext cx="190103" cy="103692"/>
          </a:xfrm>
          <a:prstGeom prst="roundRect">
            <a:avLst>
              <a:gd name="adj" fmla="val 16666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3" name="Rounded Rectangle 172"/>
          <p:cNvSpPr/>
          <p:nvPr/>
        </p:nvSpPr>
        <p:spPr>
          <a:xfrm>
            <a:off x="6321428" y="5715319"/>
            <a:ext cx="190103" cy="103692"/>
          </a:xfrm>
          <a:prstGeom prst="roundRect">
            <a:avLst>
              <a:gd name="adj" fmla="val 16666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4" name="Rounded Rectangle 173"/>
          <p:cNvSpPr/>
          <p:nvPr/>
        </p:nvSpPr>
        <p:spPr>
          <a:xfrm>
            <a:off x="6528814" y="5715319"/>
            <a:ext cx="190103" cy="103692"/>
          </a:xfrm>
          <a:prstGeom prst="roundRect">
            <a:avLst>
              <a:gd name="adj" fmla="val 16666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5" name="Rounded Rectangle 174"/>
          <p:cNvSpPr/>
          <p:nvPr/>
        </p:nvSpPr>
        <p:spPr>
          <a:xfrm>
            <a:off x="6736200" y="5715319"/>
            <a:ext cx="190103" cy="103692"/>
          </a:xfrm>
          <a:prstGeom prst="roundRect">
            <a:avLst>
              <a:gd name="adj" fmla="val 16666"/>
            </a:avLst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6" name="TextBox 175"/>
          <p:cNvSpPr txBox="1"/>
          <p:nvPr/>
        </p:nvSpPr>
        <p:spPr>
          <a:xfrm>
            <a:off x="6995432" y="5713591"/>
            <a:ext cx="82805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Calibri"/>
              </a:rPr>
              <a:t>low → high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221355" y="5713591"/>
            <a:ext cx="5133912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i="1">
                <a:solidFill>
                  <a:srgbClr val="94A3B8"/>
                </a:solidFill>
                <a:latin typeface="Calibri"/>
              </a:rPr>
              <a:t>Each cell = ~10K stores × 5K SKUs · refreshed every 15 minutes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566469" y="6526605"/>
            <a:ext cx="12788797" cy="1106058"/>
          </a:xfrm>
          <a:prstGeom prst="roundRect">
            <a:avLst>
              <a:gd name="adj" fmla="val 10937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9" name="Rectangle 178"/>
          <p:cNvSpPr/>
          <p:nvPr/>
        </p:nvSpPr>
        <p:spPr>
          <a:xfrm>
            <a:off x="566469" y="6526605"/>
            <a:ext cx="69128" cy="110605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0" name="TextBox 179"/>
          <p:cNvSpPr txBox="1"/>
          <p:nvPr/>
        </p:nvSpPr>
        <p:spPr>
          <a:xfrm>
            <a:off x="842984" y="6726214"/>
            <a:ext cx="226420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Calibri"/>
              </a:rPr>
              <a:t>WHY MICRO-BATCH WINS HERE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42984" y="7013098"/>
            <a:ext cx="11656781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Calibri"/>
              </a:rPr>
              <a:t>Demand changes in hours · not milliseconds.  Forecasts refresh in 15 min · not 100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ms.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842984" y="7357013"/>
            <a:ext cx="8785097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CBD5E1"/>
                </a:solidFill>
                <a:latin typeface="Calibri"/>
              </a:rPr>
              <a:t>1% inventory-turnover lift on $648B revenue = $6.5B.  Real-time would 100× the cost, 0× the lift.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062084" y="7950655"/>
            <a:ext cx="6293183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Calibri"/>
              </a:rPr>
              <a:t>Source: Walmart Tech blog · NRF + AWS re:Invent talks · public earnings 2023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3578840" y="1714500"/>
            <a:ext cx="4183379" cy="754380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3578840" y="1714500"/>
            <a:ext cx="109728" cy="7543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3825728" y="1741932"/>
            <a:ext cx="3730752" cy="38404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MICRO-BATCH TIER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3825728" y="2057400"/>
            <a:ext cx="3730752" cy="38404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A7F3D0"/>
                </a:solidFill>
                <a:latin typeface="Calibri"/>
              </a:rPr>
              <a:t>sec → min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578840" y="2674620"/>
            <a:ext cx="4183379" cy="38404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500" b="1" i="0">
                <a:solidFill>
                  <a:srgbClr val="115E59"/>
                </a:solidFill>
                <a:latin typeface="Calibri"/>
              </a:rPr>
              <a:t>WHAT HAPPENED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3578840" y="3044952"/>
            <a:ext cx="4183379" cy="25374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500" b="0" i="0">
                <a:solidFill>
                  <a:srgbClr val="26456E"/>
                </a:solidFill>
                <a:latin typeface="Calibri"/>
              </a:rPr>
              <a:t>Inventory forecasting produces ~500M SKU-store-day forecasts every day, refreshed in micro-batches as POS data arrives. Stack: Azure Synapse, Databricks, in-house Element ML platform. Double-digit % reductions in stockouts and waste.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3758840" y="4659566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15E59"/>
                </a:solidFill>
                <a:latin typeface="Calibri"/>
              </a:rPr>
              <a:t>TALKING POINTS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3758840" y="5039566"/>
            <a:ext cx="3823379" cy="563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▸ </a:t>
            </a:r>
            <a:r>
              <a:rPr sz="1500">
                <a:solidFill>
                  <a:srgbClr val="26456E"/>
                </a:solidFill>
                <a:latin typeface="Calibri"/>
              </a:rPr>
              <a:t>500M forecasts/day = ~50K SKUs × 10,500 stores, refreshed at POS speed.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▸ </a:t>
            </a:r>
            <a:r>
              <a:rPr sz="1500">
                <a:solidFill>
                  <a:srgbClr val="26456E"/>
                </a:solidFill>
                <a:latin typeface="Calibri"/>
              </a:rPr>
              <a:t>Demand patterns don't change in ms — they change in hours. Micro-batch is correct.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▸ </a:t>
            </a:r>
            <a:r>
              <a:rPr sz="1500">
                <a:solidFill>
                  <a:srgbClr val="26456E"/>
                </a:solidFill>
                <a:latin typeface="Calibri"/>
              </a:rPr>
              <a:t>$648B revenue — 1% inventory turnover improvement is worth more than most companies' total revenue.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3578840" y="7132320"/>
            <a:ext cx="4183379" cy="13716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13578840" y="7132320"/>
            <a:ext cx="109728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13825728" y="7187184"/>
            <a:ext cx="3771900" cy="1261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INSIGHT  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Even retail — most boring industry — generates billions from a well-tuned micro-batch platform.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344400" y="0"/>
            <a:ext cx="5943142" cy="10287000"/>
          </a:xfrm>
          <a:prstGeom prst="rect">
            <a:avLst/>
          </a:prstGeom>
          <a:solidFill>
            <a:srgbClr val="14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0" y="2236350"/>
            <a:ext cx="5897879" cy="553997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lang="en-GB" sz="36000" b="1" dirty="0">
                <a:solidFill>
                  <a:srgbClr val="2A4A73"/>
                </a:solidFill>
                <a:latin typeface="Calibri"/>
              </a:rPr>
              <a:t>6</a:t>
            </a:r>
            <a:endParaRPr sz="36000" b="1" i="0" dirty="0">
              <a:solidFill>
                <a:srgbClr val="2A4A7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754380"/>
            <a:ext cx="1097280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DATA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316736"/>
            <a:ext cx="16047719" cy="8000"/>
          </a:xfrm>
          <a:prstGeom prst="rect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291839"/>
            <a:ext cx="10972800" cy="6858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100" b="1" i="0">
                <a:solidFill>
                  <a:srgbClr val="0F766E"/>
                </a:solidFill>
                <a:latin typeface="Calibri"/>
              </a:rPr>
              <a:t>TIER 3 · BATCH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183379"/>
            <a:ext cx="2194560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526279"/>
            <a:ext cx="10972800" cy="329183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8100" b="1" i="0">
                <a:solidFill>
                  <a:srgbClr val="FFFFFF"/>
                </a:solidFill>
                <a:latin typeface="Calibri"/>
              </a:rPr>
              <a:t>Hours to Days</a:t>
            </a:r>
          </a:p>
        </p:txBody>
      </p:sp>
      <p:pic>
        <p:nvPicPr>
          <p:cNvPr id="12" name="Picture 11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532010-61DB-DCEA-2020-458635809FAE}"/>
              </a:ext>
            </a:extLst>
          </p:cNvPr>
          <p:cNvSpPr txBox="1"/>
          <p:nvPr/>
        </p:nvSpPr>
        <p:spPr>
          <a:xfrm>
            <a:off x="1097280" y="8023859"/>
            <a:ext cx="10972800" cy="830997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700" b="0" i="1" dirty="0">
                <a:solidFill>
                  <a:srgbClr val="A7F3D0"/>
                </a:solidFill>
                <a:latin typeface="Calibri"/>
              </a:rPr>
              <a:t>Where the most profitable workloads live </a:t>
            </a:r>
            <a:r>
              <a:rPr lang="en-GB" sz="2700" b="0" i="1" dirty="0">
                <a:solidFill>
                  <a:srgbClr val="A7F3D0"/>
                </a:solidFill>
                <a:latin typeface="Calibri"/>
              </a:rPr>
              <a:t>-</a:t>
            </a:r>
            <a:r>
              <a:rPr sz="2700" b="0" i="1" dirty="0">
                <a:solidFill>
                  <a:srgbClr val="A7F3D0"/>
                </a:solidFill>
                <a:latin typeface="Calibri"/>
              </a:rPr>
              <a:t> and where most companies should start.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09728"/>
            <a:ext cx="1687068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600M Users · Discover Weekly Every Monday at 5am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469" y="1800910"/>
            <a:ext cx="2765145" cy="1468983"/>
          </a:xfrm>
          <a:prstGeom prst="roundRect">
            <a:avLst>
              <a:gd name="adj" fmla="val 12941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2984" y="2094275"/>
            <a:ext cx="448527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90" b="1">
                <a:solidFill>
                  <a:srgbClr val="A7F3D0"/>
                </a:solidFill>
                <a:latin typeface="Calibri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984" y="2397145"/>
            <a:ext cx="1478661" cy="8295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082" b="1">
                <a:solidFill>
                  <a:srgbClr val="FFFFFF"/>
                </a:solidFill>
                <a:latin typeface="Calibri"/>
              </a:rPr>
              <a:t>615M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984" y="2994243"/>
            <a:ext cx="2440060" cy="16676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CBD5E1"/>
                </a:solidFill>
                <a:latin typeface="Calibri"/>
              </a:rPr>
              <a:t>monthly · 240M paid · since 2015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469" y="3822723"/>
            <a:ext cx="2765145" cy="1555395"/>
          </a:xfrm>
          <a:prstGeom prst="roundRect">
            <a:avLst>
              <a:gd name="adj" fmla="val 12941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2984" y="4067962"/>
            <a:ext cx="1076465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90" b="1" dirty="0">
                <a:solidFill>
                  <a:srgbClr val="A7F3D0"/>
                </a:solidFill>
                <a:latin typeface="Calibri"/>
              </a:rPr>
              <a:t>CHURN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984" y="4277697"/>
            <a:ext cx="1774393" cy="6636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265" b="1" dirty="0">
                <a:solidFill>
                  <a:srgbClr val="FFFFFF"/>
                </a:solidFill>
                <a:latin typeface="Calibri"/>
              </a:rPr>
              <a:t>~50%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564" y="4743352"/>
            <a:ext cx="2440060" cy="1334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A7F3D0"/>
                </a:solidFill>
                <a:latin typeface="Calibri"/>
              </a:rPr>
              <a:t>lower churn for users of </a:t>
            </a:r>
            <a:br>
              <a:rPr lang="en-GB" sz="1400" dirty="0">
                <a:solidFill>
                  <a:srgbClr val="A7F3D0"/>
                </a:solidFill>
                <a:latin typeface="Calibri"/>
              </a:rPr>
            </a:br>
            <a:r>
              <a:rPr sz="1400" dirty="0">
                <a:solidFill>
                  <a:srgbClr val="A7F3D0"/>
                </a:solidFill>
                <a:latin typeface="Calibri"/>
              </a:rPr>
              <a:t>Discover Weekly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564" y="5116449"/>
            <a:ext cx="2440060" cy="1721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A7F3D0"/>
                </a:solidFill>
                <a:latin typeface="Calibri"/>
              </a:rPr>
              <a:t>≈ $1.5B retained revenue / 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469" y="5915790"/>
            <a:ext cx="2765145" cy="1209751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2984" y="6154075"/>
            <a:ext cx="807349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THE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984" y="6405962"/>
            <a:ext cx="226420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26456E"/>
                </a:solidFill>
                <a:latin typeface="Calibri"/>
              </a:rPr>
              <a:t>GCP · </a:t>
            </a:r>
            <a:r>
              <a:rPr sz="1600" b="1" dirty="0" err="1">
                <a:solidFill>
                  <a:srgbClr val="26456E"/>
                </a:solidFill>
                <a:latin typeface="Calibri"/>
              </a:rPr>
              <a:t>BigQuery</a:t>
            </a:r>
            <a:r>
              <a:rPr sz="1600" b="1" dirty="0">
                <a:solidFill>
                  <a:srgbClr val="26456E"/>
                </a:solidFill>
                <a:latin typeface="Calibri"/>
              </a:rPr>
              <a:t> · Dataflow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984" y="6604707"/>
            <a:ext cx="163022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26456E"/>
                </a:solidFill>
                <a:latin typeface="Calibri"/>
              </a:rPr>
              <a:t>TensorFlow · Spark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984" y="6852706"/>
            <a:ext cx="2440060" cy="1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i="1" dirty="0">
                <a:solidFill>
                  <a:srgbClr val="475569"/>
                </a:solidFill>
                <a:latin typeface="Calibri"/>
              </a:rPr>
              <a:t>≈ $200K / year compute · 615M playlists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7258" y="1914108"/>
            <a:ext cx="5977489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115E59"/>
                </a:solidFill>
                <a:latin typeface="Calibri"/>
              </a:rPr>
              <a:t>THE WEEKLY CADENCE  —  ONE BATCH JOB · 615 MILLION FRESH PLAYLISTS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77258" y="2232964"/>
            <a:ext cx="1339367" cy="864108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17282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96571" y="2396713"/>
            <a:ext cx="292100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 dirty="0">
                <a:solidFill>
                  <a:srgbClr val="115E59"/>
                </a:solidFill>
                <a:latin typeface="Calibri"/>
              </a:rPr>
              <a:t>MON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2898" y="2610147"/>
            <a:ext cx="1059446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listen + skip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1402" y="2757046"/>
            <a:ext cx="122243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dirty="0">
                <a:solidFill>
                  <a:srgbClr val="475569"/>
                </a:solidFill>
                <a:latin typeface="Calibri"/>
              </a:rPr>
              <a:t>events captured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03036" y="2232964"/>
            <a:ext cx="1339367" cy="864108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17282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22349" y="2396713"/>
            <a:ext cx="292100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115E59"/>
                </a:solidFill>
                <a:latin typeface="Calibri"/>
              </a:rPr>
              <a:t>TUE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8676" y="2610147"/>
            <a:ext cx="1059446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events stream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0652" y="2757046"/>
            <a:ext cx="1255495" cy="1716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to BigQuery lake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28814" y="2232964"/>
            <a:ext cx="1339367" cy="864108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17282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8127" y="2396713"/>
            <a:ext cx="292100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115E59"/>
                </a:solidFill>
                <a:latin typeface="Calibri"/>
              </a:rPr>
              <a:t>WED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6430" y="2610147"/>
            <a:ext cx="1255495" cy="161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… still streaming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6430" y="2757046"/>
            <a:ext cx="1255495" cy="161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no model runs yet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4592" y="2232964"/>
            <a:ext cx="1339367" cy="864108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17282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73905" y="2396713"/>
            <a:ext cx="292100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115E59"/>
                </a:solidFill>
                <a:latin typeface="Calibri"/>
              </a:rPr>
              <a:t>THU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92208" y="2610147"/>
            <a:ext cx="1255495" cy="1615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… still streaming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2208" y="2757046"/>
            <a:ext cx="1255495" cy="1525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aggregations build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80370" y="2232964"/>
            <a:ext cx="1339367" cy="864108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17282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99683" y="2396713"/>
            <a:ext cx="292100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115E59"/>
                </a:solidFill>
                <a:latin typeface="Calibri"/>
              </a:rPr>
              <a:t>FRI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7986" y="2610147"/>
            <a:ext cx="1255495" cy="1525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user signals snap-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34514" y="2757046"/>
            <a:ext cx="122243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shotted nightly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06148" y="2232964"/>
            <a:ext cx="1339367" cy="864108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17282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325461" y="2396713"/>
            <a:ext cx="292100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115E59"/>
                </a:solidFill>
                <a:latin typeface="Calibri"/>
              </a:rPr>
              <a:t>SAT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82536" y="2610147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aggregations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45528" y="2757046"/>
            <a:ext cx="651967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>
                <a:solidFill>
                  <a:srgbClr val="475569"/>
                </a:solidFill>
                <a:latin typeface="Calibri"/>
              </a:rPr>
              <a:t>complete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231926" y="2189759"/>
            <a:ext cx="1123340" cy="777697"/>
          </a:xfrm>
          <a:prstGeom prst="roundRect">
            <a:avLst>
              <a:gd name="adj" fmla="val 11111"/>
            </a:avLst>
          </a:prstGeom>
          <a:solidFill>
            <a:srgbClr val="115E59"/>
          </a:solidFill>
          <a:ln w="25923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2647547" y="2353507"/>
            <a:ext cx="292100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90" b="1">
                <a:solidFill>
                  <a:srgbClr val="FBBF24"/>
                </a:solidFill>
                <a:latin typeface="Calibri"/>
              </a:rPr>
              <a:t>SUN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551005" y="2537562"/>
            <a:ext cx="485185" cy="2177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71" b="1">
                <a:solidFill>
                  <a:srgbClr val="FFFFFF"/>
                </a:solidFill>
                <a:latin typeface="Calibri"/>
              </a:rPr>
              <a:t>BATCH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647547" y="2710384"/>
            <a:ext cx="292100" cy="2177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71" b="1">
                <a:solidFill>
                  <a:srgbClr val="FFFFFF"/>
                </a:solidFill>
                <a:latin typeface="Calibri"/>
              </a:rPr>
              <a:t>JOB</a:t>
            </a:r>
          </a:p>
        </p:txBody>
      </p:sp>
      <p:sp>
        <p:nvSpPr>
          <p:cNvPr id="52" name="Freeform 51"/>
          <p:cNvSpPr/>
          <p:nvPr/>
        </p:nvSpPr>
        <p:spPr>
          <a:xfrm>
            <a:off x="6096760" y="3010661"/>
            <a:ext cx="6696837" cy="648081"/>
          </a:xfrm>
          <a:custGeom>
            <a:avLst/>
            <a:gdLst/>
            <a:ahLst/>
            <a:cxnLst/>
            <a:rect l="l" t="t" r="r" b="b"/>
            <a:pathLst>
              <a:path w="6696837" h="648081">
                <a:moveTo>
                  <a:pt x="6696837" y="0"/>
                </a:moveTo>
                <a:lnTo>
                  <a:pt x="6696837" y="388849"/>
                </a:lnTo>
                <a:lnTo>
                  <a:pt x="0" y="388849"/>
                </a:lnTo>
                <a:lnTo>
                  <a:pt x="0" y="648081"/>
                </a:lnTo>
              </a:path>
            </a:pathLst>
          </a:custGeom>
          <a:noFill/>
          <a:ln w="25923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Freeform 52"/>
          <p:cNvSpPr/>
          <p:nvPr/>
        </p:nvSpPr>
        <p:spPr>
          <a:xfrm>
            <a:off x="6010349" y="3658742"/>
            <a:ext cx="172822" cy="129617"/>
          </a:xfrm>
          <a:custGeom>
            <a:avLst/>
            <a:gdLst/>
            <a:ahLst/>
            <a:cxnLst/>
            <a:rect l="l" t="t" r="r" b="b"/>
            <a:pathLst>
              <a:path w="172822" h="129617">
                <a:moveTo>
                  <a:pt x="0" y="0"/>
                </a:moveTo>
                <a:lnTo>
                  <a:pt x="172822" y="0"/>
                </a:lnTo>
                <a:lnTo>
                  <a:pt x="86411" y="129617"/>
                </a:lnTo>
                <a:close/>
              </a:path>
            </a:pathLst>
          </a:cu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77258" y="3224960"/>
            <a:ext cx="2484151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14" b="1">
                <a:solidFill>
                  <a:srgbClr val="B45309"/>
                </a:solidFill>
                <a:latin typeface="Calibri"/>
              </a:rPr>
              <a:t>INSIDE THE SUNDAY-NIGHT BATCH: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77258" y="3399510"/>
            <a:ext cx="7776971" cy="432053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93285" y="3580541"/>
            <a:ext cx="1255876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A7F3D0"/>
                </a:solidFill>
                <a:latin typeface="Calibri"/>
              </a:rPr>
              <a:t>① read history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2268" y="3580541"/>
            <a:ext cx="3498513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A7F3D0"/>
                </a:solidFill>
                <a:latin typeface="Calibri"/>
              </a:rPr>
              <a:t>② collaborative filter + audio-features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5495" y="3580541"/>
            <a:ext cx="2429420" cy="1435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A7F3D0"/>
                </a:solidFill>
                <a:latin typeface="Calibri"/>
              </a:rPr>
              <a:t>③ write 615M playlists to serve store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77258" y="3961179"/>
            <a:ext cx="9678008" cy="3208878"/>
          </a:xfrm>
          <a:prstGeom prst="roundRect">
            <a:avLst>
              <a:gd name="adj" fmla="val 8301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3677258" y="3961180"/>
            <a:ext cx="9678008" cy="432053"/>
          </a:xfrm>
          <a:prstGeom prst="roundRect">
            <a:avLst>
              <a:gd name="adj" fmla="val 44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919208" y="4128817"/>
            <a:ext cx="3519214" cy="232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43" b="1">
                <a:solidFill>
                  <a:srgbClr val="FFFFFF"/>
                </a:solidFill>
                <a:latin typeface="Calibri"/>
              </a:rPr>
              <a:t>▶  Discover Weekly · Monday 5 a.m.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46061" y="4150852"/>
            <a:ext cx="3319102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050" b="1" dirty="0">
                <a:solidFill>
                  <a:srgbClr val="A7F3D0"/>
                </a:solidFill>
                <a:latin typeface="Calibri"/>
              </a:rPr>
              <a:t>30 tracks · ~2 </a:t>
            </a:r>
            <a:r>
              <a:rPr sz="1050" b="1" dirty="0" err="1">
                <a:solidFill>
                  <a:srgbClr val="A7F3D0"/>
                </a:solidFill>
                <a:latin typeface="Calibri"/>
              </a:rPr>
              <a:t>hr</a:t>
            </a:r>
            <a:r>
              <a:rPr sz="1050" b="1" dirty="0">
                <a:solidFill>
                  <a:srgbClr val="A7F3D0"/>
                </a:solidFill>
                <a:latin typeface="Calibri"/>
              </a:rPr>
              <a:t> · 1 per user × 615M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919208" y="4566056"/>
            <a:ext cx="311078" cy="311078"/>
          </a:xfrm>
          <a:prstGeom prst="roundRect">
            <a:avLst>
              <a:gd name="adj" fmla="val 13888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924888" y="4649874"/>
            <a:ext cx="299720" cy="1766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69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51262" y="4545829"/>
            <a:ext cx="2354768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Calibri"/>
              </a:rPr>
              <a:t>A track you've never heard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51262" y="4706121"/>
            <a:ext cx="48897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94A3B8"/>
                </a:solidFill>
                <a:latin typeface="Calibri"/>
              </a:rPr>
              <a:t>artist </a:t>
            </a:r>
            <a:r>
              <a:rPr lang="en-GB" sz="1400" dirty="0">
                <a:solidFill>
                  <a:srgbClr val="94A3B8"/>
                </a:solidFill>
                <a:latin typeface="Calibri"/>
              </a:rPr>
              <a:t>similar to</a:t>
            </a:r>
            <a:r>
              <a:rPr sz="1400" dirty="0">
                <a:solidFill>
                  <a:srgbClr val="94A3B8"/>
                </a:solidFill>
                <a:latin typeface="Calibri"/>
              </a:rPr>
              <a:t> your top 5 — collaborative filtering match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33943" y="4629648"/>
            <a:ext cx="33122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 dirty="0">
                <a:solidFill>
                  <a:srgbClr val="A7F3D0"/>
                </a:solidFill>
                <a:latin typeface="Calibri"/>
              </a:rPr>
              <a:t>3:42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919208" y="5219569"/>
            <a:ext cx="311078" cy="311078"/>
          </a:xfrm>
          <a:prstGeom prst="roundRect">
            <a:avLst>
              <a:gd name="adj" fmla="val 13888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924888" y="5303387"/>
            <a:ext cx="299720" cy="1766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69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51262" y="5199342"/>
            <a:ext cx="3169880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Calibri"/>
              </a:rPr>
              <a:t>A deep cut from a friend's playlist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51262" y="5359634"/>
            <a:ext cx="456377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dirty="0">
                <a:solidFill>
                  <a:srgbClr val="94A3B8"/>
                </a:solidFill>
                <a:latin typeface="Calibri"/>
              </a:rPr>
              <a:t>people-like-you signal — graph walk over taste neighbors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833943" y="5290305"/>
            <a:ext cx="33122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 dirty="0">
                <a:solidFill>
                  <a:srgbClr val="A7F3D0"/>
                </a:solidFill>
                <a:latin typeface="Calibri"/>
              </a:rPr>
              <a:t>4:08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919208" y="5837357"/>
            <a:ext cx="311078" cy="311078"/>
          </a:xfrm>
          <a:prstGeom prst="roundRect">
            <a:avLst>
              <a:gd name="adj" fmla="val 13888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924888" y="5921175"/>
            <a:ext cx="299720" cy="1766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69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51262" y="5824274"/>
            <a:ext cx="344158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Calibri"/>
              </a:rPr>
              <a:t>A B-side from an artist you liked once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51262" y="5984566"/>
            <a:ext cx="3830307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Calibri"/>
              </a:rPr>
              <a:t>long-tail re-surface — audio-feature similarity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833943" y="5972389"/>
            <a:ext cx="33122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 dirty="0">
                <a:solidFill>
                  <a:srgbClr val="A7F3D0"/>
                </a:solidFill>
                <a:latin typeface="Calibri"/>
              </a:rPr>
              <a:t>3:21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919208" y="6426580"/>
            <a:ext cx="311078" cy="311078"/>
          </a:xfrm>
          <a:prstGeom prst="roundRect">
            <a:avLst>
              <a:gd name="adj" fmla="val 13888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924888" y="6510398"/>
            <a:ext cx="299720" cy="1766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69" b="1" dirty="0">
                <a:solidFill>
                  <a:srgbClr val="FFFFFF"/>
                </a:solidFill>
                <a:latin typeface="Calibri"/>
              </a:rPr>
              <a:t>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51262" y="6406353"/>
            <a:ext cx="1177384" cy="2032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Calibri"/>
              </a:rPr>
              <a:t>… and 27 more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1262" y="6566645"/>
            <a:ext cx="399329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Calibri"/>
              </a:rPr>
              <a:t>all computed in a single Sunday-night Spark sweep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873063" y="6554468"/>
            <a:ext cx="292100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>
                <a:solidFill>
                  <a:srgbClr val="A7F3D0"/>
                </a:solidFill>
                <a:latin typeface="Calibri"/>
              </a:rPr>
              <a:t>…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66469" y="7729831"/>
            <a:ext cx="12788797" cy="803620"/>
          </a:xfrm>
          <a:prstGeom prst="roundRect">
            <a:avLst>
              <a:gd name="adj" fmla="val 15053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66469" y="7712012"/>
            <a:ext cx="69128" cy="8036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42984" y="7936785"/>
            <a:ext cx="1883814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A7F3D0"/>
                </a:solidFill>
                <a:latin typeface="Calibri"/>
              </a:rPr>
              <a:t>WHY WEEKLY BATCH WINS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2984" y="8166638"/>
            <a:ext cx="12313792" cy="2024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Tastes evolve in weeks, not seconds.  Build streaming for this and you 100× the cost for 0× the lift.  Match cadence to user reality.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82449" y="8851443"/>
            <a:ext cx="6872818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dirty="0">
                <a:solidFill>
                  <a:srgbClr val="94A3B8"/>
                </a:solidFill>
                <a:latin typeface="Calibri"/>
              </a:rPr>
              <a:t>Source: Spotify Engineering blog · 2024 annual report · Strata + Spark Summit talks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3578840" y="1714500"/>
            <a:ext cx="4183379" cy="754380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3578840" y="1714500"/>
            <a:ext cx="109728" cy="7543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3825728" y="1741932"/>
            <a:ext cx="3730752" cy="27699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Calibri"/>
              </a:rPr>
              <a:t>BATCH TIER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825728" y="2057400"/>
            <a:ext cx="3730752" cy="307777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000" b="1" i="0">
                <a:solidFill>
                  <a:srgbClr val="A7F3D0"/>
                </a:solidFill>
                <a:latin typeface="Calibri"/>
              </a:rPr>
              <a:t>hours → days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578840" y="2674620"/>
            <a:ext cx="4183379" cy="27699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b="1" i="0" dirty="0">
                <a:solidFill>
                  <a:srgbClr val="115E59"/>
                </a:solidFill>
                <a:latin typeface="Calibri"/>
              </a:rPr>
              <a:t>WHAT HAPPENED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578840" y="3044952"/>
            <a:ext cx="4183379" cy="123110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6456E"/>
                </a:solidFill>
                <a:latin typeface="Calibri"/>
              </a:rPr>
              <a:t>Each of 600M monthly users gets a </a:t>
            </a:r>
            <a:r>
              <a:rPr sz="1600" b="0" i="0" dirty="0" err="1">
                <a:solidFill>
                  <a:srgbClr val="26456E"/>
                </a:solidFill>
                <a:latin typeface="Calibri"/>
              </a:rPr>
              <a:t>personalised</a:t>
            </a:r>
            <a:r>
              <a:rPr sz="1600" b="0" i="0" dirty="0">
                <a:solidFill>
                  <a:srgbClr val="26456E"/>
                </a:solidFill>
                <a:latin typeface="Calibri"/>
              </a:rPr>
              <a:t> Discover Weekly playlist computed in a single weekly batch job on GCP (</a:t>
            </a:r>
            <a:r>
              <a:rPr sz="1600" b="0" i="0" dirty="0" err="1">
                <a:solidFill>
                  <a:srgbClr val="26456E"/>
                </a:solidFill>
                <a:latin typeface="Calibri"/>
              </a:rPr>
              <a:t>BigQuery</a:t>
            </a:r>
            <a:r>
              <a:rPr sz="1600" b="0" i="0" dirty="0">
                <a:solidFill>
                  <a:srgbClr val="26456E"/>
                </a:solidFill>
                <a:latin typeface="Calibri"/>
              </a:rPr>
              <a:t> + Dataflow + TensorFlow). Widely credited as the feature that turned Spotify into a moat business.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58840" y="4708357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15E59"/>
                </a:solidFill>
                <a:latin typeface="Calibri"/>
              </a:rPr>
              <a:t>TALKING POINTS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758840" y="5021857"/>
            <a:ext cx="3823379" cy="1708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600" dirty="0">
                <a:solidFill>
                  <a:srgbClr val="26456E"/>
                </a:solidFill>
                <a:latin typeface="Calibri"/>
              </a:rPr>
              <a:t>Discover Weekly is BATCH — once a week, on Monday, computed Sunday night.</a:t>
            </a:r>
          </a:p>
          <a:p>
            <a:pPr algn="l">
              <a:spcAft>
                <a:spcPts val="900"/>
              </a:spcAft>
            </a:pPr>
            <a:r>
              <a:rPr sz="16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600" dirty="0">
                <a:solidFill>
                  <a:srgbClr val="26456E"/>
                </a:solidFill>
                <a:latin typeface="Calibri"/>
              </a:rPr>
              <a:t>Human listening cycle is weekly. Fresh playlist every 5 min is engineering vanity.</a:t>
            </a:r>
          </a:p>
          <a:p>
            <a:pPr algn="l">
              <a:spcAft>
                <a:spcPts val="900"/>
              </a:spcAft>
            </a:pPr>
            <a:r>
              <a:rPr sz="16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600" dirty="0">
                <a:solidFill>
                  <a:srgbClr val="26456E"/>
                </a:solidFill>
                <a:latin typeface="Calibri"/>
              </a:rPr>
              <a:t>600M users × 30 tracks = 18B recommendations in one Sunday-night batch.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3578840" y="7132320"/>
            <a:ext cx="4183379" cy="13716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3578840" y="7132320"/>
            <a:ext cx="109728" cy="1371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3825728" y="7187184"/>
            <a:ext cx="3771900" cy="1261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INSIGHT  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If your use case fits a weekly batch, do NOT build streaming for it. 100x cost, 0x value.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09728"/>
            <a:ext cx="1687068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AIRBNB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7M Listings · Airflow 100K Tasks/Day (they invented 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4376" y="1990730"/>
            <a:ext cx="2866794" cy="2276571"/>
          </a:xfrm>
          <a:prstGeom prst="roundRect">
            <a:avLst>
              <a:gd name="adj" fmla="val 8148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4192" y="2276988"/>
            <a:ext cx="962855" cy="1964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66" b="1">
                <a:solidFill>
                  <a:srgbClr val="A7F3D0"/>
                </a:solidFill>
                <a:latin typeface="Calibri"/>
              </a:rPr>
              <a:t>DAILY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192" y="2390430"/>
            <a:ext cx="2547062" cy="111407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82" b="1" dirty="0">
                <a:solidFill>
                  <a:srgbClr val="FFFFFF"/>
                </a:solidFill>
                <a:latin typeface="Calibri"/>
              </a:rPr>
              <a:t>100K+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192" y="3165974"/>
            <a:ext cx="2547062" cy="1920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 dirty="0">
                <a:solidFill>
                  <a:srgbClr val="CBD5E1"/>
                </a:solidFill>
                <a:latin typeface="Calibri"/>
              </a:rPr>
              <a:t>scheduled · retried · alerted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4192" y="3148353"/>
            <a:ext cx="2327162" cy="0"/>
          </a:xfrm>
          <a:prstGeom prst="line">
            <a:avLst/>
          </a:prstGeom>
          <a:ln w="8431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4192" y="3391156"/>
            <a:ext cx="529041" cy="2967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60" b="1" dirty="0">
                <a:solidFill>
                  <a:srgbClr val="FBBF24"/>
                </a:solidFill>
                <a:latin typeface="Calibri"/>
              </a:rPr>
              <a:t>2014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7551" y="3416962"/>
            <a:ext cx="1767479" cy="1983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dirty="0">
                <a:solidFill>
                  <a:srgbClr val="CBD5E1"/>
                </a:solidFill>
                <a:latin typeface="Calibri"/>
              </a:rPr>
              <a:t>Airflow open-sourced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92" y="3660218"/>
            <a:ext cx="2100775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dirty="0">
                <a:solidFill>
                  <a:srgbClr val="CBD5E1"/>
                </a:solidFill>
                <a:latin typeface="Calibri"/>
              </a:rPr>
              <a:t>Now an Apache top-level project · run by every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192" y="3866984"/>
            <a:ext cx="2100775" cy="1964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dirty="0">
                <a:solidFill>
                  <a:srgbClr val="CBD5E1"/>
                </a:solidFill>
                <a:latin typeface="Calibri"/>
              </a:rPr>
              <a:t>major data team on earth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4376" y="4661715"/>
            <a:ext cx="2866794" cy="1939301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16863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192" y="4905814"/>
            <a:ext cx="1750646" cy="1964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66" b="1">
                <a:solidFill>
                  <a:srgbClr val="0F766E"/>
                </a:solidFill>
                <a:latin typeface="Calibri"/>
              </a:rPr>
              <a:t>WHAT A DAG GIVES YOU</a:t>
            </a:r>
          </a:p>
        </p:txBody>
      </p:sp>
      <p:sp>
        <p:nvSpPr>
          <p:cNvPr id="20" name="Oval 19"/>
          <p:cNvSpPr/>
          <p:nvPr/>
        </p:nvSpPr>
        <p:spPr>
          <a:xfrm>
            <a:off x="893214" y="5201346"/>
            <a:ext cx="101180" cy="1011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1112440" y="5193758"/>
            <a:ext cx="2261555" cy="1705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dirty="0">
                <a:solidFill>
                  <a:srgbClr val="1E293B"/>
                </a:solidFill>
                <a:latin typeface="Calibri"/>
              </a:rPr>
              <a:t>Dependencies as code (Python)</a:t>
            </a:r>
          </a:p>
        </p:txBody>
      </p:sp>
      <p:sp>
        <p:nvSpPr>
          <p:cNvPr id="22" name="Oval 21"/>
          <p:cNvSpPr/>
          <p:nvPr/>
        </p:nvSpPr>
        <p:spPr>
          <a:xfrm>
            <a:off x="893214" y="5454299"/>
            <a:ext cx="101180" cy="1011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1112440" y="5446710"/>
            <a:ext cx="2261555" cy="1454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Calibri"/>
              </a:rPr>
              <a:t>Auto-retry · backfill · SLA alerts</a:t>
            </a:r>
          </a:p>
        </p:txBody>
      </p:sp>
      <p:sp>
        <p:nvSpPr>
          <p:cNvPr id="24" name="Oval 23"/>
          <p:cNvSpPr/>
          <p:nvPr/>
        </p:nvSpPr>
        <p:spPr>
          <a:xfrm>
            <a:off x="893214" y="5707251"/>
            <a:ext cx="101180" cy="1011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1112440" y="5699663"/>
            <a:ext cx="2261555" cy="1705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Versioned in git · reviewable</a:t>
            </a:r>
          </a:p>
        </p:txBody>
      </p:sp>
      <p:sp>
        <p:nvSpPr>
          <p:cNvPr id="26" name="Oval 25"/>
          <p:cNvSpPr/>
          <p:nvPr/>
        </p:nvSpPr>
        <p:spPr>
          <a:xfrm>
            <a:off x="893214" y="5960204"/>
            <a:ext cx="101180" cy="1011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1112440" y="5952615"/>
            <a:ext cx="2268814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dirty="0">
                <a:solidFill>
                  <a:srgbClr val="1E293B"/>
                </a:solidFill>
                <a:latin typeface="Calibri"/>
              </a:rPr>
              <a:t>UI: every run · every status · audit-ready</a:t>
            </a:r>
          </a:p>
        </p:txBody>
      </p:sp>
      <p:sp>
        <p:nvSpPr>
          <p:cNvPr id="28" name="Oval 27"/>
          <p:cNvSpPr/>
          <p:nvPr/>
        </p:nvSpPr>
        <p:spPr>
          <a:xfrm>
            <a:off x="893214" y="6213156"/>
            <a:ext cx="101180" cy="1011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1112440" y="6205568"/>
            <a:ext cx="2261555" cy="1373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Boring · debuggable · the boring 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8440" y="1909273"/>
            <a:ext cx="5479187" cy="1983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75" b="1">
                <a:solidFill>
                  <a:srgbClr val="115E59"/>
                </a:solidFill>
                <a:latin typeface="Calibri"/>
              </a:rPr>
              <a:t>A TYPICAL HOST-LISTING ETL DAG  ·  RUNS EVERY MORNING AT 06:00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52757" y="2346881"/>
            <a:ext cx="1517714" cy="573358"/>
          </a:xfrm>
          <a:prstGeom prst="roundRect">
            <a:avLst>
              <a:gd name="adj" fmla="val 14705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Oval 31"/>
          <p:cNvSpPr/>
          <p:nvPr/>
        </p:nvSpPr>
        <p:spPr>
          <a:xfrm>
            <a:off x="3953938" y="2566106"/>
            <a:ext cx="134907" cy="134907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3" name="TextBox 32"/>
          <p:cNvSpPr txBox="1"/>
          <p:nvPr/>
        </p:nvSpPr>
        <p:spPr>
          <a:xfrm>
            <a:off x="4190027" y="2482632"/>
            <a:ext cx="1148947" cy="1570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extract_bookings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90027" y="2672768"/>
            <a:ext cx="1148946" cy="1395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>
                <a:solidFill>
                  <a:srgbClr val="A7F3D0"/>
                </a:solidFill>
                <a:latin typeface="Calibri"/>
              </a:rPr>
              <a:t>MySQL → S3 · 4 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52757" y="3105738"/>
            <a:ext cx="1517714" cy="573358"/>
          </a:xfrm>
          <a:prstGeom prst="roundRect">
            <a:avLst>
              <a:gd name="adj" fmla="val 14705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6" name="Oval 35"/>
          <p:cNvSpPr/>
          <p:nvPr/>
        </p:nvSpPr>
        <p:spPr>
          <a:xfrm>
            <a:off x="3953938" y="3324963"/>
            <a:ext cx="134907" cy="134907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TextBox 36"/>
          <p:cNvSpPr txBox="1"/>
          <p:nvPr/>
        </p:nvSpPr>
        <p:spPr>
          <a:xfrm>
            <a:off x="4190027" y="3241489"/>
            <a:ext cx="1148947" cy="1570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extract_listings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90027" y="3431625"/>
            <a:ext cx="1148946" cy="1395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>
                <a:solidFill>
                  <a:srgbClr val="A7F3D0"/>
                </a:solidFill>
                <a:latin typeface="Calibri"/>
              </a:rPr>
              <a:t>MySQL → S3 · 6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52757" y="3864595"/>
            <a:ext cx="1517714" cy="573358"/>
          </a:xfrm>
          <a:prstGeom prst="roundRect">
            <a:avLst>
              <a:gd name="adj" fmla="val 14705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0" name="Oval 39"/>
          <p:cNvSpPr/>
          <p:nvPr/>
        </p:nvSpPr>
        <p:spPr>
          <a:xfrm>
            <a:off x="3953938" y="4083820"/>
            <a:ext cx="134907" cy="134907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/>
          <p:cNvSpPr txBox="1"/>
          <p:nvPr/>
        </p:nvSpPr>
        <p:spPr>
          <a:xfrm>
            <a:off x="4190027" y="4000346"/>
            <a:ext cx="1148947" cy="1675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extract_reviews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90027" y="4190482"/>
            <a:ext cx="1148946" cy="1395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>
                <a:solidFill>
                  <a:srgbClr val="A7F3D0"/>
                </a:solidFill>
                <a:latin typeface="Calibri"/>
              </a:rPr>
              <a:t>MySQL → S3 · 3 min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9329" y="3105738"/>
            <a:ext cx="1602031" cy="573358"/>
          </a:xfrm>
          <a:prstGeom prst="roundRect">
            <a:avLst>
              <a:gd name="adj" fmla="val 14705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4" name="Oval 43"/>
          <p:cNvSpPr/>
          <p:nvPr/>
        </p:nvSpPr>
        <p:spPr>
          <a:xfrm>
            <a:off x="6230510" y="3324963"/>
            <a:ext cx="134907" cy="134907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5" name="TextBox 44"/>
          <p:cNvSpPr txBox="1"/>
          <p:nvPr/>
        </p:nvSpPr>
        <p:spPr>
          <a:xfrm>
            <a:off x="6466599" y="3241489"/>
            <a:ext cx="1232002" cy="1796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join_host_facts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6599" y="3431625"/>
            <a:ext cx="1268265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>
                <a:solidFill>
                  <a:srgbClr val="FEF3C7"/>
                </a:solidFill>
                <a:latin typeface="Calibri"/>
              </a:rPr>
              <a:t>Spark · running 02:14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583" y="2346881"/>
            <a:ext cx="1686349" cy="573358"/>
          </a:xfrm>
          <a:prstGeom prst="roundRect">
            <a:avLst>
              <a:gd name="adj" fmla="val 14705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8" name="Oval 47"/>
          <p:cNvSpPr/>
          <p:nvPr/>
        </p:nvSpPr>
        <p:spPr>
          <a:xfrm>
            <a:off x="8422764" y="2566106"/>
            <a:ext cx="134907" cy="134907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9" name="TextBox 48"/>
          <p:cNvSpPr txBox="1"/>
          <p:nvPr/>
        </p:nvSpPr>
        <p:spPr>
          <a:xfrm>
            <a:off x="8658853" y="2482632"/>
            <a:ext cx="1237235" cy="1983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enrich_pricing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58853" y="2672768"/>
            <a:ext cx="1315059" cy="143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>
                <a:solidFill>
                  <a:srgbClr val="CBD5E1"/>
                </a:solidFill>
                <a:latin typeface="Calibri"/>
              </a:rPr>
              <a:t>queued · waits on N4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583" y="3105738"/>
            <a:ext cx="1686349" cy="573358"/>
          </a:xfrm>
          <a:prstGeom prst="roundRect">
            <a:avLst>
              <a:gd name="adj" fmla="val 14705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2" name="Oval 51"/>
          <p:cNvSpPr/>
          <p:nvPr/>
        </p:nvSpPr>
        <p:spPr>
          <a:xfrm>
            <a:off x="8422764" y="3324963"/>
            <a:ext cx="134907" cy="134907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3" name="TextBox 52"/>
          <p:cNvSpPr txBox="1"/>
          <p:nvPr/>
        </p:nvSpPr>
        <p:spPr>
          <a:xfrm>
            <a:off x="8658853" y="3241489"/>
            <a:ext cx="1315059" cy="1917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listing_quality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58853" y="3431625"/>
            <a:ext cx="1315059" cy="143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>
                <a:solidFill>
                  <a:srgbClr val="CBD5E1"/>
                </a:solidFill>
                <a:latin typeface="Calibri"/>
              </a:rPr>
              <a:t>queued · waits on N4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583" y="3864595"/>
            <a:ext cx="1686349" cy="573358"/>
          </a:xfrm>
          <a:prstGeom prst="roundRect">
            <a:avLst>
              <a:gd name="adj" fmla="val 14705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6" name="Oval 55"/>
          <p:cNvSpPr/>
          <p:nvPr/>
        </p:nvSpPr>
        <p:spPr>
          <a:xfrm>
            <a:off x="8422764" y="4083820"/>
            <a:ext cx="134907" cy="134907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7" name="TextBox 56"/>
          <p:cNvSpPr txBox="1"/>
          <p:nvPr/>
        </p:nvSpPr>
        <p:spPr>
          <a:xfrm>
            <a:off x="8658853" y="4000346"/>
            <a:ext cx="883739" cy="1983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host_score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58853" y="4190482"/>
            <a:ext cx="1315059" cy="143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>
                <a:solidFill>
                  <a:srgbClr val="CBD5E1"/>
                </a:solidFill>
                <a:latin typeface="Calibri"/>
              </a:rPr>
              <a:t>queued · waits on N4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682473" y="3105738"/>
            <a:ext cx="2023619" cy="573358"/>
          </a:xfrm>
          <a:prstGeom prst="roundRect">
            <a:avLst>
              <a:gd name="adj" fmla="val 14705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0" name="Oval 59"/>
          <p:cNvSpPr/>
          <p:nvPr/>
        </p:nvSpPr>
        <p:spPr>
          <a:xfrm>
            <a:off x="10800517" y="3324963"/>
            <a:ext cx="134907" cy="134907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1" name="TextBox 60"/>
          <p:cNvSpPr txBox="1"/>
          <p:nvPr/>
        </p:nvSpPr>
        <p:spPr>
          <a:xfrm>
            <a:off x="11036606" y="3241489"/>
            <a:ext cx="1502357" cy="1983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publish_to_search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36606" y="3431625"/>
            <a:ext cx="1629981" cy="1371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>
                <a:solidFill>
                  <a:srgbClr val="FBBF24"/>
                </a:solidFill>
                <a:latin typeface="Calibri"/>
              </a:rPr>
              <a:t>downstream of all 3 enrich</a:t>
            </a:r>
          </a:p>
        </p:txBody>
      </p:sp>
      <p:sp>
        <p:nvSpPr>
          <p:cNvPr id="63" name="Freeform 62"/>
          <p:cNvSpPr/>
          <p:nvPr/>
        </p:nvSpPr>
        <p:spPr>
          <a:xfrm>
            <a:off x="5370472" y="2633560"/>
            <a:ext cx="758857" cy="758857"/>
          </a:xfrm>
          <a:custGeom>
            <a:avLst/>
            <a:gdLst/>
            <a:ahLst/>
            <a:cxnLst/>
            <a:rect l="l" t="t" r="r" b="b"/>
            <a:pathLst>
              <a:path w="758857" h="758857">
                <a:moveTo>
                  <a:pt x="0" y="0"/>
                </a:moveTo>
                <a:lnTo>
                  <a:pt x="337270" y="0"/>
                </a:lnTo>
                <a:lnTo>
                  <a:pt x="421587" y="758857"/>
                </a:lnTo>
                <a:lnTo>
                  <a:pt x="758857" y="758857"/>
                </a:lnTo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cxnSp>
        <p:nvCxnSpPr>
          <p:cNvPr id="64" name="Connector 63"/>
          <p:cNvCxnSpPr/>
          <p:nvPr/>
        </p:nvCxnSpPr>
        <p:spPr>
          <a:xfrm>
            <a:off x="5370472" y="3392417"/>
            <a:ext cx="758857" cy="0"/>
          </a:xfrm>
          <a:prstGeom prst="line">
            <a:avLst/>
          </a:prstGeom>
          <a:ln w="8431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5370472" y="3392417"/>
            <a:ext cx="758857" cy="758857"/>
          </a:xfrm>
          <a:custGeom>
            <a:avLst/>
            <a:gdLst/>
            <a:ahLst/>
            <a:cxnLst/>
            <a:rect l="l" t="t" r="r" b="b"/>
            <a:pathLst>
              <a:path w="758857" h="758857">
                <a:moveTo>
                  <a:pt x="0" y="758857"/>
                </a:moveTo>
                <a:lnTo>
                  <a:pt x="337270" y="758857"/>
                </a:lnTo>
                <a:lnTo>
                  <a:pt x="421587" y="0"/>
                </a:lnTo>
                <a:lnTo>
                  <a:pt x="758857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6" name="Freeform 65"/>
          <p:cNvSpPr/>
          <p:nvPr/>
        </p:nvSpPr>
        <p:spPr>
          <a:xfrm>
            <a:off x="7731361" y="2633560"/>
            <a:ext cx="590222" cy="758857"/>
          </a:xfrm>
          <a:custGeom>
            <a:avLst/>
            <a:gdLst/>
            <a:ahLst/>
            <a:cxnLst/>
            <a:rect l="l" t="t" r="r" b="b"/>
            <a:pathLst>
              <a:path w="590222" h="758857">
                <a:moveTo>
                  <a:pt x="0" y="758857"/>
                </a:moveTo>
                <a:lnTo>
                  <a:pt x="252952" y="758857"/>
                </a:lnTo>
                <a:lnTo>
                  <a:pt x="421587" y="0"/>
                </a:lnTo>
                <a:lnTo>
                  <a:pt x="590222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cxnSp>
        <p:nvCxnSpPr>
          <p:cNvPr id="67" name="Connector 66"/>
          <p:cNvCxnSpPr/>
          <p:nvPr/>
        </p:nvCxnSpPr>
        <p:spPr>
          <a:xfrm>
            <a:off x="7731361" y="3392417"/>
            <a:ext cx="590222" cy="0"/>
          </a:xfrm>
          <a:prstGeom prst="line">
            <a:avLst/>
          </a:prstGeom>
          <a:ln w="8431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7731361" y="3392417"/>
            <a:ext cx="590222" cy="758857"/>
          </a:xfrm>
          <a:custGeom>
            <a:avLst/>
            <a:gdLst/>
            <a:ahLst/>
            <a:cxnLst/>
            <a:rect l="l" t="t" r="r" b="b"/>
            <a:pathLst>
              <a:path w="590222" h="758857">
                <a:moveTo>
                  <a:pt x="0" y="0"/>
                </a:moveTo>
                <a:lnTo>
                  <a:pt x="252952" y="0"/>
                </a:lnTo>
                <a:lnTo>
                  <a:pt x="421587" y="758857"/>
                </a:lnTo>
                <a:lnTo>
                  <a:pt x="590222" y="758857"/>
                </a:lnTo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9" name="Freeform 68"/>
          <p:cNvSpPr/>
          <p:nvPr/>
        </p:nvSpPr>
        <p:spPr>
          <a:xfrm>
            <a:off x="10007933" y="2633560"/>
            <a:ext cx="674540" cy="758857"/>
          </a:xfrm>
          <a:custGeom>
            <a:avLst/>
            <a:gdLst/>
            <a:ahLst/>
            <a:cxnLst/>
            <a:rect l="l" t="t" r="r" b="b"/>
            <a:pathLst>
              <a:path w="674540" h="758857">
                <a:moveTo>
                  <a:pt x="0" y="0"/>
                </a:moveTo>
                <a:lnTo>
                  <a:pt x="337270" y="0"/>
                </a:lnTo>
                <a:lnTo>
                  <a:pt x="505905" y="472178"/>
                </a:lnTo>
                <a:lnTo>
                  <a:pt x="674540" y="758857"/>
                </a:lnTo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cxnSp>
        <p:nvCxnSpPr>
          <p:cNvPr id="70" name="Connector 69"/>
          <p:cNvCxnSpPr/>
          <p:nvPr/>
        </p:nvCxnSpPr>
        <p:spPr>
          <a:xfrm>
            <a:off x="10007933" y="3392417"/>
            <a:ext cx="674540" cy="0"/>
          </a:xfrm>
          <a:prstGeom prst="line">
            <a:avLst/>
          </a:prstGeom>
          <a:ln w="8431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10007933" y="3392417"/>
            <a:ext cx="674540" cy="758857"/>
          </a:xfrm>
          <a:custGeom>
            <a:avLst/>
            <a:gdLst/>
            <a:ahLst/>
            <a:cxnLst/>
            <a:rect l="l" t="t" r="r" b="b"/>
            <a:pathLst>
              <a:path w="674540" h="758857">
                <a:moveTo>
                  <a:pt x="0" y="758857"/>
                </a:moveTo>
                <a:lnTo>
                  <a:pt x="337270" y="758857"/>
                </a:lnTo>
                <a:lnTo>
                  <a:pt x="505905" y="286680"/>
                </a:lnTo>
                <a:lnTo>
                  <a:pt x="67454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2" name="TextBox 71"/>
          <p:cNvSpPr txBox="1"/>
          <p:nvPr/>
        </p:nvSpPr>
        <p:spPr>
          <a:xfrm>
            <a:off x="3768440" y="5278550"/>
            <a:ext cx="612726" cy="1964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115E59"/>
                </a:solidFill>
                <a:latin typeface="Calibri"/>
              </a:rPr>
              <a:t>STATUS: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42980" y="5270540"/>
            <a:ext cx="134907" cy="118044"/>
          </a:xfrm>
          <a:prstGeom prst="roundRect">
            <a:avLst>
              <a:gd name="adj" fmla="val 21428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4" name="TextBox 73"/>
          <p:cNvSpPr txBox="1"/>
          <p:nvPr/>
        </p:nvSpPr>
        <p:spPr>
          <a:xfrm>
            <a:off x="4645342" y="5236557"/>
            <a:ext cx="570471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dirty="0">
                <a:solidFill>
                  <a:srgbClr val="26456E"/>
                </a:solidFill>
                <a:latin typeface="Calibri"/>
              </a:rPr>
              <a:t>success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286154" y="5270540"/>
            <a:ext cx="134907" cy="118044"/>
          </a:xfrm>
          <a:prstGeom prst="roundRect">
            <a:avLst>
              <a:gd name="adj" fmla="val 21428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6" name="TextBox 75"/>
          <p:cNvSpPr txBox="1"/>
          <p:nvPr/>
        </p:nvSpPr>
        <p:spPr>
          <a:xfrm>
            <a:off x="5488516" y="5236557"/>
            <a:ext cx="570471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>
                <a:solidFill>
                  <a:srgbClr val="26456E"/>
                </a:solidFill>
                <a:latin typeface="Calibri"/>
              </a:rPr>
              <a:t>running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29329" y="5270540"/>
            <a:ext cx="134907" cy="118044"/>
          </a:xfrm>
          <a:prstGeom prst="roundRect">
            <a:avLst>
              <a:gd name="adj" fmla="val 21428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8" name="TextBox 77"/>
          <p:cNvSpPr txBox="1"/>
          <p:nvPr/>
        </p:nvSpPr>
        <p:spPr>
          <a:xfrm>
            <a:off x="6331691" y="5236557"/>
            <a:ext cx="488975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>
                <a:solidFill>
                  <a:srgbClr val="26456E"/>
                </a:solidFill>
                <a:latin typeface="Calibri"/>
              </a:rPr>
              <a:t>queued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972504" y="5270540"/>
            <a:ext cx="134907" cy="118044"/>
          </a:xfrm>
          <a:prstGeom prst="roundRect">
            <a:avLst>
              <a:gd name="adj" fmla="val 21428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0" name="TextBox 79"/>
          <p:cNvSpPr txBox="1"/>
          <p:nvPr/>
        </p:nvSpPr>
        <p:spPr>
          <a:xfrm>
            <a:off x="7174866" y="5236557"/>
            <a:ext cx="651967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>
                <a:solidFill>
                  <a:srgbClr val="26456E"/>
                </a:solidFill>
                <a:latin typeface="Calibri"/>
              </a:rPr>
              <a:t>terminal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84313" y="5274428"/>
            <a:ext cx="5541721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i="1" dirty="0">
                <a:solidFill>
                  <a:srgbClr val="94A3B8"/>
                </a:solidFill>
                <a:latin typeface="Calibri"/>
              </a:rPr>
              <a:t>Critical path: extract → join → enrich → publish · 70 min wall-clock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768440" y="5582514"/>
            <a:ext cx="2908952" cy="8431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863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3894916" y="5835467"/>
            <a:ext cx="337269" cy="337269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917501" y="5919784"/>
            <a:ext cx="292100" cy="2698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27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6503" y="5777288"/>
            <a:ext cx="2303084" cy="157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dirty="0">
                <a:solidFill>
                  <a:srgbClr val="26456E"/>
                </a:solidFill>
                <a:latin typeface="Calibri"/>
              </a:rPr>
              <a:t>Auto-retry on transient failures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16503" y="6002415"/>
            <a:ext cx="2476136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>
                <a:solidFill>
                  <a:srgbClr val="475569"/>
                </a:solidFill>
                <a:latin typeface="Calibri"/>
              </a:rPr>
              <a:t>Saves 4–6 hours of on-call time per week.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16503" y="6171050"/>
            <a:ext cx="97795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Boring wins.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846028" y="5582514"/>
            <a:ext cx="2908952" cy="8431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863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6972504" y="5835467"/>
            <a:ext cx="337269" cy="337269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995089" y="5919784"/>
            <a:ext cx="292100" cy="2698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27" b="1">
                <a:solidFill>
                  <a:srgbClr val="FFFFFF"/>
                </a:solidFill>
                <a:latin typeface="Calibri"/>
              </a:rPr>
              <a:t>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94091" y="5777288"/>
            <a:ext cx="1944227" cy="1983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26456E"/>
                </a:solidFill>
                <a:latin typeface="Calibri"/>
              </a:rPr>
              <a:t>Backfill is one button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84259" y="5982751"/>
            <a:ext cx="2374421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dirty="0">
                <a:solidFill>
                  <a:srgbClr val="475569"/>
                </a:solidFill>
                <a:latin typeface="Calibri"/>
              </a:rPr>
              <a:t>Re-run any date range without rewriting code.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94091" y="6171050"/>
            <a:ext cx="1711413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Idempotent by design.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923615" y="5582514"/>
            <a:ext cx="2908952" cy="8431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863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0050092" y="5835467"/>
            <a:ext cx="337269" cy="337269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072676" y="5919784"/>
            <a:ext cx="292100" cy="2698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27" b="1">
                <a:solidFill>
                  <a:srgbClr val="FFFFFF"/>
                </a:solidFill>
                <a:latin typeface="Calibri"/>
              </a:rPr>
              <a:t>⌚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471679" y="5777288"/>
            <a:ext cx="2303084" cy="16789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6456E"/>
                </a:solidFill>
                <a:latin typeface="Calibri"/>
              </a:rPr>
              <a:t>SLA alerts before users notice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71679" y="6002415"/>
            <a:ext cx="2778104" cy="132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>
                <a:solidFill>
                  <a:srgbClr val="475569"/>
                </a:solidFill>
                <a:latin typeface="Calibri"/>
              </a:rPr>
              <a:t>Slack ping at 06:45 if publish hasn't started.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71679" y="6171050"/>
            <a:ext cx="122243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Pager-friendly.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64376" y="7051175"/>
            <a:ext cx="12478985" cy="615517"/>
          </a:xfrm>
          <a:prstGeom prst="roundRect">
            <a:avLst>
              <a:gd name="adj" fmla="val 19178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564376" y="7051175"/>
            <a:ext cx="67453" cy="615517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34192" y="7210957"/>
            <a:ext cx="1663114" cy="1964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dirty="0">
                <a:solidFill>
                  <a:srgbClr val="A7F3D0"/>
                </a:solidFill>
                <a:latin typeface="Calibri"/>
              </a:rPr>
              <a:t>THE COMMODITIZATION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4192" y="7411211"/>
            <a:ext cx="12015489" cy="2265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Airbnb gave away the orchestrator.  Today every batch pipeline on earth — including their competitors' — runs on it.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257154" y="7976981"/>
            <a:ext cx="578620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dirty="0">
                <a:solidFill>
                  <a:srgbClr val="94A3B8"/>
                </a:solidFill>
                <a:latin typeface="Calibri"/>
              </a:rPr>
              <a:t>Source: Airbnb engineering blog · Apache Airflow project · </a:t>
            </a:r>
            <a:r>
              <a:rPr dirty="0" err="1">
                <a:solidFill>
                  <a:srgbClr val="94A3B8"/>
                </a:solidFill>
                <a:latin typeface="Calibri"/>
              </a:rPr>
              <a:t>KubeCon</a:t>
            </a:r>
            <a:r>
              <a:rPr dirty="0">
                <a:solidFill>
                  <a:srgbClr val="94A3B8"/>
                </a:solidFill>
                <a:latin typeface="Calibri"/>
              </a:rPr>
              <a:t> 2024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3578840" y="1714500"/>
            <a:ext cx="4183379" cy="754380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3578840" y="1714500"/>
            <a:ext cx="109728" cy="7543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3825728" y="1741932"/>
            <a:ext cx="3730752" cy="246221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BATCH TIER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3825728" y="2057400"/>
            <a:ext cx="3730752" cy="27699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b="1" i="0">
                <a:solidFill>
                  <a:srgbClr val="A7F3D0"/>
                </a:solidFill>
                <a:latin typeface="Calibri"/>
              </a:rPr>
              <a:t>hours → days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3578840" y="2674620"/>
            <a:ext cx="4183379" cy="246221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00" b="1" i="0">
                <a:solidFill>
                  <a:srgbClr val="115E59"/>
                </a:solidFill>
                <a:latin typeface="Calibri"/>
              </a:rPr>
              <a:t>WHAT HAPPENED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578840" y="3044952"/>
            <a:ext cx="4183379" cy="147732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6456E"/>
                </a:solidFill>
                <a:latin typeface="Calibri"/>
              </a:rPr>
              <a:t>Every booking, search ranking, pricing tip, and host payout runs through a daily Airflow DAG. Airbnb invented and open-sourced Airflow (2015). Internal Airflow runs 100K+ tasks/day. Search ranking re-trains nightly across every market.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3758840" y="4608604"/>
            <a:ext cx="3823379" cy="27699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b="1" i="0">
                <a:solidFill>
                  <a:srgbClr val="115E59"/>
                </a:solidFill>
                <a:latin typeface="Calibri"/>
              </a:rPr>
              <a:t>TALKING POINTS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758840" y="4988604"/>
            <a:ext cx="3823379" cy="1708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▸ </a:t>
            </a:r>
            <a:r>
              <a:rPr sz="1600">
                <a:solidFill>
                  <a:srgbClr val="26456E"/>
                </a:solidFill>
                <a:latin typeface="Calibri"/>
              </a:rPr>
              <a:t>Airflow's origin: Maxime Beauchemin built it in 2014 to schedule Airbnb's batch jobs.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▸ </a:t>
            </a:r>
            <a:r>
              <a:rPr sz="1600">
                <a:solidFill>
                  <a:srgbClr val="26456E"/>
                </a:solidFill>
                <a:latin typeface="Calibri"/>
              </a:rPr>
              <a:t>100K tasks/day is normal for a mature data org; challenge is lineage + alerting + SLA.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▸ </a:t>
            </a:r>
            <a:r>
              <a:rPr sz="1600">
                <a:solidFill>
                  <a:srgbClr val="26456E"/>
                </a:solidFill>
                <a:latin typeface="Calibri"/>
              </a:rPr>
              <a:t>Nightly search-ranking re-train works because listings change in hours, not seconds.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578840" y="7132320"/>
            <a:ext cx="4183379" cy="13716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3578840" y="7132320"/>
            <a:ext cx="109728" cy="1371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3825728" y="7464177"/>
            <a:ext cx="3771900" cy="7078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INSIGHT  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The most profitable companies tend to have the simplest data architectures.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5499080" y="8558784"/>
            <a:ext cx="2606039" cy="1536192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odyss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7542" cy="12618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828754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09728"/>
            <a:ext cx="1687068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1479"/>
            <a:ext cx="16870680" cy="85039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Six Patterns You Will See Everywhere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469" y="1800910"/>
            <a:ext cx="6325270" cy="168501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0" name="Rounded Rectangle 9"/>
          <p:cNvSpPr/>
          <p:nvPr/>
        </p:nvSpPr>
        <p:spPr>
          <a:xfrm>
            <a:off x="566469" y="1800910"/>
            <a:ext cx="120975" cy="168501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1" name="TextBox 10"/>
          <p:cNvSpPr txBox="1"/>
          <p:nvPr/>
        </p:nvSpPr>
        <p:spPr>
          <a:xfrm>
            <a:off x="825702" y="1972004"/>
            <a:ext cx="745245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PATTERN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2" y="2175069"/>
            <a:ext cx="3524143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Same toolbox, three speeds</a:t>
            </a:r>
          </a:p>
        </p:txBody>
      </p:sp>
      <p:sp>
        <p:nvSpPr>
          <p:cNvPr id="13" name="Oval 12"/>
          <p:cNvSpPr/>
          <p:nvPr/>
        </p:nvSpPr>
        <p:spPr>
          <a:xfrm>
            <a:off x="868907" y="2604531"/>
            <a:ext cx="51846" cy="5184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4" name="TextBox 13"/>
          <p:cNvSpPr txBox="1"/>
          <p:nvPr/>
        </p:nvSpPr>
        <p:spPr>
          <a:xfrm>
            <a:off x="998523" y="2578175"/>
            <a:ext cx="5787341" cy="1917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Kafka shows up in Netflix, Uber, LinkedIn, Stripe, AmEx, DoorDash.</a:t>
            </a:r>
          </a:p>
        </p:txBody>
      </p:sp>
      <p:sp>
        <p:nvSpPr>
          <p:cNvPr id="15" name="Oval 14"/>
          <p:cNvSpPr/>
          <p:nvPr/>
        </p:nvSpPr>
        <p:spPr>
          <a:xfrm>
            <a:off x="868907" y="2846481"/>
            <a:ext cx="51846" cy="5184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6" name="TextBox 15"/>
          <p:cNvSpPr txBox="1"/>
          <p:nvPr/>
        </p:nvSpPr>
        <p:spPr>
          <a:xfrm>
            <a:off x="998523" y="2820126"/>
            <a:ext cx="4844095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Spark + Airflow + Iceberg/Delta is the batch standard.</a:t>
            </a:r>
          </a:p>
        </p:txBody>
      </p:sp>
      <p:sp>
        <p:nvSpPr>
          <p:cNvPr id="17" name="Oval 16"/>
          <p:cNvSpPr/>
          <p:nvPr/>
        </p:nvSpPr>
        <p:spPr>
          <a:xfrm>
            <a:off x="868907" y="3088431"/>
            <a:ext cx="51846" cy="5184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8" name="TextBox 17"/>
          <p:cNvSpPr txBox="1"/>
          <p:nvPr/>
        </p:nvSpPr>
        <p:spPr>
          <a:xfrm>
            <a:off x="998523" y="3062076"/>
            <a:ext cx="4574978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Flink/Beam/Pinot is the streaming/serving standard.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29997" y="1800910"/>
            <a:ext cx="6325270" cy="168501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7282">
            <a:solidFill>
              <a:srgbClr val="3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0" name="Rounded Rectangle 19"/>
          <p:cNvSpPr/>
          <p:nvPr/>
        </p:nvSpPr>
        <p:spPr>
          <a:xfrm>
            <a:off x="7029997" y="1800910"/>
            <a:ext cx="120975" cy="1685010"/>
          </a:xfrm>
          <a:prstGeom prst="roundRect">
            <a:avLst>
              <a:gd name="adj" fmla="val 42857"/>
            </a:avLst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1" name="TextBox 20"/>
          <p:cNvSpPr txBox="1"/>
          <p:nvPr/>
        </p:nvSpPr>
        <p:spPr>
          <a:xfrm>
            <a:off x="7289229" y="1972004"/>
            <a:ext cx="745245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3371A0"/>
                </a:solidFill>
                <a:latin typeface="Calibri"/>
              </a:rPr>
              <a:t>PATTERN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9229" y="2175069"/>
            <a:ext cx="2168703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Open formats win</a:t>
            </a:r>
          </a:p>
        </p:txBody>
      </p:sp>
      <p:sp>
        <p:nvSpPr>
          <p:cNvPr id="23" name="Oval 22"/>
          <p:cNvSpPr/>
          <p:nvPr/>
        </p:nvSpPr>
        <p:spPr>
          <a:xfrm>
            <a:off x="7332434" y="2604531"/>
            <a:ext cx="51846" cy="51846"/>
          </a:xfrm>
          <a:prstGeom prst="ellipse">
            <a:avLst/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4" name="TextBox 23"/>
          <p:cNvSpPr txBox="1"/>
          <p:nvPr/>
        </p:nvSpPr>
        <p:spPr>
          <a:xfrm>
            <a:off x="7462051" y="2578175"/>
            <a:ext cx="5382327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Iceberg, Delta, Parquet, Arrow appear in every modern stack.</a:t>
            </a:r>
          </a:p>
        </p:txBody>
      </p:sp>
      <p:sp>
        <p:nvSpPr>
          <p:cNvPr id="25" name="Oval 24"/>
          <p:cNvSpPr/>
          <p:nvPr/>
        </p:nvSpPr>
        <p:spPr>
          <a:xfrm>
            <a:off x="7332434" y="2846481"/>
            <a:ext cx="51846" cy="51846"/>
          </a:xfrm>
          <a:prstGeom prst="ellipse">
            <a:avLst/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6" name="TextBox 25"/>
          <p:cNvSpPr txBox="1"/>
          <p:nvPr/>
        </p:nvSpPr>
        <p:spPr>
          <a:xfrm>
            <a:off x="7462051" y="2820126"/>
            <a:ext cx="4933800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Vendor-locked binary formats are a tax you pay forever.</a:t>
            </a:r>
          </a:p>
        </p:txBody>
      </p:sp>
      <p:sp>
        <p:nvSpPr>
          <p:cNvPr id="27" name="Oval 26"/>
          <p:cNvSpPr/>
          <p:nvPr/>
        </p:nvSpPr>
        <p:spPr>
          <a:xfrm>
            <a:off x="7332434" y="3088431"/>
            <a:ext cx="51846" cy="51846"/>
          </a:xfrm>
          <a:prstGeom prst="ellipse">
            <a:avLst/>
          </a:prstGeom>
          <a:solidFill>
            <a:srgbClr val="3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8" name="TextBox 27"/>
          <p:cNvSpPr txBox="1"/>
          <p:nvPr/>
        </p:nvSpPr>
        <p:spPr>
          <a:xfrm>
            <a:off x="7462051" y="3062076"/>
            <a:ext cx="4395567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Open table formats decouple compute from storage.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469" y="3923250"/>
            <a:ext cx="6325270" cy="168501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7282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0" name="Rounded Rectangle 29"/>
          <p:cNvSpPr/>
          <p:nvPr/>
        </p:nvSpPr>
        <p:spPr>
          <a:xfrm>
            <a:off x="566469" y="3923250"/>
            <a:ext cx="120975" cy="1685010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1" name="TextBox 30"/>
          <p:cNvSpPr txBox="1"/>
          <p:nvPr/>
        </p:nvSpPr>
        <p:spPr>
          <a:xfrm>
            <a:off x="825702" y="4094343"/>
            <a:ext cx="745245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Calibri"/>
              </a:rPr>
              <a:t>PATTERN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2" y="4297408"/>
            <a:ext cx="5150670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Latency = revenue, freshness = revenue</a:t>
            </a:r>
          </a:p>
        </p:txBody>
      </p:sp>
      <p:sp>
        <p:nvSpPr>
          <p:cNvPr id="33" name="Oval 32"/>
          <p:cNvSpPr/>
          <p:nvPr/>
        </p:nvSpPr>
        <p:spPr>
          <a:xfrm>
            <a:off x="868907" y="4726870"/>
            <a:ext cx="51846" cy="5184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4" name="TextBox 33"/>
          <p:cNvSpPr txBox="1"/>
          <p:nvPr/>
        </p:nvSpPr>
        <p:spPr>
          <a:xfrm>
            <a:off x="998523" y="4700515"/>
            <a:ext cx="4933800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&lt;100ms fraud (Stripe, AmEx) — billions in saved losses.</a:t>
            </a:r>
          </a:p>
        </p:txBody>
      </p:sp>
      <p:sp>
        <p:nvSpPr>
          <p:cNvPr id="35" name="Oval 34"/>
          <p:cNvSpPr/>
          <p:nvPr/>
        </p:nvSpPr>
        <p:spPr>
          <a:xfrm>
            <a:off x="868907" y="4968820"/>
            <a:ext cx="51846" cy="5184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6" name="TextBox 35"/>
          <p:cNvSpPr txBox="1"/>
          <p:nvPr/>
        </p:nvSpPr>
        <p:spPr>
          <a:xfrm>
            <a:off x="998523" y="4942465"/>
            <a:ext cx="3947040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&lt;200ms ETA (Uber) — customers stay or leave.</a:t>
            </a:r>
          </a:p>
        </p:txBody>
      </p:sp>
      <p:sp>
        <p:nvSpPr>
          <p:cNvPr id="37" name="Oval 36"/>
          <p:cNvSpPr/>
          <p:nvPr/>
        </p:nvSpPr>
        <p:spPr>
          <a:xfrm>
            <a:off x="868907" y="5210771"/>
            <a:ext cx="51846" cy="5184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8" name="TextBox 37"/>
          <p:cNvSpPr txBox="1"/>
          <p:nvPr/>
        </p:nvSpPr>
        <p:spPr>
          <a:xfrm>
            <a:off x="998523" y="5184415"/>
            <a:ext cx="4126451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Hourly feed (LinkedIn) — engagement compounds.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29997" y="3923250"/>
            <a:ext cx="6325270" cy="168501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0" name="Rounded Rectangle 39"/>
          <p:cNvSpPr/>
          <p:nvPr/>
        </p:nvSpPr>
        <p:spPr>
          <a:xfrm>
            <a:off x="7029997" y="3923250"/>
            <a:ext cx="120975" cy="168501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1" name="TextBox 40"/>
          <p:cNvSpPr txBox="1"/>
          <p:nvPr/>
        </p:nvSpPr>
        <p:spPr>
          <a:xfrm>
            <a:off x="7289229" y="4094343"/>
            <a:ext cx="745245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PATTERN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89229" y="4297408"/>
            <a:ext cx="5286214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Batch is not dead — batch is profitable</a:t>
            </a:r>
          </a:p>
        </p:txBody>
      </p:sp>
      <p:sp>
        <p:nvSpPr>
          <p:cNvPr id="43" name="Oval 42"/>
          <p:cNvSpPr/>
          <p:nvPr/>
        </p:nvSpPr>
        <p:spPr>
          <a:xfrm>
            <a:off x="7332434" y="4726870"/>
            <a:ext cx="51846" cy="5184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4" name="TextBox 43"/>
          <p:cNvSpPr txBox="1"/>
          <p:nvPr/>
        </p:nvSpPr>
        <p:spPr>
          <a:xfrm>
            <a:off x="7462051" y="4700515"/>
            <a:ext cx="5113211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Spotify Discover Weekly — most loved feature, 100% batch.</a:t>
            </a:r>
          </a:p>
        </p:txBody>
      </p:sp>
      <p:sp>
        <p:nvSpPr>
          <p:cNvPr id="45" name="Oval 44"/>
          <p:cNvSpPr/>
          <p:nvPr/>
        </p:nvSpPr>
        <p:spPr>
          <a:xfrm>
            <a:off x="7332434" y="4968820"/>
            <a:ext cx="51846" cy="5184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6" name="TextBox 45"/>
          <p:cNvSpPr txBox="1"/>
          <p:nvPr/>
        </p:nvSpPr>
        <p:spPr>
          <a:xfrm>
            <a:off x="7462051" y="4942465"/>
            <a:ext cx="4933800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UPS ORION — $300M/yr saved with overnight optimisation.</a:t>
            </a:r>
          </a:p>
        </p:txBody>
      </p:sp>
      <p:sp>
        <p:nvSpPr>
          <p:cNvPr id="47" name="Oval 46"/>
          <p:cNvSpPr/>
          <p:nvPr/>
        </p:nvSpPr>
        <p:spPr>
          <a:xfrm>
            <a:off x="7332434" y="5210771"/>
            <a:ext cx="51846" cy="5184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8" name="TextBox 47"/>
          <p:cNvSpPr txBox="1"/>
          <p:nvPr/>
        </p:nvSpPr>
        <p:spPr>
          <a:xfrm>
            <a:off x="7462051" y="5184415"/>
            <a:ext cx="4216156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Goldman risk — batch IS the regulatory product.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469" y="6033230"/>
            <a:ext cx="6325270" cy="168501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7282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50" name="Rounded Rectangle 49"/>
          <p:cNvSpPr/>
          <p:nvPr/>
        </p:nvSpPr>
        <p:spPr>
          <a:xfrm>
            <a:off x="566469" y="6033230"/>
            <a:ext cx="120975" cy="168501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51" name="TextBox 50"/>
          <p:cNvSpPr txBox="1"/>
          <p:nvPr/>
        </p:nvSpPr>
        <p:spPr>
          <a:xfrm>
            <a:off x="825702" y="6204324"/>
            <a:ext cx="745245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PATTERN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5702" y="6407389"/>
            <a:ext cx="5557302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ML is just downstream of data engineering</a:t>
            </a:r>
          </a:p>
        </p:txBody>
      </p:sp>
      <p:sp>
        <p:nvSpPr>
          <p:cNvPr id="53" name="Oval 52"/>
          <p:cNvSpPr/>
          <p:nvPr/>
        </p:nvSpPr>
        <p:spPr>
          <a:xfrm>
            <a:off x="868907" y="6836851"/>
            <a:ext cx="51846" cy="5184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54" name="TextBox 53"/>
          <p:cNvSpPr txBox="1"/>
          <p:nvPr/>
        </p:nvSpPr>
        <p:spPr>
          <a:xfrm>
            <a:off x="998523" y="6810495"/>
            <a:ext cx="4933800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Every case has features → models → decisions → outcome.</a:t>
            </a:r>
          </a:p>
        </p:txBody>
      </p:sp>
      <p:sp>
        <p:nvSpPr>
          <p:cNvPr id="55" name="Oval 54"/>
          <p:cNvSpPr/>
          <p:nvPr/>
        </p:nvSpPr>
        <p:spPr>
          <a:xfrm>
            <a:off x="868907" y="7078801"/>
            <a:ext cx="51846" cy="5184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56" name="TextBox 55"/>
          <p:cNvSpPr txBox="1"/>
          <p:nvPr/>
        </p:nvSpPr>
        <p:spPr>
          <a:xfrm>
            <a:off x="998523" y="7052445"/>
            <a:ext cx="4844095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The data team determines the ceiling on every ML team.</a:t>
            </a:r>
          </a:p>
        </p:txBody>
      </p:sp>
      <p:sp>
        <p:nvSpPr>
          <p:cNvPr id="57" name="Oval 56"/>
          <p:cNvSpPr/>
          <p:nvPr/>
        </p:nvSpPr>
        <p:spPr>
          <a:xfrm>
            <a:off x="868907" y="7320751"/>
            <a:ext cx="51846" cy="5184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58" name="TextBox 57"/>
          <p:cNvSpPr txBox="1"/>
          <p:nvPr/>
        </p:nvSpPr>
        <p:spPr>
          <a:xfrm>
            <a:off x="998523" y="7294396"/>
            <a:ext cx="3408807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Bad pipelines cap the smartest models.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029997" y="6033230"/>
            <a:ext cx="6325270" cy="168501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7282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60" name="Rounded Rectangle 59"/>
          <p:cNvSpPr/>
          <p:nvPr/>
        </p:nvSpPr>
        <p:spPr>
          <a:xfrm>
            <a:off x="7029997" y="6033230"/>
            <a:ext cx="120975" cy="1685010"/>
          </a:xfrm>
          <a:prstGeom prst="roundRect">
            <a:avLst>
              <a:gd name="adj" fmla="val 42857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61" name="TextBox 60"/>
          <p:cNvSpPr txBox="1"/>
          <p:nvPr/>
        </p:nvSpPr>
        <p:spPr>
          <a:xfrm>
            <a:off x="7289229" y="6204324"/>
            <a:ext cx="745245" cy="1858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PATTERN 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89229" y="6407389"/>
            <a:ext cx="4066319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456E"/>
                </a:solidFill>
                <a:latin typeface="Calibri"/>
              </a:rPr>
              <a:t>Edge + cloud is the new hybrid</a:t>
            </a:r>
          </a:p>
        </p:txBody>
      </p:sp>
      <p:sp>
        <p:nvSpPr>
          <p:cNvPr id="63" name="Oval 62"/>
          <p:cNvSpPr/>
          <p:nvPr/>
        </p:nvSpPr>
        <p:spPr>
          <a:xfrm>
            <a:off x="7332434" y="6836851"/>
            <a:ext cx="51846" cy="5184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64" name="TextBox 63"/>
          <p:cNvSpPr txBox="1"/>
          <p:nvPr/>
        </p:nvSpPr>
        <p:spPr>
          <a:xfrm>
            <a:off x="7462051" y="6810495"/>
            <a:ext cx="4664684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Tesla — inference on the car, learning in the cloud.</a:t>
            </a:r>
          </a:p>
        </p:txBody>
      </p:sp>
      <p:sp>
        <p:nvSpPr>
          <p:cNvPr id="65" name="Oval 64"/>
          <p:cNvSpPr/>
          <p:nvPr/>
        </p:nvSpPr>
        <p:spPr>
          <a:xfrm>
            <a:off x="7332434" y="7078801"/>
            <a:ext cx="51846" cy="5184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66" name="TextBox 65"/>
          <p:cNvSpPr txBox="1"/>
          <p:nvPr/>
        </p:nvSpPr>
        <p:spPr>
          <a:xfrm>
            <a:off x="7462051" y="7052445"/>
            <a:ext cx="3498513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MTA — local signals, cloud aggregation.</a:t>
            </a:r>
          </a:p>
        </p:txBody>
      </p:sp>
      <p:sp>
        <p:nvSpPr>
          <p:cNvPr id="67" name="Oval 66"/>
          <p:cNvSpPr/>
          <p:nvPr/>
        </p:nvSpPr>
        <p:spPr>
          <a:xfrm>
            <a:off x="7332434" y="7320751"/>
            <a:ext cx="51846" cy="5184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68" name="TextBox 67"/>
          <p:cNvSpPr txBox="1"/>
          <p:nvPr/>
        </p:nvSpPr>
        <p:spPr>
          <a:xfrm>
            <a:off x="7462051" y="7294396"/>
            <a:ext cx="4754389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>
                <a:solidFill>
                  <a:srgbClr val="26456E"/>
                </a:solidFill>
                <a:latin typeface="Calibri"/>
              </a:rPr>
              <a:t>Self-driving + IoT + 5G all push compute to the edge.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81286" y="8422215"/>
            <a:ext cx="9759165" cy="304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000" b="1" dirty="0">
                <a:solidFill>
                  <a:srgbClr val="115E59"/>
                </a:solidFill>
                <a:latin typeface="Calibri"/>
              </a:rPr>
              <a:t>Same toolbox · three speeds · pick what your business actually pays for.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83234" y="8871210"/>
            <a:ext cx="5472033" cy="2013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600" dirty="0">
                <a:solidFill>
                  <a:srgbClr val="475569"/>
                </a:solidFill>
                <a:latin typeface="Calibri"/>
              </a:rPr>
              <a:t>Sources: company </a:t>
            </a:r>
            <a:r>
              <a:rPr sz="1600" dirty="0" err="1">
                <a:solidFill>
                  <a:srgbClr val="475569"/>
                </a:solidFill>
                <a:latin typeface="Calibri"/>
              </a:rPr>
              <a:t>eng.</a:t>
            </a:r>
            <a:r>
              <a:rPr sz="1600" dirty="0">
                <a:solidFill>
                  <a:srgbClr val="475569"/>
                </a:solidFill>
                <a:latin typeface="Calibri"/>
              </a:rPr>
              <a:t> blogs, conference talks, public reports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3578840" y="1714500"/>
            <a:ext cx="4183379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3758840" y="1894500"/>
            <a:ext cx="3823379" cy="48005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>
                <a:solidFill>
                  <a:srgbClr val="115E59"/>
                </a:solidFill>
                <a:latin typeface="Calibri"/>
              </a:rPr>
              <a:t>KEY POINTS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758840" y="2274500"/>
            <a:ext cx="3823379" cy="41780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Event log as source of truth (Kafka or equivalent).</a:t>
            </a:r>
          </a:p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Feature store between data + ML (Fabricator, Michelangelo, Radar).</a:t>
            </a:r>
          </a:p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Lake + warehouse + ML platform, not one or the other.</a:t>
            </a:r>
          </a:p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Lineage + observability are first-class, not an afterthought.</a:t>
            </a:r>
          </a:p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Open-source contributions correlate with platform maturity.</a:t>
            </a:r>
          </a:p>
          <a:p>
            <a:pPr algn="l">
              <a:spcAft>
                <a:spcPts val="900"/>
              </a:spcAft>
            </a:pPr>
            <a:r>
              <a:rPr sz="1800" b="1" dirty="0">
                <a:solidFill>
                  <a:srgbClr val="0F766E"/>
                </a:solidFill>
                <a:latin typeface="Calibri"/>
              </a:rPr>
              <a:t>▸ </a:t>
            </a:r>
            <a:r>
              <a:rPr sz="1800" dirty="0">
                <a:solidFill>
                  <a:srgbClr val="26456E"/>
                </a:solidFill>
                <a:latin typeface="Calibri"/>
              </a:rPr>
              <a:t>Mixed-speed (streaming + micro-batch + batch) is the norm, not the exception.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3578840" y="7406640"/>
            <a:ext cx="4183379" cy="109728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/>
            <a:r>
              <a:rPr sz="1650" b="1">
                <a:solidFill>
                  <a:srgbClr val="D97706"/>
                </a:solidFill>
                <a:latin typeface="Calibri"/>
              </a:rPr>
              <a:t>Takeaway  </a:t>
            </a:r>
            <a:r>
              <a:rPr sz="1800" b="1">
                <a:solidFill>
                  <a:srgbClr val="FFFFFF"/>
                </a:solidFill>
                <a:latin typeface="Calibri"/>
              </a:rPr>
              <a:t>Find any one of these missing and you've found this team's biggest backlog item.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F49A-C971-044B-86F5-9800F7658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6EA078-EDDB-14E2-5117-8D8D2795D51E}"/>
              </a:ext>
            </a:extLst>
          </p:cNvPr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D3653E-1379-BCA4-2B71-0E6D14523E8F}"/>
              </a:ext>
            </a:extLst>
          </p:cNvPr>
          <p:cNvSpPr/>
          <p:nvPr/>
        </p:nvSpPr>
        <p:spPr>
          <a:xfrm>
            <a:off x="12344400" y="0"/>
            <a:ext cx="5943142" cy="10287000"/>
          </a:xfrm>
          <a:prstGeom prst="rect">
            <a:avLst/>
          </a:prstGeom>
          <a:solidFill>
            <a:srgbClr val="14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B574C-CEC9-A265-3106-17E27A439D18}"/>
              </a:ext>
            </a:extLst>
          </p:cNvPr>
          <p:cNvSpPr txBox="1"/>
          <p:nvPr/>
        </p:nvSpPr>
        <p:spPr>
          <a:xfrm>
            <a:off x="1097280" y="754380"/>
            <a:ext cx="10972800" cy="25391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650" b="1" i="0" dirty="0">
                <a:solidFill>
                  <a:srgbClr val="A7F3D0"/>
                </a:solidFill>
                <a:latin typeface="Calibri"/>
              </a:rPr>
              <a:t>DATA VALUE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1D53C3-9152-1FD4-9C7F-89F7177CAD0C}"/>
              </a:ext>
            </a:extLst>
          </p:cNvPr>
          <p:cNvSpPr/>
          <p:nvPr/>
        </p:nvSpPr>
        <p:spPr>
          <a:xfrm>
            <a:off x="1097280" y="1316736"/>
            <a:ext cx="16047719" cy="8000"/>
          </a:xfrm>
          <a:prstGeom prst="rect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DB32E3-CDFB-60E0-3466-2FAB97CCA6DF}"/>
              </a:ext>
            </a:extLst>
          </p:cNvPr>
          <p:cNvSpPr txBox="1"/>
          <p:nvPr/>
        </p:nvSpPr>
        <p:spPr>
          <a:xfrm>
            <a:off x="1097280" y="3291839"/>
            <a:ext cx="10972800" cy="6858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100" b="1" i="0">
                <a:solidFill>
                  <a:srgbClr val="115E59"/>
                </a:solidFill>
                <a:latin typeface="Calibri"/>
              </a:rPr>
              <a:t>CLOSING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707627-0426-E4F9-999D-3460BAAB87D8}"/>
              </a:ext>
            </a:extLst>
          </p:cNvPr>
          <p:cNvSpPr/>
          <p:nvPr/>
        </p:nvSpPr>
        <p:spPr>
          <a:xfrm>
            <a:off x="1097280" y="4183379"/>
            <a:ext cx="2194560" cy="82296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4F998D-AABF-00D2-9329-462F0F2D933F}"/>
              </a:ext>
            </a:extLst>
          </p:cNvPr>
          <p:cNvSpPr txBox="1"/>
          <p:nvPr/>
        </p:nvSpPr>
        <p:spPr>
          <a:xfrm>
            <a:off x="1097280" y="4526279"/>
            <a:ext cx="10972800" cy="124649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lang="en-GB" sz="8100" b="1" i="0" dirty="0">
                <a:solidFill>
                  <a:srgbClr val="FFFFFF"/>
                </a:solidFill>
                <a:latin typeface="Calibri"/>
              </a:rPr>
              <a:t>Thank you</a:t>
            </a:r>
            <a:endParaRPr sz="81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2" name="Picture 11" descr="_odyssey_logo.png">
            <a:extLst>
              <a:ext uri="{FF2B5EF4-FFF2-40B4-BE49-F238E27FC236}">
                <a16:creationId xmlns:a16="http://schemas.microsoft.com/office/drawing/2014/main" id="{AFF6B100-7DE0-EEB6-5A41-D03C44CE9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0" y="8641080"/>
            <a:ext cx="2331720" cy="1371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AA69A4-7690-5676-F262-B2483144B052}"/>
              </a:ext>
            </a:extLst>
          </p:cNvPr>
          <p:cNvSpPr txBox="1"/>
          <p:nvPr/>
        </p:nvSpPr>
        <p:spPr>
          <a:xfrm>
            <a:off x="12726956" y="1444479"/>
            <a:ext cx="5001206" cy="55399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lang="en-GB" sz="3600" b="1" i="0" dirty="0">
                <a:solidFill>
                  <a:srgbClr val="FFFFFF"/>
                </a:solidFill>
                <a:latin typeface="Calibri"/>
              </a:rPr>
              <a:t>Scan to connect with me</a:t>
            </a:r>
            <a:endParaRPr sz="36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4007592-C4D0-29FE-F3A4-EF3B491FB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5655" y="2631662"/>
            <a:ext cx="5714054" cy="509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6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1996</TotalTime>
  <Words>7067</Words>
  <Application>Microsoft Office PowerPoint</Application>
  <PresentationFormat>Custom</PresentationFormat>
  <Paragraphs>1362</Paragraphs>
  <Slides>37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Danush Rajaram</cp:lastModifiedBy>
  <cp:revision>6</cp:revision>
  <dcterms:created xsi:type="dcterms:W3CDTF">2013-01-27T09:14:16Z</dcterms:created>
  <dcterms:modified xsi:type="dcterms:W3CDTF">2026-05-19T13:02:56Z</dcterms:modified>
  <cp:category/>
</cp:coreProperties>
</file>